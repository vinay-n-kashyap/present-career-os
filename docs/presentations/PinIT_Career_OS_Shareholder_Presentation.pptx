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PORTFOLIO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Career Accelerator Packages: Program Flow &amp; Market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"/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🎯 Core Product Thesis: 1 Training Bundle  +  1 Portfolio Project  +  1 Simulated Internship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3657600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Training Bundle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Structured curriculum matched to 1, 3, 6, or 9-month package duration. Covers core theoretical foundations, interactive coding, and architectural best practices.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83080"/>
            <a:ext cx="2542032" cy="3657600"/>
          </a:xfrm>
          <a:prstGeom prst="roundRect">
            <a:avLst/>
          </a:prstGeom>
          <a:solidFill>
            <a:srgbClr val="18212F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818CF8"/>
                </a:solidFill>
              </a:defRPr>
            </a:pPr>
            <a:r>
              <a:t>2. Portfolio Project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One real-world, production-style capstone project built by the learner to demonstrate tangible technical or business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83080"/>
            <a:ext cx="2542032" cy="3657600"/>
          </a:xfrm>
          <a:prstGeom prst="roundRect">
            <a:avLst/>
          </a:prstGeom>
          <a:solidFill>
            <a:srgbClr val="1821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3. Simulated Internship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Supervised, project-based work simulation replicating enterprise environments with role-specific tasks, sprint deadlines, and senior code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783080"/>
            <a:ext cx="2542032" cy="365760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Career Portfolio &amp; Proof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Publicly verifiable digital credentials backed by project source code, documentation, and completion audits for employer hiring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📌 Commercial Clarification for Investors &amp; Partners: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The simulated internship is a rigorous educational work-simulation program that bridges the academic gap. It is marketed transparently as career preparation and hands-on experience, eliminating placement liabilities while delivering unmatched student confidence.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OFFICIAL COURSE ROSTER (1–37)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Master Course Catalog: The 37 Foundational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📚 37 Comprehensive Career Mastercourses Spanning Engineering, Cloud, Systems &amp; 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42032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Core Engineering &amp; Stacks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1. Full-Stack Python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2. Full-Stack React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3. Node.js Backend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4. Database Engineering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5. SRE/DevOps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6. Excel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7. Accounting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8. Business Operations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9. HTML &amp; CSS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10. JavaScript Fundamentals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91640"/>
            <a:ext cx="2542032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Programming &amp; Core CS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11. TypeScript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12. Python Programming Fundamentals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13. Object-Oriented Programming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14. Data Structures &amp; Algorithms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15. Git &amp; GitHub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16. Linux Fundamentals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17. Networking Fundamentals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18. Operating Systems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19. Software Engineering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91640"/>
            <a:ext cx="2542032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APIs, Cloud &amp; DevOps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20. REST API Development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21. Authentication &amp; Authorization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22. Testing &amp; Quality Assurance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23. CI/CD Engineering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24. Cloud Computing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25. Docker &amp; Containerization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26. Kubernetes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27. Infrastructure as Code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28. System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91640"/>
            <a:ext cx="2542032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Data, Analytics &amp; Business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29. Microservices Architecture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30. Data Engineering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31. Data Analytics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32. SQL &amp; Database Design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33. Financial Accounting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34. Management Accounting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35. Business Analytics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36. Project Management</a:t>
            </a:r>
          </a:p>
          <a:p>
            <a:pPr>
              <a:spcBef>
                <a:spcPts val="350"/>
              </a:spcBef>
              <a:defRPr sz="850">
                <a:solidFill>
                  <a:srgbClr val="F8FAFC"/>
                </a:solidFill>
              </a:defRPr>
            </a:pPr>
            <a:r>
              <a:t>37. Business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ROLE-BASED PRACTICAL SPECIALIZATION (1–37)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Master Project Titles &amp; Matching Internship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21208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🛠️ 37 Production Portfolio Project Titles</a:t>
            </a:r>
          </a:p>
          <a:p>
            <a:pPr>
              <a:spcBef>
                <a:spcPts val="400"/>
              </a:spcBef>
              <a:defRPr sz="850" b="1">
                <a:solidFill>
                  <a:srgbClr val="818CF8"/>
                </a:solidFill>
              </a:defRPr>
            </a:pPr>
            <a:r>
              <a:t>Sample Mapping (Full Roster Embedded):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1. Personal Portfolio Website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2. Full-Stack Task Management App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3. E-Commerce Web Application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4. Student Management System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5. Employee Management System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6. Inventory Management System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7. Library Management System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8. Expense Tracker Application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9. Personal Finance Dashboard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10. Sales Analytics Dashboard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11. CRM System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12. Learning Management System (LMS)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13. Job Portal Application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14. Online Appointment Booking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15. Real-Time Chat Application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16. REST API Development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17. Auth &amp; Authorization System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18. Blog Management Platform</a:t>
            </a:r>
          </a:p>
          <a:p>
            <a:pPr>
              <a:spcBef>
                <a:spcPts val="300"/>
              </a:spcBef>
              <a:defRPr sz="750">
                <a:solidFill>
                  <a:srgbClr val="94A3B8"/>
                </a:solidFill>
              </a:defRPr>
            </a:pPr>
            <a:r>
              <a:t>... Plus Projects 19 to 37 covering Cloud, Microservices, and Capstones.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12080" cy="521208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💼 37 Industry-Aligned Internship Role Titles</a:t>
            </a:r>
          </a:p>
          <a:p>
            <a:pPr>
              <a:spcBef>
                <a:spcPts val="400"/>
              </a:spcBef>
              <a:defRPr sz="850" b="1">
                <a:solidFill>
                  <a:srgbClr val="818CF8"/>
                </a:solidFill>
              </a:defRPr>
            </a:pPr>
            <a:r>
              <a:t>Sample Role Titles (Full Roster Embedded):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1. Full-Stack Python Developer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2. Full-Stack React Developer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3. Node.js Backend Developer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4. Database Engineering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5. SRE/DevOps Engineer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6. Excel &amp; MIS Analyst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7. Accounting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8. Business Operations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9. Frontend Developer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10. Backend Developer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11. Software Development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12. Web Application Developer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13. API Development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14. Software QA &amp; Testing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15. Automation Testing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16. DevOps Automation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17. Cloud Engineering Intern</a:t>
            </a:r>
          </a:p>
          <a:p>
            <a:pPr>
              <a:spcBef>
                <a:spcPts val="150"/>
              </a:spcBef>
              <a:defRPr sz="750">
                <a:solidFill>
                  <a:srgbClr val="F8FAFC"/>
                </a:solidFill>
              </a:defRPr>
            </a:pPr>
            <a:r>
              <a:t>18. Site Reliability Engineering Intern</a:t>
            </a:r>
          </a:p>
          <a:p>
            <a:pPr>
              <a:spcBef>
                <a:spcPts val="300"/>
              </a:spcBef>
              <a:defRPr sz="750">
                <a:solidFill>
                  <a:srgbClr val="94A3B8"/>
                </a:solidFill>
              </a:defRPr>
            </a:pPr>
            <a:r>
              <a:t>... Plus Roles 19 to 37 covering Cloud, Data Eng, BI, and Capstones.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MONETIZATION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Commercial Packages: 1-Month Starters &amp; 3-Month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1-Month Career Starters (Packages P01–P03)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Best for beginners, students exploring careers, and rapid practical upskilling.</a:t>
            </a:r>
          </a:p>
          <a:p>
            <a:pPr>
              <a:spcBef>
                <a:spcPts val="1000"/>
              </a:spcBef>
              <a:defRPr sz="1050" b="1">
                <a:solidFill>
                  <a:srgbClr val="F8FAFC"/>
                </a:solidFill>
              </a:defRPr>
            </a:pPr>
            <a:r>
              <a:t>P01: Excel Career Starter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Training: Excel Fundamentals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Project: Business Analytics Dashboard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Internship: Excel &amp; MIS Analyst Intern</a:t>
            </a:r>
          </a:p>
          <a:p>
            <a:pPr>
              <a:spcBef>
                <a:spcPts val="1000"/>
              </a:spcBef>
              <a:defRPr sz="1050" b="1">
                <a:solidFill>
                  <a:srgbClr val="F8FAFC"/>
                </a:solidFill>
              </a:defRPr>
            </a:pPr>
            <a:r>
              <a:t>P02: Accounting Career Starter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Training: Accounting &amp; Taxation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Project: Financial Reporting System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Internship: Accounting Intern</a:t>
            </a:r>
          </a:p>
          <a:p>
            <a:pPr>
              <a:spcBef>
                <a:spcPts val="1000"/>
              </a:spcBef>
              <a:defRPr sz="1050" b="1">
                <a:solidFill>
                  <a:srgbClr val="F8FAFC"/>
                </a:solidFill>
              </a:defRPr>
            </a:pPr>
            <a:r>
              <a:t>P03: Business Ops Starter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Training: Business Operations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Project: Operations KPI Dashboard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Internship: Business Operations Intern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3-Month Job-Ready Foundations (Packages P04–P10)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Best for learners committing to one core technical or business specialization.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P04: Full-Stack Python: Task Management App ➔ Python Developer Intern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P05: Full-Stack React: Responsive Web App ➔ Frontend Developer Intern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P06: Node.js Backend: Production REST API ➔ Backend Developer Intern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P07: Database Engineering: Database Design &amp; Optim ➔ Database Engineering Intern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P08: Excel &amp; MIS Pro: Automated Reporting Dashboard ➔ Excel &amp; MIS Analyst Intern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P09: Accounting Operations: Payroll Management System ➔ Accounting Operations Intern</a:t>
            </a:r>
          </a:p>
          <a:p>
            <a:pPr>
              <a:spcBef>
                <a:spcPts val="500"/>
              </a:spcBef>
              <a:defRPr sz="850">
                <a:solidFill>
                  <a:srgbClr val="F8FAFC"/>
                </a:solidFill>
              </a:defRPr>
            </a:pPr>
            <a:r>
              <a:t>• P10: Business Operations: Inventory Management System ➔ Business Operations Intern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ADVANCED CAREER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Commercial Packages: 6-Month Accelerators &amp; 9-Month Pathways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818CF8"/>
                </a:solidFill>
              </a:defRPr>
            </a:pPr>
            <a:r>
              <a:t>6-Month Professional Accelerators (P11–P18)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P11: Full-Stack Python: E-Commerce Web Application ➔ Full-Stack Python Dev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P12: Full-Stack React: Learning Management System ➔ Frontend Developer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P13: Node.js Backend: Job Portal Backend System ➔ Backend Developer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P14: Database Engineering: Enterprise DBMS ➔ Database Engineering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P15: SRE / DevOps: Automated CI/CD Pipeline ➔ DevOps Engineer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P16: Advanced Excel: Advanced Sales Analytics ➔ MIS Analyst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P17: Accounting Analyst: Financial Reporting System ➔ Accounting Analyst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P18: Operations Analyst: Operations Analytics Dashboard ➔ Business Ops Analyst Intern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9-Month Future-Ready Pathways (P19–P30)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P19: Python + React: Full-Stack E-Commerce Platform ➔ Full-Stack Developer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P20: Python + Node.js: Multi-Service Web Application ➔ Backend Engineering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P21: Python + Databases: Data-Driven Management Platform ➔ Software &amp; DB Engineer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P22: React + Node.js: Full-Stack Job Portal ➔ Full-Stack Developer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P24: Full-Stack + SRE/DevOps: Cloud App with CI/CD ➔ DevOps &amp; Cloud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P25: Python + DB + DevOps: Cloud Data Management Platform ➔ Cloud &amp; Backend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P26: React + Node + DB: SaaS Business Application ➔ Full-Stack Software Intern</a:t>
            </a:r>
          </a:p>
          <a:p>
            <a:pPr>
              <a:spcBef>
                <a:spcPts val="450"/>
              </a:spcBef>
              <a:defRPr sz="850">
                <a:solidFill>
                  <a:srgbClr val="F8FAFC"/>
                </a:solidFill>
              </a:defRPr>
            </a:pPr>
            <a:r>
              <a:t>• P28: Excel + Acct + Ops: Integrated Finance &amp; Ops Dashboard ➔ Finance &amp; Operations Intern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IMMEDIATE REVENUE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Go-to-Market Strategy: Top 5 Flagships to Launch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🚀 Focusing on 5 High-Demand Flagship Products Before Expanding All Combinations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011680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1. Full-Stack Developer</a:t>
            </a:r>
          </a:p>
          <a:p>
            <a:pPr>
              <a:spcBef>
                <a:spcPts val="300"/>
              </a:spcBef>
              <a:defRPr sz="850" b="1">
                <a:solidFill>
                  <a:srgbClr val="F8FAFC"/>
                </a:solidFill>
              </a:defRPr>
            </a:pPr>
            <a:r>
              <a:t>Duration: 6 or 9 Months</a:t>
            </a:r>
          </a:p>
          <a:p>
            <a:pPr>
              <a:spcBef>
                <a:spcPts val="800"/>
              </a:spcBef>
              <a:defRPr sz="800" b="1">
                <a:solidFill>
                  <a:srgbClr val="38BDF8"/>
                </a:solidFill>
              </a:defRPr>
            </a:pPr>
            <a:r>
              <a:t>Training Bundle: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Full-Stack Python + Full-Stack React (+ Node.js option)</a:t>
            </a:r>
          </a:p>
          <a:p>
            <a:pPr>
              <a:spcBef>
                <a:spcPts val="800"/>
              </a:spcBef>
              <a:defRPr sz="800" b="1">
                <a:solidFill>
                  <a:srgbClr val="818CF8"/>
                </a:solidFill>
              </a:defRPr>
            </a:pPr>
            <a:r>
              <a:t>Portfolio Project: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Full-Stack E-Commerce Platform</a:t>
            </a:r>
          </a:p>
          <a:p>
            <a:pPr>
              <a:spcBef>
                <a:spcPts val="800"/>
              </a:spcBef>
              <a:defRPr sz="800" b="1">
                <a:solidFill>
                  <a:srgbClr val="10B981"/>
                </a:solidFill>
              </a:defRPr>
            </a:pPr>
            <a:r>
              <a:t>Internship Role:</a:t>
            </a:r>
          </a:p>
          <a:p>
            <a:pPr>
              <a:defRPr sz="800">
                <a:solidFill>
                  <a:srgbClr val="10B981"/>
                </a:solidFill>
              </a:defRPr>
            </a:pPr>
            <a:r>
              <a:t>Full-Stack Developer Intern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91640"/>
            <a:ext cx="2011680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2. Cloud &amp; DevOps</a:t>
            </a:r>
          </a:p>
          <a:p>
            <a:pPr>
              <a:spcBef>
                <a:spcPts val="300"/>
              </a:spcBef>
              <a:defRPr sz="850" b="1">
                <a:solidFill>
                  <a:srgbClr val="F8FAFC"/>
                </a:solidFill>
              </a:defRPr>
            </a:pPr>
            <a:r>
              <a:t>Duration: 6 or 9 Months</a:t>
            </a:r>
          </a:p>
          <a:p>
            <a:pPr>
              <a:spcBef>
                <a:spcPts val="800"/>
              </a:spcBef>
              <a:defRPr sz="800" b="1">
                <a:solidFill>
                  <a:srgbClr val="38BDF8"/>
                </a:solidFill>
              </a:defRPr>
            </a:pPr>
            <a:r>
              <a:t>Training Bundle: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SRE/DevOps + Database Engineering + Full-Stack Development</a:t>
            </a:r>
          </a:p>
          <a:p>
            <a:pPr>
              <a:spcBef>
                <a:spcPts val="800"/>
              </a:spcBef>
              <a:defRPr sz="800" b="1">
                <a:solidFill>
                  <a:srgbClr val="818CF8"/>
                </a:solidFill>
              </a:defRPr>
            </a:pPr>
            <a:r>
              <a:t>Portfolio Project: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Cloud-Deployed App with CI/CD</a:t>
            </a:r>
          </a:p>
          <a:p>
            <a:pPr>
              <a:spcBef>
                <a:spcPts val="800"/>
              </a:spcBef>
              <a:defRPr sz="800" b="1">
                <a:solidFill>
                  <a:srgbClr val="10B981"/>
                </a:solidFill>
              </a:defRPr>
            </a:pPr>
            <a:r>
              <a:t>Internship Role:</a:t>
            </a:r>
          </a:p>
          <a:p>
            <a:pPr>
              <a:defRPr sz="800">
                <a:solidFill>
                  <a:srgbClr val="38BDF8"/>
                </a:solidFill>
              </a:defRPr>
            </a:pPr>
            <a:r>
              <a:t>DevOps &amp; Cloud Engineering Intern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91640"/>
            <a:ext cx="2011680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50" b="1">
                <a:solidFill>
                  <a:srgbClr val="818CF8"/>
                </a:solidFill>
              </a:defRPr>
            </a:pPr>
            <a:r>
              <a:t>3. Data &amp; Business Analytics</a:t>
            </a:r>
          </a:p>
          <a:p>
            <a:pPr>
              <a:spcBef>
                <a:spcPts val="300"/>
              </a:spcBef>
              <a:defRPr sz="850" b="1">
                <a:solidFill>
                  <a:srgbClr val="F8FAFC"/>
                </a:solidFill>
              </a:defRPr>
            </a:pPr>
            <a:r>
              <a:t>Duration: 3 or 6 Months</a:t>
            </a:r>
          </a:p>
          <a:p>
            <a:pPr>
              <a:spcBef>
                <a:spcPts val="800"/>
              </a:spcBef>
              <a:defRPr sz="800" b="1">
                <a:solidFill>
                  <a:srgbClr val="38BDF8"/>
                </a:solidFill>
              </a:defRPr>
            </a:pPr>
            <a:r>
              <a:t>Training Bundle: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Excel + Database Engineering (+ Business Ops option)</a:t>
            </a:r>
          </a:p>
          <a:p>
            <a:pPr>
              <a:spcBef>
                <a:spcPts val="800"/>
              </a:spcBef>
              <a:defRPr sz="800" b="1">
                <a:solidFill>
                  <a:srgbClr val="818CF8"/>
                </a:solidFill>
              </a:defRPr>
            </a:pPr>
            <a:r>
              <a:t>Portfolio Project: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Integrated Business Analytics Dashboard</a:t>
            </a:r>
          </a:p>
          <a:p>
            <a:pPr>
              <a:spcBef>
                <a:spcPts val="800"/>
              </a:spcBef>
              <a:defRPr sz="800" b="1">
                <a:solidFill>
                  <a:srgbClr val="10B981"/>
                </a:solidFill>
              </a:defRPr>
            </a:pPr>
            <a:r>
              <a:t>Internship Role:</a:t>
            </a:r>
          </a:p>
          <a:p>
            <a:pPr>
              <a:defRPr sz="800">
                <a:solidFill>
                  <a:srgbClr val="818CF8"/>
                </a:solidFill>
              </a:defRPr>
            </a:pPr>
            <a:r>
              <a:t>Data &amp; Business Analyst Intern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91640"/>
            <a:ext cx="2011680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4. Finance &amp; Operations</a:t>
            </a:r>
          </a:p>
          <a:p>
            <a:pPr>
              <a:spcBef>
                <a:spcPts val="300"/>
              </a:spcBef>
              <a:defRPr sz="850" b="1">
                <a:solidFill>
                  <a:srgbClr val="F8FAFC"/>
                </a:solidFill>
              </a:defRPr>
            </a:pPr>
            <a:r>
              <a:t>Duration: 3 or 9 Months</a:t>
            </a:r>
          </a:p>
          <a:p>
            <a:pPr>
              <a:spcBef>
                <a:spcPts val="800"/>
              </a:spcBef>
              <a:defRPr sz="800" b="1">
                <a:solidFill>
                  <a:srgbClr val="38BDF8"/>
                </a:solidFill>
              </a:defRPr>
            </a:pPr>
            <a:r>
              <a:t>Training Bundle: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Accounting + Excel + Business Operations</a:t>
            </a:r>
          </a:p>
          <a:p>
            <a:pPr>
              <a:spcBef>
                <a:spcPts val="800"/>
              </a:spcBef>
              <a:defRPr sz="800" b="1">
                <a:solidFill>
                  <a:srgbClr val="818CF8"/>
                </a:solidFill>
              </a:defRPr>
            </a:pPr>
            <a:r>
              <a:t>Portfolio Project: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Automated Financial Reporting &amp; Ops Dashboard</a:t>
            </a:r>
          </a:p>
          <a:p>
            <a:pPr>
              <a:spcBef>
                <a:spcPts val="800"/>
              </a:spcBef>
              <a:defRPr sz="800" b="1">
                <a:solidFill>
                  <a:srgbClr val="10B981"/>
                </a:solidFill>
              </a:defRPr>
            </a:pPr>
            <a:r>
              <a:t>Internship Role:</a:t>
            </a:r>
          </a:p>
          <a:p>
            <a:pPr>
              <a:defRPr sz="800">
                <a:solidFill>
                  <a:srgbClr val="F59E0B"/>
                </a:solidFill>
              </a:defRPr>
            </a:pPr>
            <a:r>
              <a:t>Finance &amp; Operations Intern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691640"/>
            <a:ext cx="2011680" cy="4709160"/>
          </a:xfrm>
          <a:prstGeom prst="roundRect">
            <a:avLst/>
          </a:prstGeom>
          <a:solidFill>
            <a:srgbClr val="18212F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50" b="1">
                <a:solidFill>
                  <a:srgbClr val="EC4899"/>
                </a:solidFill>
              </a:defRPr>
            </a:pPr>
            <a:r>
              <a:t>5. Backend &amp; Databases</a:t>
            </a:r>
          </a:p>
          <a:p>
            <a:pPr>
              <a:spcBef>
                <a:spcPts val="300"/>
              </a:spcBef>
              <a:defRPr sz="850" b="1">
                <a:solidFill>
                  <a:srgbClr val="F8FAFC"/>
                </a:solidFill>
              </a:defRPr>
            </a:pPr>
            <a:r>
              <a:t>Duration: 6 or 9 Months</a:t>
            </a:r>
          </a:p>
          <a:p>
            <a:pPr>
              <a:spcBef>
                <a:spcPts val="800"/>
              </a:spcBef>
              <a:defRPr sz="800" b="1">
                <a:solidFill>
                  <a:srgbClr val="38BDF8"/>
                </a:solidFill>
              </a:defRPr>
            </a:pPr>
            <a:r>
              <a:t>Training Bundle: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Node.js Backend + Database Engineering (+ DevOps)</a:t>
            </a:r>
          </a:p>
          <a:p>
            <a:pPr>
              <a:spcBef>
                <a:spcPts val="800"/>
              </a:spcBef>
              <a:defRPr sz="800" b="1">
                <a:solidFill>
                  <a:srgbClr val="818CF8"/>
                </a:solidFill>
              </a:defRPr>
            </a:pPr>
            <a:r>
              <a:t>Portfolio Project: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Scalable SaaS Backend Platform</a:t>
            </a:r>
          </a:p>
          <a:p>
            <a:pPr>
              <a:spcBef>
                <a:spcPts val="800"/>
              </a:spcBef>
              <a:defRPr sz="800" b="1">
                <a:solidFill>
                  <a:srgbClr val="10B981"/>
                </a:solidFill>
              </a:defRPr>
            </a:pPr>
            <a:r>
              <a:t>Internship Role:</a:t>
            </a:r>
          </a:p>
          <a:p>
            <a:pPr>
              <a:defRPr sz="800">
                <a:solidFill>
                  <a:srgbClr val="EC4899"/>
                </a:solidFill>
              </a:defRPr>
            </a:pPr>
            <a:r>
              <a:t>Backend &amp; Database Engineering Intern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ACADEMIC &amp; OPERATIONAL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Program Delivery Timeline &amp; Operating Cadence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2286000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The 1-Month Standard Delivery Model (30-Day Intensive)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</a:rPr>
              <a:t>• Days 1 to 15: Core Training: </a:t>
            </a:r>
            <a:r>
              <a:rPr sz="950">
                <a:solidFill>
                  <a:srgbClr val="94A3B8"/>
                </a:solidFill>
              </a:rPr>
              <a:t>Learn core curriculum, complete daily guided coding sandboxes, and build fundamental technical skills.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</a:rPr>
              <a:t>• Days 16 to 23: Portfolio Project: </a:t>
            </a:r>
            <a:r>
              <a:rPr sz="950">
                <a:solidFill>
                  <a:srgbClr val="94A3B8"/>
                </a:solidFill>
              </a:rPr>
              <a:t>Design, build, and document the designated portfolio project with real-time automated code tests.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</a:rPr>
              <a:t>• Days 24 to 30: Simulated Internship: </a:t>
            </a:r>
            <a:r>
              <a:rPr sz="950">
                <a:solidFill>
                  <a:srgbClr val="94A3B8"/>
                </a:solidFill>
              </a:rPr>
              <a:t>Perform role-based workplace tasks, meet sprint deadlines, submit deliverables, and complete final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10728655" cy="269748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The 3, 6 &amp; 9-Month Progressive Acceleration Models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</a:rPr>
              <a:t>✔ 3 &amp; 6-Month Programs: </a:t>
            </a:r>
            <a:r>
              <a:rPr sz="950">
                <a:solidFill>
                  <a:srgbClr val="94A3B8"/>
                </a:solidFill>
              </a:rPr>
              <a:t>Month 1 establishes core foundations. Middle months focus on advanced implementation, live labs, and capstone development. Final month is dedicated to simulated enterprise tasks, code reviews, and portfolio presentations.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</a:rPr>
              <a:t>✔ 9-Month Future-Ready Pathways: </a:t>
            </a:r>
            <a:r>
              <a:rPr sz="950">
                <a:solidFill>
                  <a:srgbClr val="94A3B8"/>
                </a:solidFill>
              </a:rPr>
              <a:t>Months 1–3 deliver the first specialization (e.g. Python). Months 4–6 deliver the complementary specialization (e.g. React/DevOps). Months 7–8 develop the integrated multi-tier capstone. Month 9 concludes with simulated internship validation and career readiness.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</a:rPr>
              <a:t>✔ Educational Governance: </a:t>
            </a:r>
            <a:r>
              <a:rPr sz="950">
                <a:solidFill>
                  <a:srgbClr val="94A3B8"/>
                </a:solidFill>
              </a:rPr>
              <a:t>Continuous evaluation prevents student drop-offs. Proctored checks after every 5 days guarantee genuine student competency.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FLAGSHIP CURRICULUM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Flagship Track 1: Full-Stack Python &amp;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Non-Technical Business Value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Python powers modern AI, data engineering, and enterprise backends. We take learners with zero background and transform them into full-stack software engineers in 30 daily modules.</a:t>
            </a:r>
          </a:p>
          <a:p>
            <a:pPr>
              <a:spcBef>
                <a:spcPts val="1000"/>
              </a:spcBef>
              <a:defRPr sz="1100" b="1">
                <a:solidFill>
                  <a:srgbClr val="818CF8"/>
                </a:solidFill>
              </a:defRPr>
            </a:pPr>
            <a:r>
              <a:t>Topics Covered: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Core Logic: </a:t>
            </a:r>
            <a:r>
              <a:rPr sz="950">
                <a:solidFill>
                  <a:srgbClr val="94A3B8"/>
                </a:solidFill>
              </a:rPr>
              <a:t>Control flows, math operators, functions, and decision engines.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Data Structures: </a:t>
            </a:r>
            <a:r>
              <a:rPr sz="950">
                <a:solidFill>
                  <a:srgbClr val="94A3B8"/>
                </a:solidFill>
              </a:rPr>
              <a:t>Lists, dictionaries, hash tables, and O(1) ledgers.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OOP Architecture: </a:t>
            </a:r>
            <a:r>
              <a:rPr sz="950">
                <a:solidFill>
                  <a:srgbClr val="94A3B8"/>
                </a:solidFill>
              </a:rPr>
              <a:t>Classes, encapsulation, and payment gateway engines.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Web APIs (FastAPI): </a:t>
            </a:r>
            <a:r>
              <a:rPr sz="950">
                <a:solidFill>
                  <a:srgbClr val="94A3B8"/>
                </a:solidFill>
              </a:rPr>
              <a:t>Connecting mobile/web frontends to databases.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Databases (SQL): </a:t>
            </a:r>
            <a:r>
              <a:rPr sz="950">
                <a:solidFill>
                  <a:srgbClr val="94A3B8"/>
                </a:solidFill>
              </a:rPr>
              <a:t>Relational models, queries, and ACID transaction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Interactive Lab &amp; Flight Simulator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Zero Laptop Setup Friction: </a:t>
            </a:r>
            <a:r>
              <a:rPr sz="950">
                <a:solidFill>
                  <a:srgbClr val="94A3B8"/>
                </a:solidFill>
              </a:rPr>
              <a:t>Runs 100% in any browser. No broken compilers or installation errors.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Proctored Assertion Engine: </a:t>
            </a:r>
            <a:r>
              <a:rPr sz="950">
                <a:solidFill>
                  <a:srgbClr val="94A3B8"/>
                </a:solidFill>
              </a:rPr>
              <a:t>Code is checked against real-world edge cases instantly upon execution.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Socratic Debugging AI: </a:t>
            </a:r>
            <a:r>
              <a:rPr sz="950">
                <a:solidFill>
                  <a:srgbClr val="94A3B8"/>
                </a:solidFill>
              </a:rPr>
              <a:t>Guides students to fix bugs with probing questions rather than giving away answers.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Real Deployment: </a:t>
            </a:r>
            <a:r>
              <a:rPr sz="950">
                <a:solidFill>
                  <a:srgbClr val="94A3B8"/>
                </a:solidFill>
              </a:rPr>
              <a:t>Students launch live web APIs with shareable URLs to showcase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440680"/>
            <a:ext cx="521208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CODING STATUS: PYTHON FULL-STACK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Coded: 30 / 30 Days (100% Complete &amp; Tested) | Remaining to Code: 0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CONSUMER WEB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Flagship Track 2: Enterprise Web Full-Stack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The Modern Consumer Web Experience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Every high-scale consumer platform—from ride-hailing to banking—runs on modern web technologies. We train students to engineer high-velocity frontends and bulletproof backends.</a:t>
            </a:r>
          </a:p>
          <a:p>
            <a:pPr>
              <a:spcBef>
                <a:spcPts val="1000"/>
              </a:spcBef>
              <a:defRPr sz="1100" b="1">
                <a:solidFill>
                  <a:srgbClr val="818CF8"/>
                </a:solidFill>
              </a:defRPr>
            </a:pPr>
            <a:r>
              <a:t>Topics Covered: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Frontend (React &amp; Next.js): </a:t>
            </a:r>
            <a:r>
              <a:rPr sz="950">
                <a:solidFill>
                  <a:srgbClr val="94A3B8"/>
                </a:solidFill>
              </a:rPr>
              <a:t>Interactive UI components, state management, and Server-Side Rendering.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Backend Services (Node.js): </a:t>
            </a:r>
            <a:r>
              <a:rPr sz="950">
                <a:solidFill>
                  <a:srgbClr val="94A3B8"/>
                </a:solidFill>
              </a:rPr>
              <a:t>Event loops, REST APIs, JSON data pipelines, and request routing.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Database Modeling (Prisma ORM): </a:t>
            </a:r>
            <a:r>
              <a:rPr sz="950">
                <a:solidFill>
                  <a:srgbClr val="94A3B8"/>
                </a:solidFill>
              </a:rPr>
              <a:t>Relational schemas, user authentication tables, and caching.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Real-Time Data (WebSockets): </a:t>
            </a:r>
            <a:r>
              <a:rPr sz="950">
                <a:solidFill>
                  <a:srgbClr val="94A3B8"/>
                </a:solidFill>
              </a:rPr>
              <a:t>Live bidirectional event streaming for chats and order tracking.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Security &amp; Payments (Stripe): </a:t>
            </a:r>
            <a:r>
              <a:rPr sz="950">
                <a:solidFill>
                  <a:srgbClr val="94A3B8"/>
                </a:solidFill>
              </a:rPr>
              <a:t>Encrypted session tokens, cookie security, and automated billing.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Production Capstone Deliverables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High-Throughput API Gateway: </a:t>
            </a:r>
            <a:r>
              <a:rPr sz="950">
                <a:solidFill>
                  <a:srgbClr val="94A3B8"/>
                </a:solidFill>
              </a:rPr>
              <a:t>Rate limiting algorithms protecting servers from DDoS attacks during flash sales.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Multi-Tenant Auth Hub: </a:t>
            </a:r>
            <a:r>
              <a:rPr sz="950">
                <a:solidFill>
                  <a:srgbClr val="94A3B8"/>
                </a:solidFill>
              </a:rPr>
              <a:t>Enterprise role-based security protecting patient and client records.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Live Collaborative Canvas: </a:t>
            </a:r>
            <a:r>
              <a:rPr sz="950">
                <a:solidFill>
                  <a:srgbClr val="94A3B8"/>
                </a:solidFill>
              </a:rPr>
              <a:t>Interactive live canvas and chat engine supporting simultaneous users.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✔ Enterprise E-Commerce Engine: </a:t>
            </a:r>
            <a:r>
              <a:rPr sz="950">
                <a:solidFill>
                  <a:srgbClr val="94A3B8"/>
                </a:solidFill>
              </a:rPr>
              <a:t>Complete 30-Day capstone featuring inventory locking, shopping carts, and Stripe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440680"/>
            <a:ext cx="521208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CODING STATUS: FULL-STACK REACT &amp; NODE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Coded: 30 / 30 Days (100% Complete &amp; Tested) | Remaining to Code: 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ENTERPRISE WORK-SIMULATION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Simulated Internship Workplace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Supervised Role-Based Simulation: Replicating Workplace Responsibilities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Learners complete role-specific assignments, follow professional sprint workflows, submit deliverables, and receive feedback. It bridges the critical experience barrier without the legal exposure of employment guarantees.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542032" cy="3977639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Virtual Tech Desk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Assigned to an engineering squad with an AI Tech Lead and Product Manager. They participate in standups and backlog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423160"/>
            <a:ext cx="2542032" cy="3977639"/>
          </a:xfrm>
          <a:prstGeom prst="roundRect">
            <a:avLst/>
          </a:prstGeom>
          <a:solidFill>
            <a:srgbClr val="18212F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2. Real Bug Tickets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Tasks are dynamically generated business problems (e.g., checkout timeouts, database crashes), preventing copied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423160"/>
            <a:ext cx="2542032" cy="3977639"/>
          </a:xfrm>
          <a:prstGeom prst="roundRect">
            <a:avLst/>
          </a:prstGeom>
          <a:solidFill>
            <a:srgbClr val="1821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3. Code Reviews &amp; PRs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Students write code, create Git branches, and submit Pull Requests. Our automated AI conducts line-by-line security and efficiency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423160"/>
            <a:ext cx="2542032" cy="3977639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Verifiable QR Proof</a:t>
            </a:r>
          </a:p>
          <a:p>
            <a:pPr>
              <a:spcBef>
                <a:spcPts val="1200"/>
              </a:spcBef>
              <a:defRPr sz="1000">
                <a:solidFill>
                  <a:srgbClr val="F8FAFC"/>
                </a:solidFill>
              </a:defRPr>
            </a:pPr>
            <a:r>
              <a:t>Upon passing sprints and an oral defense, students earn an employer-verifiable digital credential backed by a public audit link.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COURSE PORTFOLIO • BLOCK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Course Portfolio: Core Systems &amp;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4. Java Fundamentals &amp; Core Logic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Industrial programming workhorse running global banking and enterprise legacy systems.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Conditionals, OOP inheritance, garbage collection, collections framework, and multithreading.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F59E0B"/>
                </a:solidFill>
              </a:rPr>
              <a:t>⚡ Build Status: Coded: 17 / 30 Days (56% Complete)  |  Remaining to Code: 13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6. Database Engineering &amp; Query Performance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The secure digital vault where all customer profiles and financial ledgers are stored.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Relational SQL, index B-trees, ACID transactions, connection pools, and query execution plans.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10. Cloud Native Architectures (AWS)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Renting infinite supercomputing power from Amazon data centers instead of physical office servers.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Virtual servers (EC2), serverless Lambda functions, S3 storage buckets, and API gateways.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F59E0B"/>
                </a:solidFill>
              </a:rPr>
              <a:t>⚡ Build Status: Coded: 5 / 30 Days (16% Complete)  |  Remaining to Code: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11. DevOps &amp; CI/CD Pipeline Automation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The automated factory assembly line that tests, packages, and deploys software with zero errors.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Docker containerization, GitHub Actions workflows, Kubernetes clusters, and zero-downtime rollouts.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COURSE PORTFOLIO • BLOCK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Course Portfolio: Software Performance &amp; User Interfaces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5. Data Structures &amp; Algorithmic Optimizations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The mathematical science of organizing data so applications run in split-seconds.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Big-O space-time complexity, binary search trees, hash tables, and dynamic programming.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8. UI/UX Design Systems &amp; Visual Frontend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Creating the visual standards and component blueprints that make software intuitive to anyone.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Atomic components, WCAG accessibility, typography grids, responsive CSS, and design tokens.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9. Mobile Application Development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Building sleek, native-feel apps for iPhone and Android devices from a unified codebase.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React Native, touch gesture handlers, camera/GPS device APIs, and app store deployment.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F59E0B"/>
                </a:solidFill>
              </a:rPr>
              <a:t>⚡ Build Status: Coded: 6 / 30 Days (20% Complete)  |  Remaining to Code: 24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7. High-Scale Distributed System Design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Architecting systems that never crash even when millions transact at once (like Uber or Amazon).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Load balancing, Redis in-memory caches, message queues, database sharding, and fault tolerance.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COURSE PORTFOLIO • BLOCK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Course Portfolio: Artificial Intelligence &amp; High-Scale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15. AI Engineering &amp; LLM Integration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Embedding generative AI models (ChatGPT/Claude) directly into company products to automate work.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Prompt engineering, Retrieval-Augmented Generation (RAG), vector embeddings, and agent loops.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F59E0B"/>
                </a:solidFill>
              </a:rPr>
              <a:t>⚡ Build Status: Coded: 5 / 30 Days (16% Complete)  |  Remaining to Code: 25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13. Cybersecurity Principles &amp; Secure Systems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The digital defense shield that protects company networks and customer data from hackers.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OWASP Top 10 vulnerabilities, AES encryption, SQL injection defense, and security audits.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14. Quantitative Engineering &amp; Low-Latency Trading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Building the hyper-speed financial software used by Wall Street where trades execute in microseconds.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Electronic Limit Order Books (LOB), trade matching engines, VWAP algorithms, and latency physics.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F59E0B"/>
                </a:solidFill>
              </a:rPr>
              <a:t>⚡ Build Status: Coded: 5 / 30 Days (16% Complete)  |  Remaining to Code: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3. Node.js &amp; TypeScript Backend Engineering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The enterprise server technology powering high-concurrency modern apps with strict type safety.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Asynchronous event loops, Express middleware, REST APIs, and high-throughput reliability.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COURSE PORTFOLIO • BLOCK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Course Portfolio: Commerce, Finance &amp; Business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24. Digital Accounting &amp; Taxation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Modernizing accounting by replacing manual books with automated ERP software and cloud workflows.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Double-entry bookkeeping, Tally Prime ERP, GST tax compliance, and automated payroll runs.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29. E-Commerce &amp; Digital Business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Everything required to launch, run, and scale an online consumer storefront from UX to fulfillment.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Storefront design, payment gateway checkout, catalog management, and shipping logistics.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31. Sales, Customer Success &amp; CRM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Finding enterprise buyers, pitching deals, negotiating contracts, and maintaining clients.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B2B prospecting, lead qualification (BANT), objection handling, and CRM software management.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32. Operations, Supply Chain &amp; Compliance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4A3B8"/>
                </a:solidFill>
              </a:rPr>
              <a:t>What It Is: </a:t>
            </a:r>
            <a:r>
              <a:rPr sz="850">
                <a:solidFill>
                  <a:srgbClr val="F8FAFC"/>
                </a:solidFill>
              </a:rPr>
              <a:t>Managing the physical movement of materials and manufacturing goods on time with zero waste.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818CF8"/>
                </a:solidFill>
              </a:rPr>
              <a:t>Topics We Teach: </a:t>
            </a:r>
            <a:r>
              <a:rPr sz="850">
                <a:solidFill>
                  <a:srgbClr val="F8FAFC"/>
                </a:solidFill>
              </a:rPr>
              <a:t>Process mapping, inventory control (EOQ/ROP), supplier procurement, and Lean Six Sigma quality.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10B981"/>
                </a:solidFill>
              </a:rPr>
              <a:t>⚡ Build Status: Coded: 30 / 30 Days (100% Complete)  |  Remaining to Code: 0 Days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FINANCIAL &amp; COMMERCIAL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Engineering Velocity &amp; Immediate Go-to-Market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164592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12 COURSES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100% Coded &amp; Live Today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360 production-grade daily modules with verified tests ready for immediate 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280160"/>
            <a:ext cx="3383280" cy="1645920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25 COURSES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Standardized Architecture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Complete 30-day syllabi, real-world metaphors, and test criteria formalized.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280160"/>
            <a:ext cx="3383280" cy="1645920"/>
          </a:xfrm>
          <a:prstGeom prst="roundRect">
            <a:avLst/>
          </a:prstGeom>
          <a:solidFill>
            <a:srgbClr val="18212F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000" b="1">
                <a:solidFill>
                  <a:srgbClr val="818CF8"/>
                </a:solidFill>
              </a:defRPr>
            </a:pPr>
            <a:r>
              <a:t>HIGH CAPITAL EFFICIENCY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Zero Rework Risk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Automated test harness enables rapid, deterministic expansion at minimal engineering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28655" cy="315468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Shareholder Takeaway: Immediate Commercial Monetization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Immediate Commercial Launch: </a:t>
            </a:r>
            <a:r>
              <a:rPr sz="1050">
                <a:solidFill>
                  <a:srgbClr val="94A3B8"/>
                </a:solidFill>
              </a:rPr>
              <a:t>We can immediately market and monetize complete 1-Month, 3-Month, and 6-Month career packages using our 12 fully-finished courses (Full-Stack Python, Full-Stack React, Node.js Backend, Database Engineering, SRE/DevOps, Excel, Accounting, and Business Operations).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Predictable Engineering Velocity: </a:t>
            </a:r>
            <a:r>
              <a:rPr sz="1050">
                <a:solidFill>
                  <a:srgbClr val="94A3B8"/>
                </a:solidFill>
              </a:rPr>
              <a:t>All 37 mastercourses have their complete 30-day curriculum blueprints, real-world metaphors, and test criteria formalized in master specification files. Expanding remaining days uses our automated testing pipeline with deterministic quality.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✔ No Content Debt or Redundancy: </a:t>
            </a:r>
            <a:r>
              <a:rPr sz="1050">
                <a:solidFill>
                  <a:srgbClr val="94A3B8"/>
                </a:solidFill>
              </a:rPr>
              <a:t>Unlike other bootcamps that license third-party content, PinIT owns 100% of its curriculum intellectual property (IP), software engines, and automated assessment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OUR TECHNOLOGY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How We Teach: The Proprietary AI Pedagogy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💡 The Active Learning Cycle: Replacing Passive Video Watching with Interactive Mastery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4572000"/>
          </a:xfrm>
          <a:prstGeom prst="roundRect">
            <a:avLst/>
          </a:prstGeom>
          <a:solidFill>
            <a:srgbClr val="18212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20-Min AI Avatar Mentor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[CONVERSATIONAL AUDIO]</a:t>
            </a:r>
          </a:p>
          <a:p>
            <a:pPr>
              <a:spcBef>
                <a:spcPts val="1000"/>
              </a:spcBef>
              <a:defRPr sz="1000">
                <a:solidFill>
                  <a:srgbClr val="F8FAFC"/>
                </a:solidFill>
              </a:defRPr>
            </a:pPr>
            <a:r>
              <a:t>A photorealistic AI instructor explains concepts conversationally in plain words. Uses everyday metaphors (e.g. databases as bank vaults) with zero confusing jargon.</a:t>
            </a:r>
          </a:p>
          <a:p>
            <a:pPr>
              <a:spcBef>
                <a:spcPts val="1400"/>
              </a:spcBef>
              <a:defRPr sz="950" b="1">
                <a:solidFill>
                  <a:srgbClr val="38BDF8"/>
                </a:solidFill>
              </a:defRPr>
            </a:pPr>
            <a:r>
              <a:t>Shareholder Advantage: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Zero expensive human instructor scaling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83080"/>
            <a:ext cx="2542032" cy="4572000"/>
          </a:xfrm>
          <a:prstGeom prst="roundRect">
            <a:avLst/>
          </a:prstGeom>
          <a:solidFill>
            <a:srgbClr val="18212F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2. Synchronized Visual Stage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[LIVE DYNAMIC GRAPHICS]</a:t>
            </a:r>
          </a:p>
          <a:p>
            <a:pPr>
              <a:spcBef>
                <a:spcPts val="1000"/>
              </a:spcBef>
              <a:defRPr sz="1000">
                <a:solidFill>
                  <a:srgbClr val="F8FAFC"/>
                </a:solidFill>
              </a:defRPr>
            </a:pPr>
            <a:r>
              <a:t>As the avatar speaks, the interactive screen dynamically animates architectural flows, memory registers, state machines, and data pipelines in real-time.</a:t>
            </a:r>
          </a:p>
          <a:p>
            <a:pPr>
              <a:spcBef>
                <a:spcPts val="1400"/>
              </a:spcBef>
              <a:defRPr sz="950" b="1">
                <a:solidFill>
                  <a:srgbClr val="818CF8"/>
                </a:solidFill>
              </a:defRPr>
            </a:pPr>
            <a:r>
              <a:t>Shareholder Advantage: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5x higher student completion rates vs videos.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83080"/>
            <a:ext cx="2542032" cy="4572000"/>
          </a:xfrm>
          <a:prstGeom prst="roundRect">
            <a:avLst/>
          </a:prstGeom>
          <a:solidFill>
            <a:srgbClr val="1821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3. Socratic Knowledge Checks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[INSTANT FORMATIVE FEEDBACK]</a:t>
            </a:r>
          </a:p>
          <a:p>
            <a:pPr>
              <a:spcBef>
                <a:spcPts val="1000"/>
              </a:spcBef>
              <a:defRPr sz="1000">
                <a:solidFill>
                  <a:srgbClr val="F8FAFC"/>
                </a:solidFill>
              </a:defRPr>
            </a:pPr>
            <a:r>
              <a:t>Every single concept concludes with an interactive MCQ. If students choose wrong, the system explains WHY that mental model failed and guides them back.</a:t>
            </a:r>
          </a:p>
          <a:p>
            <a:pPr>
              <a:spcBef>
                <a:spcPts val="1400"/>
              </a:spcBef>
              <a:defRPr sz="950" b="1">
                <a:solidFill>
                  <a:srgbClr val="F59E0B"/>
                </a:solidFill>
              </a:defRPr>
            </a:pPr>
            <a:r>
              <a:t>Shareholder Advantage: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Guaranteed conceptual understanding.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783080"/>
            <a:ext cx="2542032" cy="4572000"/>
          </a:xfrm>
          <a:prstGeom prst="roundRect">
            <a:avLst/>
          </a:prstGeom>
          <a:solidFill>
            <a:srgbClr val="1821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Interactive Sandbox Lab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[PROCTORED CODE EXECUTION]</a:t>
            </a:r>
          </a:p>
          <a:p>
            <a:pPr>
              <a:spcBef>
                <a:spcPts val="1000"/>
              </a:spcBef>
              <a:defRPr sz="1000">
                <a:solidFill>
                  <a:srgbClr val="F8FAFC"/>
                </a:solidFill>
              </a:defRPr>
            </a:pPr>
            <a:r>
              <a:t>Students write real code in our browser terminal. Automated test runners verify code assertions on the fly, locking in skills before the next day.</a:t>
            </a:r>
          </a:p>
          <a:p>
            <a:pPr>
              <a:spcBef>
                <a:spcPts val="1400"/>
              </a:spcBef>
              <a:defRPr sz="950" b="1">
                <a:solidFill>
                  <a:srgbClr val="10B981"/>
                </a:solidFill>
              </a:defRPr>
            </a:pPr>
            <a:r>
              <a:t>Shareholder Advantage: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Zero cheating; 100% genuine code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