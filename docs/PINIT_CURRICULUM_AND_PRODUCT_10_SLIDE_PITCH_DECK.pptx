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leaders and colleagues. When a student enters university today, they juggle Canvas for homework, YouTube for tutorials, LeetCode for interview prep, and ChatGPT for answers. Yet 90% never finish, and recruiters throw away their resumes because they're unverified noise. PinIT replaces this fragmented nightmare with one sovereign platform: accredited coursework, interactive in-browser execution, 3D AI mentors, and cryptographic proof-of-work that top tech recruiters trust.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 traditional online courses have an 85% dropout rate? Because watching a video is passive. In PinIT, students never just watch. Every single day follows our 30-minute cognitive loop: senior pair-programmer narration, live animated state diagrams, forced code friction, and a 3 AM production outage puzzle. And if they get stuck, our Socratic Ladder guides them step-by-step. Nobody gets left behind.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you teach an accounting student double-entry bookkeeping? You give them a live LedgerSheet where an unbalanced entry flashes red until debits equal credits. How do you teach embedded systems? Our RegisterBits engine lets them flip bits 0 through 7 and see hardware registers change. We have built 17 interactive engines with 990 verified visual files running on our platform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first completed pillar: Core Software Engineering and Distributed Web Systems. All six courses are 100% complete and live. Our students don't build trivial to-do apps. They build distributed write-ahead logs, explore Raft consensus protocols, and architect database replication. When our graduates walk into an interview, they speak the language of senior platform engineers.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second pillar dives into deep computer science: Algorithms, JVM internals, 3D WebGL graphics, Cybersecurity, and Blockchain. In our Java track, students explore how Java 21 Project Loom virtual threads decouple execution from OS platform threads. In our 3D graphics track, they implement inverse kinematics and quaternion SLERP interpolation. This curriculum prepares students for the deep technical challenges AI cannot solve.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crown jewel of our platform: Quantitative &amp; Ultra-Low-Latency Systems Engineering. 30 full days, completely built and verified. We teach students how to process NASDAQ ITCH binary packets in 15 nanoseconds, how to align data to 64-byte cache lines, and how to build sub-millisecond SEC risk kill switches. There is no other platform on earth offering this level of institutional low-latency training in an interactive browser format.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Artificial Intelligence, we take students far beyond superficial prompt writing. We've completed 30 days of foundational AI and prompt systems. Now, we are expanding our advanced Natural Language Processing masterclass—teaching students to build scaled dot-product attention kernels, BPE tokenizers, FAISS dense vector retrieval engines, and enterprise RAG guardrails. We teach them to be builders of AI, not merely consumers.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PinIT is not only for computer scientists. We have applied the same engineering rigor to 14 university tracks in Commerce, Finance, and Business Administration. Days 1 through 5 across all 14 tracks are already live. Our commerce students don't just memorize definitions; they write Python to detect fraud using Benford's Law, build automated DCF and LBO models, and stress-test banking liquidity ratios under Basel III regulations.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great journey starts with a launchpad. Our universal launchpad courses—Excel Analytics, Computer Literacy, Git, and Professional Soft Skills—ensure that every student, regardless of background, builds immediate workplace confidence. Simultaneously, our four IoT tracks connect students to physical silicon: ARM TrustZone, TinyML micro-quantization, and RF link budgets. We prepare students for both the digital screen and the physical chip.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PinIT Career OS is not a prototype or a conceptual pitch. It is a battle-tested reality with 1,045 completed lesson days, 990 interactive visual engines, and zero compiler errors. By deploying our isolated 3-branch architecture, we are rapidly completing the remaining 34% of the curriculum while delivering our full Campus Admin and Faculty portal. PinIT is ready to become the definitive operating system for higher education. Thank you, and I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89920" y="320040"/>
            <a:ext cx="914400" cy="365760"/>
          </a:xfrm>
          <a:prstGeom prst="rect">
            <a:avLst/>
          </a:prstGeom>
          <a:noFill/>
        </p:spPr>
        <p:txBody>
          <a:bodyPr wrap="square">
            <a:spAutoFit/>
          </a:bodyPr>
          <a:lstStyle/>
          <a:p>
            <a:pPr algn="r">
              <a:defRPr sz="1300" b="1">
                <a:solidFill>
                  <a:srgbClr val="38BDF8"/>
                </a:solidFill>
              </a:defRPr>
            </a:pPr>
            <a:r>
              <a:t>01 / 10</a:t>
            </a:r>
          </a:p>
        </p:txBody>
      </p:sp>
      <p:sp>
        <p:nvSpPr>
          <p:cNvPr id="5" name="TextBox 4"/>
          <p:cNvSpPr txBox="1"/>
          <p:nvPr/>
        </p:nvSpPr>
        <p:spPr>
          <a:xfrm>
            <a:off x="731520" y="320040"/>
            <a:ext cx="7315200" cy="320040"/>
          </a:xfrm>
          <a:prstGeom prst="rect">
            <a:avLst/>
          </a:prstGeom>
          <a:noFill/>
        </p:spPr>
        <p:txBody>
          <a:bodyPr wrap="none">
            <a:spAutoFit/>
          </a:bodyPr>
          <a:lstStyle/>
          <a:p>
            <a:pPr>
              <a:defRPr sz="1100" b="1">
                <a:solidFill>
                  <a:srgbClr val="818CF8"/>
                </a:solidFill>
              </a:defRPr>
            </a:pPr>
            <a:r>
              <a:t>THE INSTITUTIONAL CRISIS &amp; SOVEREIGN SOLUTION</a:t>
            </a:r>
          </a:p>
        </p:txBody>
      </p:sp>
      <p:sp>
        <p:nvSpPr>
          <p:cNvPr id="6" name="TextBox 5"/>
          <p:cNvSpPr txBox="1"/>
          <p:nvPr/>
        </p:nvSpPr>
        <p:spPr>
          <a:xfrm>
            <a:off x="731520" y="594360"/>
            <a:ext cx="10515600" cy="548640"/>
          </a:xfrm>
          <a:prstGeom prst="rect">
            <a:avLst/>
          </a:prstGeom>
          <a:noFill/>
        </p:spPr>
        <p:txBody>
          <a:bodyPr wrap="none">
            <a:spAutoFit/>
          </a:bodyPr>
          <a:lstStyle/>
          <a:p>
            <a:pPr>
              <a:defRPr sz="2400" b="1">
                <a:solidFill>
                  <a:srgbClr val="F8FAFC"/>
                </a:solidFill>
              </a:defRPr>
            </a:pPr>
            <a:r>
              <a:t>PinIT Career OS: The Sovereign Operating System for Higher Education</a:t>
            </a:r>
          </a:p>
        </p:txBody>
      </p:sp>
      <p:sp>
        <p:nvSpPr>
          <p:cNvPr id="7" name="TextBox 6"/>
          <p:cNvSpPr txBox="1"/>
          <p:nvPr/>
        </p:nvSpPr>
        <p:spPr>
          <a:xfrm>
            <a:off x="731520" y="1143000"/>
            <a:ext cx="10515600" cy="365760"/>
          </a:xfrm>
          <a:prstGeom prst="rect">
            <a:avLst/>
          </a:prstGeom>
          <a:noFill/>
        </p:spPr>
        <p:txBody>
          <a:bodyPr wrap="none">
            <a:spAutoFit/>
          </a:bodyPr>
          <a:lstStyle/>
          <a:p>
            <a:pPr>
              <a:defRPr sz="1300">
                <a:solidFill>
                  <a:srgbClr val="94A3B8"/>
                </a:solidFill>
              </a:defRPr>
            </a:pPr>
            <a:r>
              <a:t>Connecting Academic Instruction, Developer Sandboxes, AI Mentors, and Verifiable Placement into One Unified Highway</a:t>
            </a:r>
          </a:p>
        </p:txBody>
      </p:sp>
      <p:sp>
        <p:nvSpPr>
          <p:cNvPr id="8" name="Rounded Rectangle 7"/>
          <p:cNvSpPr/>
          <p:nvPr/>
        </p:nvSpPr>
        <p:spPr>
          <a:xfrm>
            <a:off x="731520" y="1645920"/>
            <a:ext cx="512064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0"/>
            <a:ext cx="4754880" cy="4023360"/>
          </a:xfrm>
          <a:prstGeom prst="rect">
            <a:avLst/>
          </a:prstGeom>
          <a:noFill/>
        </p:spPr>
        <p:txBody>
          <a:bodyPr wrap="square">
            <a:spAutoFit/>
          </a:bodyPr>
          <a:lstStyle/>
          <a:p>
            <a:pPr>
              <a:defRPr sz="1000" b="1">
                <a:solidFill>
                  <a:srgbClr val="EF4444"/>
                </a:solidFill>
              </a:defRPr>
            </a:pPr>
            <a:r>
              <a:t>[THE STATUS QUO]</a:t>
            </a:r>
          </a:p>
          <a:p>
            <a:pPr>
              <a:defRPr sz="1700" b="1">
                <a:solidFill>
                  <a:srgbClr val="F8FAFC"/>
                </a:solidFill>
              </a:defRPr>
            </a:pPr>
            <a:r>
              <a:t>The Higher Education Crisis</a:t>
            </a:r>
          </a:p>
          <a:p>
            <a:pPr>
              <a:spcAft>
                <a:spcPts val="800"/>
              </a:spcAft>
              <a:defRPr sz="1100">
                <a:solidFill>
                  <a:srgbClr val="38BDF8"/>
                </a:solidFill>
              </a:defRPr>
            </a:pPr>
            <a:r>
              <a:t>Why 90% of Students Drop Out of Traditional Learning</a:t>
            </a:r>
          </a:p>
          <a:p>
            <a:pPr>
              <a:spcAft>
                <a:spcPts val="500"/>
              </a:spcAft>
              <a:defRPr sz="1200">
                <a:solidFill>
                  <a:srgbClr val="94A3B8"/>
                </a:solidFill>
              </a:defRPr>
            </a:pPr>
            <a:r>
              <a:t>• Fragmented Tool Sprawl: Universities juggle 4-6 point solutions (Canvas, LeetCode, standalone resume portals) costing $65k-$130k/yr.</a:t>
            </a:r>
          </a:p>
          <a:p>
            <a:pPr>
              <a:spcAft>
                <a:spcPts val="500"/>
              </a:spcAft>
              <a:defRPr sz="1200">
                <a:solidFill>
                  <a:srgbClr val="94A3B8"/>
                </a:solidFill>
              </a:defRPr>
            </a:pPr>
            <a:r>
              <a:t>• The Tutorial Hell Trap: Passive video watching creates an illusion of competence; 85%-90% abandon MOOCs without practical skills.</a:t>
            </a:r>
          </a:p>
          <a:p>
            <a:pPr>
              <a:spcAft>
                <a:spcPts val="500"/>
              </a:spcAft>
              <a:defRPr sz="1200">
                <a:solidFill>
                  <a:srgbClr val="94A3B8"/>
                </a:solidFill>
              </a:defRPr>
            </a:pPr>
            <a:r>
              <a:t>• Unverified Resume Noise: Corporate recruiters discard generic student PDF resumes due to zero verifiable proof-of-work.</a:t>
            </a:r>
          </a:p>
          <a:p>
            <a:pPr>
              <a:spcAft>
                <a:spcPts val="500"/>
              </a:spcAft>
              <a:defRPr sz="1200">
                <a:solidFill>
                  <a:srgbClr val="94A3B8"/>
                </a:solidFill>
              </a:defRPr>
            </a:pPr>
            <a:r>
              <a:t>• Faculty &amp; Administrative Drain: Manual grading, disconnected spreadsheets, and siloed data cripple campus placement rates.</a:t>
            </a:r>
          </a:p>
        </p:txBody>
      </p:sp>
      <p:sp>
        <p:nvSpPr>
          <p:cNvPr id="10" name="Rounded Rectangle 9"/>
          <p:cNvSpPr/>
          <p:nvPr/>
        </p:nvSpPr>
        <p:spPr>
          <a:xfrm>
            <a:off x="6217920" y="1645920"/>
            <a:ext cx="512064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28800"/>
            <a:ext cx="4754880" cy="4023360"/>
          </a:xfrm>
          <a:prstGeom prst="rect">
            <a:avLst/>
          </a:prstGeom>
          <a:noFill/>
        </p:spPr>
        <p:txBody>
          <a:bodyPr wrap="square">
            <a:spAutoFit/>
          </a:bodyPr>
          <a:lstStyle/>
          <a:p>
            <a:pPr>
              <a:defRPr sz="1000" b="1">
                <a:solidFill>
                  <a:srgbClr val="34D399"/>
                </a:solidFill>
              </a:defRPr>
            </a:pPr>
            <a:r>
              <a:t>[LIVE PLATFORM: 1,045 DAYS COMPLETE]</a:t>
            </a:r>
          </a:p>
          <a:p>
            <a:pPr>
              <a:defRPr sz="1700" b="1">
                <a:solidFill>
                  <a:srgbClr val="F8FAFC"/>
                </a:solidFill>
              </a:defRPr>
            </a:pPr>
            <a:r>
              <a:t>The PinIT Sovereign Engine</a:t>
            </a:r>
          </a:p>
          <a:p>
            <a:pPr>
              <a:spcAft>
                <a:spcPts val="800"/>
              </a:spcAft>
              <a:defRPr sz="1100">
                <a:solidFill>
                  <a:srgbClr val="38BDF8"/>
                </a:solidFill>
              </a:defRPr>
            </a:pPr>
            <a:r>
              <a:t>One Integrated Highway from Freshman Year to Hired</a:t>
            </a:r>
          </a:p>
          <a:p>
            <a:pPr>
              <a:spcAft>
                <a:spcPts val="500"/>
              </a:spcAft>
              <a:defRPr sz="1200">
                <a:solidFill>
                  <a:srgbClr val="94A3B8"/>
                </a:solidFill>
              </a:defRPr>
            </a:pPr>
            <a:r>
              <a:t>• 37 Masterclass Curricula: Industry-grade engineering &amp; commerce curriculum covering 2,220 days and 8,862 active quests.</a:t>
            </a:r>
          </a:p>
          <a:p>
            <a:pPr>
              <a:spcAft>
                <a:spcPts val="500"/>
              </a:spcAft>
              <a:defRPr sz="1200">
                <a:solidFill>
                  <a:srgbClr val="94A3B8"/>
                </a:solidFill>
              </a:defRPr>
            </a:pPr>
            <a:r>
              <a:t>• 17 Interactive Visual Engines: Eliminates mental roadblocks with real-time state machines, register bits, and ledgers.</a:t>
            </a:r>
          </a:p>
          <a:p>
            <a:pPr>
              <a:spcAft>
                <a:spcPts val="500"/>
              </a:spcAft>
              <a:defRPr sz="1200">
                <a:solidFill>
                  <a:srgbClr val="94A3B8"/>
                </a:solidFill>
              </a:defRPr>
            </a:pPr>
            <a:r>
              <a:t>• Deterministic 3D AI Mentors: Real-time audio pair-programming guidance with Socratic hint ladders and zero hallucination.</a:t>
            </a:r>
          </a:p>
          <a:p>
            <a:pPr>
              <a:spcAft>
                <a:spcPts val="500"/>
              </a:spcAft>
              <a:defRPr sz="1200">
                <a:solidFill>
                  <a:srgbClr val="94A3B8"/>
                </a:solidFill>
              </a:defRPr>
            </a:pPr>
            <a:r>
              <a:t>• Cryptographic Proof-of-Work: Tamper-evident GitHub repositories, AST code verification, and real-time recruiter telemetry.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89920" y="320040"/>
            <a:ext cx="914400" cy="365760"/>
          </a:xfrm>
          <a:prstGeom prst="rect">
            <a:avLst/>
          </a:prstGeom>
          <a:noFill/>
        </p:spPr>
        <p:txBody>
          <a:bodyPr wrap="square">
            <a:spAutoFit/>
          </a:bodyPr>
          <a:lstStyle/>
          <a:p>
            <a:pPr algn="r">
              <a:defRPr sz="1300" b="1">
                <a:solidFill>
                  <a:srgbClr val="38BDF8"/>
                </a:solidFill>
              </a:defRPr>
            </a:pPr>
            <a:r>
              <a:t>02 / 10</a:t>
            </a:r>
          </a:p>
        </p:txBody>
      </p:sp>
      <p:sp>
        <p:nvSpPr>
          <p:cNvPr id="5" name="TextBox 4"/>
          <p:cNvSpPr txBox="1"/>
          <p:nvPr/>
        </p:nvSpPr>
        <p:spPr>
          <a:xfrm>
            <a:off x="731520" y="320040"/>
            <a:ext cx="7315200" cy="320040"/>
          </a:xfrm>
          <a:prstGeom prst="rect">
            <a:avLst/>
          </a:prstGeom>
          <a:noFill/>
        </p:spPr>
        <p:txBody>
          <a:bodyPr wrap="none">
            <a:spAutoFit/>
          </a:bodyPr>
          <a:lstStyle/>
          <a:p>
            <a:pPr>
              <a:defRPr sz="1100" b="1">
                <a:solidFill>
                  <a:srgbClr val="818CF8"/>
                </a:solidFill>
              </a:defRPr>
            </a:pPr>
            <a:r>
              <a:t>COGNITIVE ARCHITECTURE &amp; EDUCATIONAL STANDARDS</a:t>
            </a:r>
          </a:p>
        </p:txBody>
      </p:sp>
      <p:sp>
        <p:nvSpPr>
          <p:cNvPr id="6" name="TextBox 5"/>
          <p:cNvSpPr txBox="1"/>
          <p:nvPr/>
        </p:nvSpPr>
        <p:spPr>
          <a:xfrm>
            <a:off x="731520" y="594360"/>
            <a:ext cx="10515600" cy="548640"/>
          </a:xfrm>
          <a:prstGeom prst="rect">
            <a:avLst/>
          </a:prstGeom>
          <a:noFill/>
        </p:spPr>
        <p:txBody>
          <a:bodyPr wrap="none">
            <a:spAutoFit/>
          </a:bodyPr>
          <a:lstStyle/>
          <a:p>
            <a:pPr>
              <a:defRPr sz="2400" b="1">
                <a:solidFill>
                  <a:srgbClr val="F8FAFC"/>
                </a:solidFill>
              </a:defRPr>
            </a:pPr>
            <a:r>
              <a:t>The Pedagogical Revolution: Eradicating Tutorial Hell</a:t>
            </a:r>
          </a:p>
        </p:txBody>
      </p:sp>
      <p:sp>
        <p:nvSpPr>
          <p:cNvPr id="7" name="TextBox 6"/>
          <p:cNvSpPr txBox="1"/>
          <p:nvPr/>
        </p:nvSpPr>
        <p:spPr>
          <a:xfrm>
            <a:off x="731520" y="1143000"/>
            <a:ext cx="10515600" cy="365760"/>
          </a:xfrm>
          <a:prstGeom prst="rect">
            <a:avLst/>
          </a:prstGeom>
          <a:noFill/>
        </p:spPr>
        <p:txBody>
          <a:bodyPr wrap="none">
            <a:spAutoFit/>
          </a:bodyPr>
          <a:lstStyle/>
          <a:p>
            <a:pPr>
              <a:defRPr sz="1300">
                <a:solidFill>
                  <a:srgbClr val="94A3B8"/>
                </a:solidFill>
              </a:defRPr>
            </a:pPr>
            <a:r>
              <a:t>The Strict 30-Minute Cognitive Loop Backed by a 3-Tier Socratic Hint Ladder</a:t>
            </a:r>
          </a:p>
        </p:txBody>
      </p:sp>
      <p:sp>
        <p:nvSpPr>
          <p:cNvPr id="8" name="Rounded Rectangle 7"/>
          <p:cNvSpPr/>
          <p:nvPr/>
        </p:nvSpPr>
        <p:spPr>
          <a:xfrm>
            <a:off x="731520" y="1645920"/>
            <a:ext cx="685800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0"/>
            <a:ext cx="6492240" cy="4023360"/>
          </a:xfrm>
          <a:prstGeom prst="rect">
            <a:avLst/>
          </a:prstGeom>
          <a:noFill/>
        </p:spPr>
        <p:txBody>
          <a:bodyPr wrap="square">
            <a:spAutoFit/>
          </a:bodyPr>
          <a:lstStyle/>
          <a:p>
            <a:pPr>
              <a:defRPr sz="1000" b="1">
                <a:solidFill>
                  <a:srgbClr val="38BDF8"/>
                </a:solidFill>
              </a:defRPr>
            </a:pPr>
            <a:r>
              <a:t>[HOW WE TEACH]</a:t>
            </a:r>
          </a:p>
          <a:p>
            <a:pPr>
              <a:defRPr sz="1700" b="1">
                <a:solidFill>
                  <a:srgbClr val="F8FAFC"/>
                </a:solidFill>
              </a:defRPr>
            </a:pPr>
            <a:r>
              <a:t>The 30-Minute Cognitive Rhythm</a:t>
            </a:r>
          </a:p>
          <a:p>
            <a:pPr>
              <a:spcAft>
                <a:spcPts val="800"/>
              </a:spcAft>
              <a:defRPr sz="1100">
                <a:solidFill>
                  <a:srgbClr val="38BDF8"/>
                </a:solidFill>
              </a:defRPr>
            </a:pPr>
            <a:r>
              <a:t>Balanced Active Learning Protocol (28–31 Minutes Daily)</a:t>
            </a:r>
          </a:p>
          <a:p>
            <a:pPr>
              <a:spcAft>
                <a:spcPts val="500"/>
              </a:spcAft>
              <a:defRPr sz="1200">
                <a:solidFill>
                  <a:srgbClr val="94A3B8"/>
                </a:solidFill>
              </a:defRPr>
            </a:pPr>
            <a:r>
              <a:t>• 12.0–13.5 min | Spoken Audio Narration: High-energy, conversational Senior Pair-Programmer voice at 120 WPM (&gt;= 2,940 words/day).</a:t>
            </a:r>
          </a:p>
          <a:p>
            <a:pPr>
              <a:spcAft>
                <a:spcPts val="500"/>
              </a:spcAft>
              <a:defRPr sz="1200">
                <a:solidFill>
                  <a:srgbClr val="94A3B8"/>
                </a:solidFill>
              </a:defRPr>
            </a:pPr>
            <a:r>
              <a:t>• 4.8–5.4 min | Code &amp; Visual Walkthrough: Surgical line-by-line runtime annotation animating state diagrams and invariants.</a:t>
            </a:r>
          </a:p>
          <a:p>
            <a:pPr>
              <a:spcAft>
                <a:spcPts val="500"/>
              </a:spcAft>
              <a:defRPr sz="1200">
                <a:solidFill>
                  <a:srgbClr val="94A3B8"/>
                </a:solidFill>
              </a:defRPr>
            </a:pPr>
            <a:r>
              <a:t>• 6.0–7.2 min | tryIt Live Friction Challenge: Mandatory in-browser code edits prompting students to fix intentional production edge cases.</a:t>
            </a:r>
          </a:p>
          <a:p>
            <a:pPr>
              <a:spcAft>
                <a:spcPts val="500"/>
              </a:spcAft>
              <a:defRPr sz="1200">
                <a:solidFill>
                  <a:srgbClr val="94A3B8"/>
                </a:solidFill>
              </a:defRPr>
            </a:pPr>
            <a:r>
              <a:t>• 7.2–9.0 min | 3 AM Production Outage Diagnostic Puzzles: High-cognitive-load architectural outage triage testing real debugging acumen.</a:t>
            </a:r>
          </a:p>
          <a:p>
            <a:pPr>
              <a:spcAft>
                <a:spcPts val="500"/>
              </a:spcAft>
              <a:defRPr sz="1200">
                <a:solidFill>
                  <a:srgbClr val="94A3B8"/>
                </a:solidFill>
              </a:defRPr>
            </a:pPr>
            <a:r>
              <a:t>• Strict 5-Part Invariant: Hook Dilemma -&gt; Mechanical Analogy -&gt; Mathematical Deep Dive -&gt; Interactive Code -&gt; Production Capstone Wrap.</a:t>
            </a:r>
          </a:p>
        </p:txBody>
      </p:sp>
      <p:sp>
        <p:nvSpPr>
          <p:cNvPr id="10" name="Rounded Rectangle 9"/>
          <p:cNvSpPr/>
          <p:nvPr/>
        </p:nvSpPr>
        <p:spPr>
          <a:xfrm>
            <a:off x="7863840" y="1645920"/>
            <a:ext cx="347472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1828800"/>
            <a:ext cx="3108960" cy="4023360"/>
          </a:xfrm>
          <a:prstGeom prst="rect">
            <a:avLst/>
          </a:prstGeom>
          <a:noFill/>
        </p:spPr>
        <p:txBody>
          <a:bodyPr wrap="square">
            <a:spAutoFit/>
          </a:bodyPr>
          <a:lstStyle/>
          <a:p>
            <a:pPr>
              <a:defRPr sz="1000" b="1">
                <a:solidFill>
                  <a:srgbClr val="FBBF24"/>
                </a:solidFill>
              </a:defRPr>
            </a:pPr>
            <a:r>
              <a:t>[WHY IT WORKS]</a:t>
            </a:r>
          </a:p>
          <a:p>
            <a:pPr>
              <a:defRPr sz="1700" b="1">
                <a:solidFill>
                  <a:srgbClr val="F8FAFC"/>
                </a:solidFill>
              </a:defRPr>
            </a:pPr>
            <a:r>
              <a:t>3-Tier Socratic Ladder</a:t>
            </a:r>
          </a:p>
          <a:p>
            <a:pPr>
              <a:spcAft>
                <a:spcPts val="800"/>
              </a:spcAft>
              <a:defRPr sz="1100">
                <a:solidFill>
                  <a:srgbClr val="38BDF8"/>
                </a:solidFill>
              </a:defRPr>
            </a:pPr>
            <a:r>
              <a:t>Zero Student Abandonment Guarantee</a:t>
            </a:r>
          </a:p>
          <a:p>
            <a:pPr>
              <a:spcAft>
                <a:spcPts val="500"/>
              </a:spcAft>
              <a:defRPr sz="1200">
                <a:solidFill>
                  <a:srgbClr val="94A3B8"/>
                </a:solidFill>
              </a:defRPr>
            </a:pPr>
            <a:r>
              <a:t>• Tier 1: Conceptual Nudge: Asks guiding questions without exposing syntax.</a:t>
            </a:r>
          </a:p>
          <a:p>
            <a:pPr>
              <a:spcAft>
                <a:spcPts val="500"/>
              </a:spcAft>
              <a:defRPr sz="1200">
                <a:solidFill>
                  <a:srgbClr val="94A3B8"/>
                </a:solidFill>
              </a:defRPr>
            </a:pPr>
            <a:r>
              <a:t>• Tier 2: Visual Highlight: Animates the state transition and memory boundaries.</a:t>
            </a:r>
          </a:p>
          <a:p>
            <a:pPr>
              <a:spcAft>
                <a:spcPts val="500"/>
              </a:spcAft>
              <a:defRPr sz="1200">
                <a:solidFill>
                  <a:srgbClr val="94A3B8"/>
                </a:solidFill>
              </a:defRPr>
            </a:pPr>
            <a:r>
              <a:t>• Tier 3: Surgical Line Fix: Pinpoints exact line error as a fail-safe.</a:t>
            </a:r>
          </a:p>
          <a:p>
            <a:pPr>
              <a:spcAft>
                <a:spcPts val="500"/>
              </a:spcAft>
              <a:defRPr sz="1200">
                <a:solidFill>
                  <a:srgbClr val="94A3B8"/>
                </a:solidFill>
              </a:defRPr>
            </a:pPr>
            <a:r>
              <a:t>• Outcome: Students never get stranded, maintaining 100% completion velocity.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89920" y="320040"/>
            <a:ext cx="914400" cy="365760"/>
          </a:xfrm>
          <a:prstGeom prst="rect">
            <a:avLst/>
          </a:prstGeom>
          <a:noFill/>
        </p:spPr>
        <p:txBody>
          <a:bodyPr wrap="square">
            <a:spAutoFit/>
          </a:bodyPr>
          <a:lstStyle/>
          <a:p>
            <a:pPr algn="r">
              <a:defRPr sz="1300" b="1">
                <a:solidFill>
                  <a:srgbClr val="38BDF8"/>
                </a:solidFill>
              </a:defRPr>
            </a:pPr>
            <a:r>
              <a:t>03 / 10</a:t>
            </a:r>
          </a:p>
        </p:txBody>
      </p:sp>
      <p:sp>
        <p:nvSpPr>
          <p:cNvPr id="5" name="TextBox 4"/>
          <p:cNvSpPr txBox="1"/>
          <p:nvPr/>
        </p:nvSpPr>
        <p:spPr>
          <a:xfrm>
            <a:off x="731520" y="320040"/>
            <a:ext cx="7315200" cy="320040"/>
          </a:xfrm>
          <a:prstGeom prst="rect">
            <a:avLst/>
          </a:prstGeom>
          <a:noFill/>
        </p:spPr>
        <p:txBody>
          <a:bodyPr wrap="none">
            <a:spAutoFit/>
          </a:bodyPr>
          <a:lstStyle/>
          <a:p>
            <a:pPr>
              <a:defRPr sz="1100" b="1">
                <a:solidFill>
                  <a:srgbClr val="818CF8"/>
                </a:solidFill>
              </a:defRPr>
            </a:pPr>
            <a:r>
              <a:t>COGNITIVE ENGINEERING &amp; REAL-TIME STATE ENGINES</a:t>
            </a:r>
          </a:p>
        </p:txBody>
      </p:sp>
      <p:sp>
        <p:nvSpPr>
          <p:cNvPr id="6" name="TextBox 5"/>
          <p:cNvSpPr txBox="1"/>
          <p:nvPr/>
        </p:nvSpPr>
        <p:spPr>
          <a:xfrm>
            <a:off x="731520" y="594360"/>
            <a:ext cx="10515600" cy="548640"/>
          </a:xfrm>
          <a:prstGeom prst="rect">
            <a:avLst/>
          </a:prstGeom>
          <a:noFill/>
        </p:spPr>
        <p:txBody>
          <a:bodyPr wrap="none">
            <a:spAutoFit/>
          </a:bodyPr>
          <a:lstStyle/>
          <a:p>
            <a:pPr>
              <a:defRPr sz="2400" b="1">
                <a:solidFill>
                  <a:srgbClr val="F8FAFC"/>
                </a:solidFill>
              </a:defRPr>
            </a:pPr>
            <a:r>
              <a:t>Visual-First Mastery: Seeing the Invisible</a:t>
            </a:r>
          </a:p>
        </p:txBody>
      </p:sp>
      <p:sp>
        <p:nvSpPr>
          <p:cNvPr id="7" name="TextBox 6"/>
          <p:cNvSpPr txBox="1"/>
          <p:nvPr/>
        </p:nvSpPr>
        <p:spPr>
          <a:xfrm>
            <a:off x="731520" y="1143000"/>
            <a:ext cx="10515600" cy="365760"/>
          </a:xfrm>
          <a:prstGeom prst="rect">
            <a:avLst/>
          </a:prstGeom>
          <a:noFill/>
        </p:spPr>
        <p:txBody>
          <a:bodyPr wrap="none">
            <a:spAutoFit/>
          </a:bodyPr>
          <a:lstStyle/>
          <a:p>
            <a:pPr>
              <a:defRPr sz="1300">
                <a:solidFill>
                  <a:srgbClr val="94A3B8"/>
                </a:solidFill>
              </a:defRPr>
            </a:pPr>
            <a:r>
              <a:t>17 Specialized Interactive Visual Engines Bringing Code to Life</a:t>
            </a:r>
          </a:p>
        </p:txBody>
      </p:sp>
      <p:sp>
        <p:nvSpPr>
          <p:cNvPr id="8" name="Rounded Rectangle 7"/>
          <p:cNvSpPr/>
          <p:nvPr/>
        </p:nvSpPr>
        <p:spPr>
          <a:xfrm>
            <a:off x="731520" y="1645920"/>
            <a:ext cx="338328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0"/>
            <a:ext cx="3017520" cy="4023360"/>
          </a:xfrm>
          <a:prstGeom prst="rect">
            <a:avLst/>
          </a:prstGeom>
          <a:noFill/>
        </p:spPr>
        <p:txBody>
          <a:bodyPr wrap="square">
            <a:spAutoFit/>
          </a:bodyPr>
          <a:lstStyle/>
          <a:p>
            <a:pPr>
              <a:defRPr sz="1000" b="1">
                <a:solidFill>
                  <a:srgbClr val="38BDF8"/>
                </a:solidFill>
              </a:defRPr>
            </a:pPr>
            <a:r>
              <a:t>[SILICON RIGOR]</a:t>
            </a:r>
          </a:p>
          <a:p>
            <a:pPr>
              <a:defRPr sz="1700" b="1">
                <a:solidFill>
                  <a:srgbClr val="F8FAFC"/>
                </a:solidFill>
              </a:defRPr>
            </a:pPr>
            <a:r>
              <a:t>Hardware &amp; Low-Level</a:t>
            </a:r>
          </a:p>
          <a:p>
            <a:pPr>
              <a:spcAft>
                <a:spcPts val="800"/>
              </a:spcAft>
              <a:defRPr sz="1100">
                <a:solidFill>
                  <a:srgbClr val="38BDF8"/>
                </a:solidFill>
              </a:defRPr>
            </a:pPr>
            <a:r>
              <a:t>Silicon &amp; Networking State Machines</a:t>
            </a:r>
          </a:p>
          <a:p>
            <a:pPr>
              <a:spcAft>
                <a:spcPts val="500"/>
              </a:spcAft>
              <a:defRPr sz="1200">
                <a:solidFill>
                  <a:srgbClr val="94A3B8"/>
                </a:solidFill>
              </a:defRPr>
            </a:pPr>
            <a:r>
              <a:t>• RegisterBits Engine: Flip bits 0-7 live, view hex/dec registers, memory-mapped I/O masks &amp; prescalers.</a:t>
            </a:r>
          </a:p>
          <a:p>
            <a:pPr>
              <a:spcAft>
                <a:spcPts val="500"/>
              </a:spcAft>
              <a:defRPr sz="1200">
                <a:solidFill>
                  <a:srgbClr val="94A3B8"/>
                </a:solidFill>
              </a:defRPr>
            </a:pPr>
            <a:r>
              <a:t>• Flow &amp; Pipeline Engine: Visualizes FIFO order matching, packet serialization &amp; DMA ring buffers.</a:t>
            </a:r>
          </a:p>
          <a:p>
            <a:pPr>
              <a:spcAft>
                <a:spcPts val="500"/>
              </a:spcAft>
              <a:defRPr sz="1200">
                <a:solidFill>
                  <a:srgbClr val="94A3B8"/>
                </a:solidFill>
              </a:defRPr>
            </a:pPr>
            <a:r>
              <a:t>• StackQueue Engine: Call stack frames, heap allocations &amp; L1/L2 cache locality bounds.</a:t>
            </a:r>
          </a:p>
        </p:txBody>
      </p:sp>
      <p:sp>
        <p:nvSpPr>
          <p:cNvPr id="10" name="Rounded Rectangle 9"/>
          <p:cNvSpPr/>
          <p:nvPr/>
        </p:nvSpPr>
        <p:spPr>
          <a:xfrm>
            <a:off x="4389120" y="1645920"/>
            <a:ext cx="338328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828800"/>
            <a:ext cx="3017520" cy="4023360"/>
          </a:xfrm>
          <a:prstGeom prst="rect">
            <a:avLst/>
          </a:prstGeom>
          <a:noFill/>
        </p:spPr>
        <p:txBody>
          <a:bodyPr wrap="square">
            <a:spAutoFit/>
          </a:bodyPr>
          <a:lstStyle/>
          <a:p>
            <a:pPr>
              <a:defRPr sz="1000" b="1">
                <a:solidFill>
                  <a:srgbClr val="34D399"/>
                </a:solidFill>
              </a:defRPr>
            </a:pPr>
            <a:r>
              <a:t>[FINANCIAL RIGOR]</a:t>
            </a:r>
          </a:p>
          <a:p>
            <a:pPr>
              <a:defRPr sz="1700" b="1">
                <a:solidFill>
                  <a:srgbClr val="F8FAFC"/>
                </a:solidFill>
              </a:defRPr>
            </a:pPr>
            <a:r>
              <a:t>Commerce &amp; Enterprise</a:t>
            </a:r>
          </a:p>
          <a:p>
            <a:pPr>
              <a:spcAft>
                <a:spcPts val="800"/>
              </a:spcAft>
              <a:defRPr sz="1100">
                <a:solidFill>
                  <a:srgbClr val="38BDF8"/>
                </a:solidFill>
              </a:defRPr>
            </a:pPr>
            <a:r>
              <a:t>Double-Entry &amp; Conversion Funnels</a:t>
            </a:r>
          </a:p>
          <a:p>
            <a:pPr>
              <a:spcAft>
                <a:spcPts val="500"/>
              </a:spcAft>
              <a:defRPr sz="1200">
                <a:solidFill>
                  <a:srgbClr val="94A3B8"/>
                </a:solidFill>
              </a:defRPr>
            </a:pPr>
            <a:r>
              <a:t>• LedgerSheet Engine: Interactive trial balance; flashes unbalanced debits/credits until equilibrium is reached.</a:t>
            </a:r>
          </a:p>
          <a:p>
            <a:pPr>
              <a:spcAft>
                <a:spcPts val="500"/>
              </a:spcAft>
              <a:defRPr sz="1200">
                <a:solidFill>
                  <a:srgbClr val="94A3B8"/>
                </a:solidFill>
              </a:defRPr>
            </a:pPr>
            <a:r>
              <a:t>• Funnel Engine: B2B sales pipeline dropoffs, CAC:LTV conversion velocities &amp; churn waterfalls.</a:t>
            </a:r>
          </a:p>
          <a:p>
            <a:pPr>
              <a:spcAft>
                <a:spcPts val="500"/>
              </a:spcAft>
              <a:defRPr sz="1200">
                <a:solidFill>
                  <a:srgbClr val="94A3B8"/>
                </a:solidFill>
              </a:defRPr>
            </a:pPr>
            <a:r>
              <a:t>• Bars &amp; Analytics Engine: Dynamic financial modeling, DCF sensitivity bridges &amp; variance distributions.</a:t>
            </a:r>
          </a:p>
        </p:txBody>
      </p:sp>
      <p:sp>
        <p:nvSpPr>
          <p:cNvPr id="12" name="Rounded Rectangle 11"/>
          <p:cNvSpPr/>
          <p:nvPr/>
        </p:nvSpPr>
        <p:spPr>
          <a:xfrm>
            <a:off x="8046720" y="1645920"/>
            <a:ext cx="338328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828800"/>
            <a:ext cx="3017520" cy="4023360"/>
          </a:xfrm>
          <a:prstGeom prst="rect">
            <a:avLst/>
          </a:prstGeom>
          <a:noFill/>
        </p:spPr>
        <p:txBody>
          <a:bodyPr wrap="square">
            <a:spAutoFit/>
          </a:bodyPr>
          <a:lstStyle/>
          <a:p>
            <a:pPr>
              <a:defRPr sz="1000" b="1">
                <a:solidFill>
                  <a:srgbClr val="818CF8"/>
                </a:solidFill>
              </a:defRPr>
            </a:pPr>
            <a:r>
              <a:t>[SYSTEMS RIGOR]</a:t>
            </a:r>
          </a:p>
          <a:p>
            <a:pPr>
              <a:defRPr sz="1700" b="1">
                <a:solidFill>
                  <a:srgbClr val="F8FAFC"/>
                </a:solidFill>
              </a:defRPr>
            </a:pPr>
            <a:r>
              <a:t>Software &amp; Systems</a:t>
            </a:r>
          </a:p>
          <a:p>
            <a:pPr>
              <a:spcAft>
                <a:spcPts val="800"/>
              </a:spcAft>
              <a:defRPr sz="1100">
                <a:solidFill>
                  <a:srgbClr val="38BDF8"/>
                </a:solidFill>
              </a:defRPr>
            </a:pPr>
            <a:r>
              <a:t>Distributed Topologies &amp; State</a:t>
            </a:r>
          </a:p>
          <a:p>
            <a:pPr>
              <a:spcAft>
                <a:spcPts val="500"/>
              </a:spcAft>
              <a:defRPr sz="1200">
                <a:solidFill>
                  <a:srgbClr val="94A3B8"/>
                </a:solidFill>
              </a:defRPr>
            </a:pPr>
            <a:r>
              <a:t>• TreeGraph Engine: Binary heaps, B+ tree split/merge events &amp; decision routing trees.</a:t>
            </a:r>
          </a:p>
          <a:p>
            <a:pPr>
              <a:spcAft>
                <a:spcPts val="500"/>
              </a:spcAft>
              <a:defRPr sz="1200">
                <a:solidFill>
                  <a:srgbClr val="94A3B8"/>
                </a:solidFill>
              </a:defRPr>
            </a:pPr>
            <a:r>
              <a:t>• ComponentTree Engine: React Server Component Flight serialization &amp; DOM reconciliation.</a:t>
            </a:r>
          </a:p>
          <a:p>
            <a:pPr>
              <a:spcAft>
                <a:spcPts val="500"/>
              </a:spcAft>
              <a:defRPr sz="1200">
                <a:solidFill>
                  <a:srgbClr val="94A3B8"/>
                </a:solidFill>
              </a:defRPr>
            </a:pPr>
            <a:r>
              <a:t>• 990 On-Disk Specs: Generated Gate v2 JSON files locked with SHA-256 code hashes.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89920" y="320040"/>
            <a:ext cx="914400" cy="365760"/>
          </a:xfrm>
          <a:prstGeom prst="rect">
            <a:avLst/>
          </a:prstGeom>
          <a:noFill/>
        </p:spPr>
        <p:txBody>
          <a:bodyPr wrap="square">
            <a:spAutoFit/>
          </a:bodyPr>
          <a:lstStyle/>
          <a:p>
            <a:pPr algn="r">
              <a:defRPr sz="1300" b="1">
                <a:solidFill>
                  <a:srgbClr val="38BDF8"/>
                </a:solidFill>
              </a:defRPr>
            </a:pPr>
            <a:r>
              <a:t>04 / 10</a:t>
            </a:r>
          </a:p>
        </p:txBody>
      </p:sp>
      <p:sp>
        <p:nvSpPr>
          <p:cNvPr id="5" name="TextBox 4"/>
          <p:cNvSpPr txBox="1"/>
          <p:nvPr/>
        </p:nvSpPr>
        <p:spPr>
          <a:xfrm>
            <a:off x="731520" y="320040"/>
            <a:ext cx="7315200" cy="320040"/>
          </a:xfrm>
          <a:prstGeom prst="rect">
            <a:avLst/>
          </a:prstGeom>
          <a:noFill/>
        </p:spPr>
        <p:txBody>
          <a:bodyPr wrap="none">
            <a:spAutoFit/>
          </a:bodyPr>
          <a:lstStyle/>
          <a:p>
            <a:pPr>
              <a:defRPr sz="1100" b="1">
                <a:solidFill>
                  <a:srgbClr val="818CF8"/>
                </a:solidFill>
              </a:defRPr>
            </a:pPr>
            <a:r>
              <a:t>COURSE VERTICAL 1: SOFTWARE ARCHITECTURE</a:t>
            </a:r>
          </a:p>
        </p:txBody>
      </p:sp>
      <p:sp>
        <p:nvSpPr>
          <p:cNvPr id="6" name="TextBox 5"/>
          <p:cNvSpPr txBox="1"/>
          <p:nvPr/>
        </p:nvSpPr>
        <p:spPr>
          <a:xfrm>
            <a:off x="731520" y="594360"/>
            <a:ext cx="10515600" cy="548640"/>
          </a:xfrm>
          <a:prstGeom prst="rect">
            <a:avLst/>
          </a:prstGeom>
          <a:noFill/>
        </p:spPr>
        <p:txBody>
          <a:bodyPr wrap="none">
            <a:spAutoFit/>
          </a:bodyPr>
          <a:lstStyle/>
          <a:p>
            <a:pPr>
              <a:defRPr sz="2400" b="1">
                <a:solidFill>
                  <a:srgbClr val="F8FAFC"/>
                </a:solidFill>
              </a:defRPr>
            </a:pPr>
            <a:r>
              <a:t>Core Software Engineering &amp; Web Foundations</a:t>
            </a:r>
          </a:p>
        </p:txBody>
      </p:sp>
      <p:sp>
        <p:nvSpPr>
          <p:cNvPr id="7" name="TextBox 6"/>
          <p:cNvSpPr txBox="1"/>
          <p:nvPr/>
        </p:nvSpPr>
        <p:spPr>
          <a:xfrm>
            <a:off x="731520" y="1143000"/>
            <a:ext cx="10515600" cy="365760"/>
          </a:xfrm>
          <a:prstGeom prst="rect">
            <a:avLst/>
          </a:prstGeom>
          <a:noFill/>
        </p:spPr>
        <p:txBody>
          <a:bodyPr wrap="none">
            <a:spAutoFit/>
          </a:bodyPr>
          <a:lstStyle/>
          <a:p>
            <a:pPr>
              <a:defRPr sz="1300">
                <a:solidFill>
                  <a:srgbClr val="94A3B8"/>
                </a:solidFill>
              </a:defRPr>
            </a:pPr>
            <a:r>
              <a:t>From Beginner Syntax to High-Scale Distributed Platforms (180 Days Live)</a:t>
            </a:r>
          </a:p>
        </p:txBody>
      </p:sp>
      <p:sp>
        <p:nvSpPr>
          <p:cNvPr id="8" name="Rounded Rectangle 7"/>
          <p:cNvSpPr/>
          <p:nvPr/>
        </p:nvSpPr>
        <p:spPr>
          <a:xfrm>
            <a:off x="731520" y="1645920"/>
            <a:ext cx="512064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0"/>
            <a:ext cx="4754880" cy="4023360"/>
          </a:xfrm>
          <a:prstGeom prst="rect">
            <a:avLst/>
          </a:prstGeom>
          <a:noFill/>
        </p:spPr>
        <p:txBody>
          <a:bodyPr wrap="square">
            <a:spAutoFit/>
          </a:bodyPr>
          <a:lstStyle/>
          <a:p>
            <a:pPr>
              <a:defRPr sz="1000" b="1">
                <a:solidFill>
                  <a:srgbClr val="34D399"/>
                </a:solidFill>
              </a:defRPr>
            </a:pPr>
            <a:r>
              <a:t>[100% VERIFIED]</a:t>
            </a:r>
          </a:p>
          <a:p>
            <a:pPr>
              <a:defRPr sz="1700" b="1">
                <a:solidFill>
                  <a:srgbClr val="F8FAFC"/>
                </a:solidFill>
              </a:defRPr>
            </a:pPr>
            <a:r>
              <a:t>Curriculum Tracks Built (100% Live)</a:t>
            </a:r>
          </a:p>
          <a:p>
            <a:pPr>
              <a:spcAft>
                <a:spcPts val="800"/>
              </a:spcAft>
              <a:defRPr sz="1100">
                <a:solidFill>
                  <a:srgbClr val="38BDF8"/>
                </a:solidFill>
              </a:defRPr>
            </a:pPr>
            <a:r>
              <a:t>6 Master Courses Complete to Day 30</a:t>
            </a:r>
          </a:p>
          <a:p>
            <a:pPr>
              <a:spcAft>
                <a:spcPts val="500"/>
              </a:spcAft>
              <a:defRPr sz="1200">
                <a:solidFill>
                  <a:srgbClr val="94A3B8"/>
                </a:solidFill>
              </a:defRPr>
            </a:pPr>
            <a:r>
              <a:t>• Python Backend Architecture (python): AsyncIO event loops, FastAPI dependency injection, memory profiling &amp; generators.</a:t>
            </a:r>
          </a:p>
          <a:p>
            <a:pPr>
              <a:spcAft>
                <a:spcPts val="500"/>
              </a:spcAft>
              <a:defRPr sz="1200">
                <a:solidFill>
                  <a:srgbClr val="94A3B8"/>
                </a:solidFill>
              </a:defRPr>
            </a:pPr>
            <a:r>
              <a:t>• Modern JavaScript Mastery (javascript): Event loop microtasks, V8 hidden classes, closures &amp; prototype chains.</a:t>
            </a:r>
          </a:p>
          <a:p>
            <a:pPr>
              <a:spcAft>
                <a:spcPts val="500"/>
              </a:spcAft>
              <a:defRPr sz="1200">
                <a:solidFill>
                  <a:srgbClr val="94A3B8"/>
                </a:solidFill>
              </a:defRPr>
            </a:pPr>
            <a:r>
              <a:t>• Fullstack Next.js App Router (fullstack): Server Components (RSC), Flight serialization, Server Actions &amp; edge caching.</a:t>
            </a:r>
          </a:p>
          <a:p>
            <a:pPr>
              <a:spcAft>
                <a:spcPts val="500"/>
              </a:spcAft>
              <a:defRPr sz="1200">
                <a:solidFill>
                  <a:srgbClr val="94A3B8"/>
                </a:solidFill>
              </a:defRPr>
            </a:pPr>
            <a:r>
              <a:t>• Database Systems &amp; Internals (database): B+ Tree indexing, Write-Ahead Logs (WAL), MVCC &amp; query execution plans.</a:t>
            </a:r>
          </a:p>
          <a:p>
            <a:pPr>
              <a:spcAft>
                <a:spcPts val="500"/>
              </a:spcAft>
              <a:defRPr sz="1200">
                <a:solidFill>
                  <a:srgbClr val="94A3B8"/>
                </a:solidFill>
              </a:defRPr>
            </a:pPr>
            <a:r>
              <a:t>• Distributed Systems (distributed): Raft consensus, two-phase commits, CAP theorem &amp; vector clocks.</a:t>
            </a:r>
          </a:p>
          <a:p>
            <a:pPr>
              <a:spcAft>
                <a:spcPts val="500"/>
              </a:spcAft>
              <a:defRPr sz="1200">
                <a:solidFill>
                  <a:srgbClr val="94A3B8"/>
                </a:solidFill>
              </a:defRPr>
            </a:pPr>
            <a:r>
              <a:t>• Cloud &amp; DevOps Engineering (cloud/devops): Kubernetes pod lifecycles, Docker multi-stage builds, Terraform &amp; CI/CD.</a:t>
            </a:r>
          </a:p>
        </p:txBody>
      </p:sp>
      <p:sp>
        <p:nvSpPr>
          <p:cNvPr id="10" name="Rounded Rectangle 9"/>
          <p:cNvSpPr/>
          <p:nvPr/>
        </p:nvSpPr>
        <p:spPr>
          <a:xfrm>
            <a:off x="6217920" y="1645920"/>
            <a:ext cx="512064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28800"/>
            <a:ext cx="4754880" cy="4023360"/>
          </a:xfrm>
          <a:prstGeom prst="rect">
            <a:avLst/>
          </a:prstGeom>
          <a:noFill/>
        </p:spPr>
        <p:txBody>
          <a:bodyPr wrap="square">
            <a:spAutoFit/>
          </a:bodyPr>
          <a:lstStyle/>
          <a:p>
            <a:pPr>
              <a:defRPr sz="1000" b="1">
                <a:solidFill>
                  <a:srgbClr val="FBBF24"/>
                </a:solidFill>
              </a:defRPr>
            </a:pPr>
            <a:r>
              <a:t>[CAREER OUTCOMES]</a:t>
            </a:r>
          </a:p>
          <a:p>
            <a:pPr>
              <a:defRPr sz="1700" b="1">
                <a:solidFill>
                  <a:srgbClr val="F8FAFC"/>
                </a:solidFill>
              </a:defRPr>
            </a:pPr>
            <a:r>
              <a:t>Why &amp; Where It Leads</a:t>
            </a:r>
          </a:p>
          <a:p>
            <a:pPr>
              <a:spcAft>
                <a:spcPts val="800"/>
              </a:spcAft>
              <a:defRPr sz="1100">
                <a:solidFill>
                  <a:srgbClr val="38BDF8"/>
                </a:solidFill>
              </a:defRPr>
            </a:pPr>
            <a:r>
              <a:t>Production Architectural Hireability</a:t>
            </a:r>
          </a:p>
          <a:p>
            <a:pPr>
              <a:spcAft>
                <a:spcPts val="500"/>
              </a:spcAft>
              <a:defRPr sz="1200">
                <a:solidFill>
                  <a:srgbClr val="94A3B8"/>
                </a:solidFill>
              </a:defRPr>
            </a:pPr>
            <a:r>
              <a:t>• WHY: Tech giants reject candidates who only know basic CRUD. They hire engineers who understand system failure modes, concurrency, and latency.</a:t>
            </a:r>
          </a:p>
          <a:p>
            <a:pPr>
              <a:spcAft>
                <a:spcPts val="500"/>
              </a:spcAft>
              <a:defRPr sz="1200">
                <a:solidFill>
                  <a:srgbClr val="94A3B8"/>
                </a:solidFill>
              </a:defRPr>
            </a:pPr>
            <a:r>
              <a:t>• HOW: Students build production systems from scratch, verifying invariants against 100% automated test batteries.</a:t>
            </a:r>
          </a:p>
          <a:p>
            <a:pPr>
              <a:spcAft>
                <a:spcPts val="500"/>
              </a:spcAft>
              <a:defRPr sz="1200">
                <a:solidFill>
                  <a:srgbClr val="94A3B8"/>
                </a:solidFill>
              </a:defRPr>
            </a:pPr>
            <a:r>
              <a:t>• WHERE IT LEADS: Full-Stack Engineer, Backend Platform Architect, Site Reliability Engineer (SRE).</a:t>
            </a:r>
          </a:p>
          <a:p>
            <a:pPr>
              <a:spcAft>
                <a:spcPts val="500"/>
              </a:spcAft>
              <a:defRPr sz="1200">
                <a:solidFill>
                  <a:srgbClr val="94A3B8"/>
                </a:solidFill>
              </a:defRPr>
            </a:pPr>
            <a:r>
              <a:t>• Compensation Benchmark: Rs 12–25 LPA ($120k–$180k global).</a:t>
            </a:r>
          </a:p>
          <a:p>
            <a:pPr>
              <a:spcAft>
                <a:spcPts val="500"/>
              </a:spcAft>
              <a:defRPr sz="1200">
                <a:solidFill>
                  <a:srgbClr val="94A3B8"/>
                </a:solidFill>
              </a:defRPr>
            </a:pPr>
            <a:r>
              <a:t>• Capstone Built: Sovereign Multi-Region Job Queue &amp; Distributed Microservices Mesh on GitHub.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89920" y="320040"/>
            <a:ext cx="914400" cy="365760"/>
          </a:xfrm>
          <a:prstGeom prst="rect">
            <a:avLst/>
          </a:prstGeom>
          <a:noFill/>
        </p:spPr>
        <p:txBody>
          <a:bodyPr wrap="square">
            <a:spAutoFit/>
          </a:bodyPr>
          <a:lstStyle/>
          <a:p>
            <a:pPr algn="r">
              <a:defRPr sz="1300" b="1">
                <a:solidFill>
                  <a:srgbClr val="38BDF8"/>
                </a:solidFill>
              </a:defRPr>
            </a:pPr>
            <a:r>
              <a:t>05 / 10</a:t>
            </a:r>
          </a:p>
        </p:txBody>
      </p:sp>
      <p:sp>
        <p:nvSpPr>
          <p:cNvPr id="5" name="TextBox 4"/>
          <p:cNvSpPr txBox="1"/>
          <p:nvPr/>
        </p:nvSpPr>
        <p:spPr>
          <a:xfrm>
            <a:off x="731520" y="320040"/>
            <a:ext cx="7315200" cy="320040"/>
          </a:xfrm>
          <a:prstGeom prst="rect">
            <a:avLst/>
          </a:prstGeom>
          <a:noFill/>
        </p:spPr>
        <p:txBody>
          <a:bodyPr wrap="none">
            <a:spAutoFit/>
          </a:bodyPr>
          <a:lstStyle/>
          <a:p>
            <a:pPr>
              <a:defRPr sz="1100" b="1">
                <a:solidFill>
                  <a:srgbClr val="818CF8"/>
                </a:solidFill>
              </a:defRPr>
            </a:pPr>
            <a:r>
              <a:t>COURSE VERTICAL 2: DEEP COMPUTER SCIENCE</a:t>
            </a:r>
          </a:p>
        </p:txBody>
      </p:sp>
      <p:sp>
        <p:nvSpPr>
          <p:cNvPr id="6" name="TextBox 5"/>
          <p:cNvSpPr txBox="1"/>
          <p:nvPr/>
        </p:nvSpPr>
        <p:spPr>
          <a:xfrm>
            <a:off x="731520" y="594360"/>
            <a:ext cx="10515600" cy="548640"/>
          </a:xfrm>
          <a:prstGeom prst="rect">
            <a:avLst/>
          </a:prstGeom>
          <a:noFill/>
        </p:spPr>
        <p:txBody>
          <a:bodyPr wrap="none">
            <a:spAutoFit/>
          </a:bodyPr>
          <a:lstStyle/>
          <a:p>
            <a:pPr>
              <a:defRPr sz="2400" b="1">
                <a:solidFill>
                  <a:srgbClr val="F8FAFC"/>
                </a:solidFill>
              </a:defRPr>
            </a:pPr>
            <a:r>
              <a:t>Algorithms, Systems &amp; Low-Level Silicon</a:t>
            </a:r>
          </a:p>
        </p:txBody>
      </p:sp>
      <p:sp>
        <p:nvSpPr>
          <p:cNvPr id="7" name="TextBox 6"/>
          <p:cNvSpPr txBox="1"/>
          <p:nvPr/>
        </p:nvSpPr>
        <p:spPr>
          <a:xfrm>
            <a:off x="731520" y="1143000"/>
            <a:ext cx="10515600" cy="365760"/>
          </a:xfrm>
          <a:prstGeom prst="rect">
            <a:avLst/>
          </a:prstGeom>
          <a:noFill/>
        </p:spPr>
        <p:txBody>
          <a:bodyPr wrap="none">
            <a:spAutoFit/>
          </a:bodyPr>
          <a:lstStyle/>
          <a:p>
            <a:pPr>
              <a:defRPr sz="1300">
                <a:solidFill>
                  <a:srgbClr val="94A3B8"/>
                </a:solidFill>
              </a:defRPr>
            </a:pPr>
            <a:r>
              <a:t>Bridging the Gap Between Software Abstractions and Physical Hardware (180 Days Live)</a:t>
            </a:r>
          </a:p>
        </p:txBody>
      </p:sp>
      <p:sp>
        <p:nvSpPr>
          <p:cNvPr id="8" name="Rounded Rectangle 7"/>
          <p:cNvSpPr/>
          <p:nvPr/>
        </p:nvSpPr>
        <p:spPr>
          <a:xfrm>
            <a:off x="731520" y="1645920"/>
            <a:ext cx="512064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0"/>
            <a:ext cx="4754880" cy="4023360"/>
          </a:xfrm>
          <a:prstGeom prst="rect">
            <a:avLst/>
          </a:prstGeom>
          <a:noFill/>
        </p:spPr>
        <p:txBody>
          <a:bodyPr wrap="square">
            <a:spAutoFit/>
          </a:bodyPr>
          <a:lstStyle/>
          <a:p>
            <a:pPr>
              <a:defRPr sz="1000" b="1">
                <a:solidFill>
                  <a:srgbClr val="34D399"/>
                </a:solidFill>
              </a:defRPr>
            </a:pPr>
            <a:r>
              <a:t>[100% VERIFIED]</a:t>
            </a:r>
          </a:p>
          <a:p>
            <a:pPr>
              <a:defRPr sz="1700" b="1">
                <a:solidFill>
                  <a:srgbClr val="F8FAFC"/>
                </a:solidFill>
              </a:defRPr>
            </a:pPr>
            <a:r>
              <a:t>Deep Tech Tracks Built (100% Live)</a:t>
            </a:r>
          </a:p>
          <a:p>
            <a:pPr>
              <a:spcAft>
                <a:spcPts val="800"/>
              </a:spcAft>
              <a:defRPr sz="1100">
                <a:solidFill>
                  <a:srgbClr val="38BDF8"/>
                </a:solidFill>
              </a:defRPr>
            </a:pPr>
            <a:r>
              <a:t>6 Systems Master Courses Complete to Day 30</a:t>
            </a:r>
          </a:p>
          <a:p>
            <a:pPr>
              <a:spcAft>
                <a:spcPts val="500"/>
              </a:spcAft>
              <a:defRPr sz="1200">
                <a:solidFill>
                  <a:srgbClr val="94A3B8"/>
                </a:solidFill>
              </a:defRPr>
            </a:pPr>
            <a:r>
              <a:t>• Data Structures &amp; Algorithms (dsa): Amortized complexity, red-black trees, dynamic programming memoization grids.</a:t>
            </a:r>
          </a:p>
          <a:p>
            <a:pPr>
              <a:spcAft>
                <a:spcPts val="500"/>
              </a:spcAft>
              <a:defRPr sz="1200">
                <a:solidFill>
                  <a:srgbClr val="94A3B8"/>
                </a:solidFill>
              </a:defRPr>
            </a:pPr>
            <a:r>
              <a:t>• Java 21 LTS &amp; JVM Internals (java-basics): Bytecode compilation, tiered JIT C2, Project Loom Virtual Threads vs OS threads.</a:t>
            </a:r>
          </a:p>
          <a:p>
            <a:pPr>
              <a:spcAft>
                <a:spcPts val="500"/>
              </a:spcAft>
              <a:defRPr sz="1200">
                <a:solidFill>
                  <a:srgbClr val="94A3B8"/>
                </a:solidFill>
              </a:defRPr>
            </a:pPr>
            <a:r>
              <a:t>• 3D WebGL2 &amp; GPU Shaders (g3d): Programmable GPU pipelines, MVP matrix transforms, inverse kinematics (FABRIK) &amp; SDFs.</a:t>
            </a:r>
          </a:p>
          <a:p>
            <a:pPr>
              <a:spcAft>
                <a:spcPts val="500"/>
              </a:spcAft>
              <a:defRPr sz="1200">
                <a:solidFill>
                  <a:srgbClr val="94A3B8"/>
                </a:solidFill>
              </a:defRPr>
            </a:pPr>
            <a:r>
              <a:t>• Cybersecurity &amp; Zero-Trust (cybersecurity): Hardware root of trust, memory corruption bounds, AES-GCM AEAD encryption.</a:t>
            </a:r>
          </a:p>
          <a:p>
            <a:pPr>
              <a:spcAft>
                <a:spcPts val="500"/>
              </a:spcAft>
              <a:defRPr sz="1200">
                <a:solidFill>
                  <a:srgbClr val="94A3B8"/>
                </a:solidFill>
              </a:defRPr>
            </a:pPr>
            <a:r>
              <a:t>• EVM Blockchain Architecture (blockchain): Merkle Patricia tries, reentrancy guards, storage slot packing &amp; ERC-20 invariants.</a:t>
            </a:r>
          </a:p>
          <a:p>
            <a:pPr>
              <a:spcAft>
                <a:spcPts val="500"/>
              </a:spcAft>
              <a:defRPr sz="1200">
                <a:solidFill>
                  <a:srgbClr val="94A3B8"/>
                </a:solidFill>
              </a:defRPr>
            </a:pPr>
            <a:r>
              <a:t>• Mobile App Engineering (mobile): Virtualized list memory bounds, native UI threads &amp; offline SQLite synchronization.</a:t>
            </a:r>
          </a:p>
        </p:txBody>
      </p:sp>
      <p:sp>
        <p:nvSpPr>
          <p:cNvPr id="10" name="Rounded Rectangle 9"/>
          <p:cNvSpPr/>
          <p:nvPr/>
        </p:nvSpPr>
        <p:spPr>
          <a:xfrm>
            <a:off x="6217920" y="1645920"/>
            <a:ext cx="512064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28800"/>
            <a:ext cx="4754880" cy="4023360"/>
          </a:xfrm>
          <a:prstGeom prst="rect">
            <a:avLst/>
          </a:prstGeom>
          <a:noFill/>
        </p:spPr>
        <p:txBody>
          <a:bodyPr wrap="square">
            <a:spAutoFit/>
          </a:bodyPr>
          <a:lstStyle/>
          <a:p>
            <a:pPr>
              <a:defRPr sz="1000" b="1">
                <a:solidFill>
                  <a:srgbClr val="FBBF24"/>
                </a:solidFill>
              </a:defRPr>
            </a:pPr>
            <a:r>
              <a:t>[CAREER OUTCOMES]</a:t>
            </a:r>
          </a:p>
          <a:p>
            <a:pPr>
              <a:defRPr sz="1700" b="1">
                <a:solidFill>
                  <a:srgbClr val="F8FAFC"/>
                </a:solidFill>
              </a:defRPr>
            </a:pPr>
            <a:r>
              <a:t>Why &amp; Where It Leads</a:t>
            </a:r>
          </a:p>
          <a:p>
            <a:pPr>
              <a:spcAft>
                <a:spcPts val="800"/>
              </a:spcAft>
              <a:defRPr sz="1100">
                <a:solidFill>
                  <a:srgbClr val="38BDF8"/>
                </a:solidFill>
              </a:defRPr>
            </a:pPr>
            <a:r>
              <a:t>AI-Proof Systems Software Engineering</a:t>
            </a:r>
          </a:p>
          <a:p>
            <a:pPr>
              <a:spcAft>
                <a:spcPts val="500"/>
              </a:spcAft>
              <a:defRPr sz="1200">
                <a:solidFill>
                  <a:srgbClr val="94A3B8"/>
                </a:solidFill>
              </a:defRPr>
            </a:pPr>
            <a:r>
              <a:t>• WHY: AI can generate simple scripts, but understanding memory bounds, garbage collection pause times, and cryptographic integrity makes human engineers irreplaceable.</a:t>
            </a:r>
          </a:p>
          <a:p>
            <a:pPr>
              <a:spcAft>
                <a:spcPts val="500"/>
              </a:spcAft>
              <a:defRPr sz="1200">
                <a:solidFill>
                  <a:srgbClr val="94A3B8"/>
                </a:solidFill>
              </a:defRPr>
            </a:pPr>
            <a:r>
              <a:t>• HOW: Direct inspection of memory layout, L1/L2 cache lines, stack frames, and GPU rasterization pipelines.</a:t>
            </a:r>
          </a:p>
          <a:p>
            <a:pPr>
              <a:spcAft>
                <a:spcPts val="500"/>
              </a:spcAft>
              <a:defRPr sz="1200">
                <a:solidFill>
                  <a:srgbClr val="94A3B8"/>
                </a:solidFill>
              </a:defRPr>
            </a:pPr>
            <a:r>
              <a:t>• WHERE IT LEADS: Systems Software Engineer, Graphics/Gaming Dev, Smart Contract Auditor, Mobile Core Architect.</a:t>
            </a:r>
          </a:p>
          <a:p>
            <a:pPr>
              <a:spcAft>
                <a:spcPts val="500"/>
              </a:spcAft>
              <a:defRPr sz="1200">
                <a:solidFill>
                  <a:srgbClr val="94A3B8"/>
                </a:solidFill>
              </a:defRPr>
            </a:pPr>
            <a:r>
              <a:t>• Compensation Benchmark: Rs 15–30 LPA ($130k–$200k global).</a:t>
            </a:r>
          </a:p>
          <a:p>
            <a:pPr>
              <a:spcAft>
                <a:spcPts val="500"/>
              </a:spcAft>
              <a:defRPr sz="1200">
                <a:solidFill>
                  <a:srgbClr val="94A3B8"/>
                </a:solidFill>
              </a:defRPr>
            </a:pPr>
            <a:r>
              <a:t>• Capstone Built: Sovereign EVM Token Bridge &amp; 3D Skeletal Animation Avatar Engine.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89920" y="320040"/>
            <a:ext cx="914400" cy="365760"/>
          </a:xfrm>
          <a:prstGeom prst="rect">
            <a:avLst/>
          </a:prstGeom>
          <a:noFill/>
        </p:spPr>
        <p:txBody>
          <a:bodyPr wrap="square">
            <a:spAutoFit/>
          </a:bodyPr>
          <a:lstStyle/>
          <a:p>
            <a:pPr algn="r">
              <a:defRPr sz="1300" b="1">
                <a:solidFill>
                  <a:srgbClr val="38BDF8"/>
                </a:solidFill>
              </a:defRPr>
            </a:pPr>
            <a:r>
              <a:t>06 / 10</a:t>
            </a:r>
          </a:p>
        </p:txBody>
      </p:sp>
      <p:sp>
        <p:nvSpPr>
          <p:cNvPr id="5" name="TextBox 4"/>
          <p:cNvSpPr txBox="1"/>
          <p:nvPr/>
        </p:nvSpPr>
        <p:spPr>
          <a:xfrm>
            <a:off x="731520" y="320040"/>
            <a:ext cx="7315200" cy="320040"/>
          </a:xfrm>
          <a:prstGeom prst="rect">
            <a:avLst/>
          </a:prstGeom>
          <a:noFill/>
        </p:spPr>
        <p:txBody>
          <a:bodyPr wrap="none">
            <a:spAutoFit/>
          </a:bodyPr>
          <a:lstStyle/>
          <a:p>
            <a:pPr>
              <a:defRPr sz="1100" b="1">
                <a:solidFill>
                  <a:srgbClr val="818CF8"/>
                </a:solidFill>
              </a:defRPr>
            </a:pPr>
            <a:r>
              <a:t>COURSE VERTICAL 3: THE CROWN JEWEL</a:t>
            </a:r>
          </a:p>
        </p:txBody>
      </p:sp>
      <p:sp>
        <p:nvSpPr>
          <p:cNvPr id="6" name="TextBox 5"/>
          <p:cNvSpPr txBox="1"/>
          <p:nvPr/>
        </p:nvSpPr>
        <p:spPr>
          <a:xfrm>
            <a:off x="731520" y="594360"/>
            <a:ext cx="10515600" cy="548640"/>
          </a:xfrm>
          <a:prstGeom prst="rect">
            <a:avLst/>
          </a:prstGeom>
          <a:noFill/>
        </p:spPr>
        <p:txBody>
          <a:bodyPr wrap="none">
            <a:spAutoFit/>
          </a:bodyPr>
          <a:lstStyle/>
          <a:p>
            <a:pPr>
              <a:defRPr sz="2400" b="1">
                <a:solidFill>
                  <a:srgbClr val="F8FAFC"/>
                </a:solidFill>
              </a:defRPr>
            </a:pPr>
            <a:r>
              <a:t>Quantitative &amp; Ultra-Low-Latency Systems</a:t>
            </a:r>
          </a:p>
        </p:txBody>
      </p:sp>
      <p:sp>
        <p:nvSpPr>
          <p:cNvPr id="7" name="TextBox 6"/>
          <p:cNvSpPr txBox="1"/>
          <p:nvPr/>
        </p:nvSpPr>
        <p:spPr>
          <a:xfrm>
            <a:off x="731520" y="1143000"/>
            <a:ext cx="10515600" cy="365760"/>
          </a:xfrm>
          <a:prstGeom prst="rect">
            <a:avLst/>
          </a:prstGeom>
          <a:noFill/>
        </p:spPr>
        <p:txBody>
          <a:bodyPr wrap="none">
            <a:spAutoFit/>
          </a:bodyPr>
          <a:lstStyle/>
          <a:p>
            <a:pPr>
              <a:defRPr sz="1300">
                <a:solidFill>
                  <a:srgbClr val="94A3B8"/>
                </a:solidFill>
              </a:defRPr>
            </a:pPr>
            <a:r>
              <a:t>Sub-Microsecond High-Frequency Trading &amp; Market Making Engine (30 Days Live)</a:t>
            </a:r>
          </a:p>
        </p:txBody>
      </p:sp>
      <p:sp>
        <p:nvSpPr>
          <p:cNvPr id="8" name="Rounded Rectangle 7"/>
          <p:cNvSpPr/>
          <p:nvPr/>
        </p:nvSpPr>
        <p:spPr>
          <a:xfrm>
            <a:off x="731520" y="1645920"/>
            <a:ext cx="512064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0"/>
            <a:ext cx="4754880" cy="4023360"/>
          </a:xfrm>
          <a:prstGeom prst="rect">
            <a:avLst/>
          </a:prstGeom>
          <a:noFill/>
        </p:spPr>
        <p:txBody>
          <a:bodyPr wrap="square">
            <a:spAutoFit/>
          </a:bodyPr>
          <a:lstStyle/>
          <a:p>
            <a:pPr>
              <a:defRPr sz="1000" b="1">
                <a:solidFill>
                  <a:srgbClr val="FBBF24"/>
                </a:solidFill>
              </a:defRPr>
            </a:pPr>
            <a:r>
              <a:t>[THE CROWN JEWEL]</a:t>
            </a:r>
          </a:p>
          <a:p>
            <a:pPr>
              <a:defRPr sz="1700" b="1">
                <a:solidFill>
                  <a:srgbClr val="F8FAFC"/>
                </a:solidFill>
              </a:defRPr>
            </a:pPr>
            <a:r>
              <a:t>High-Frequency Trading Architecture</a:t>
            </a:r>
          </a:p>
          <a:p>
            <a:pPr>
              <a:spcAft>
                <a:spcPts val="800"/>
              </a:spcAft>
              <a:defRPr sz="1100">
                <a:solidFill>
                  <a:srgbClr val="38BDF8"/>
                </a:solidFill>
              </a:defRPr>
            </a:pPr>
            <a:r>
              <a:t>Completed 30-Day Engineering Curriculum</a:t>
            </a:r>
          </a:p>
          <a:p>
            <a:pPr>
              <a:spcAft>
                <a:spcPts val="500"/>
              </a:spcAft>
              <a:defRPr sz="1200">
                <a:solidFill>
                  <a:srgbClr val="94A3B8"/>
                </a:solidFill>
              </a:defRPr>
            </a:pPr>
            <a:r>
              <a:t>• Sub-Microsecond Price Ladder: O(1) Limit Order Book (LOB) matching with intrusive queues and price-time priority.</a:t>
            </a:r>
          </a:p>
          <a:p>
            <a:pPr>
              <a:spcAft>
                <a:spcPts val="500"/>
              </a:spcAft>
              <a:defRPr sz="1200">
                <a:solidFill>
                  <a:srgbClr val="94A3B8"/>
                </a:solidFill>
              </a:defRPr>
            </a:pPr>
            <a:r>
              <a:t>• Kernel Bypass &amp; Lock-Free Buffers: SPSC circular ring buffers with cache-line alignment (64 bytes) avoiding false sharing.</a:t>
            </a:r>
          </a:p>
          <a:p>
            <a:pPr>
              <a:spcAft>
                <a:spcPts val="500"/>
              </a:spcAft>
              <a:defRPr sz="1200">
                <a:solidFill>
                  <a:srgbClr val="94A3B8"/>
                </a:solidFill>
              </a:defRPr>
            </a:pPr>
            <a:r>
              <a:t>• Binary Market Feeds: Zero-copy deserialization of NASDAQ ITCH and OUCH binary protocols over MoldUDP64.</a:t>
            </a:r>
          </a:p>
          <a:p>
            <a:pPr>
              <a:spcAft>
                <a:spcPts val="500"/>
              </a:spcAft>
              <a:defRPr sz="1200">
                <a:solidFill>
                  <a:srgbClr val="94A3B8"/>
                </a:solidFill>
              </a:defRPr>
            </a:pPr>
            <a:r>
              <a:t>• Pre-Trade SEC 15c3-5 Risk Filters: Sub-millisecond capital clipping limits, price collar bands &amp; atomic kill switches.</a:t>
            </a:r>
          </a:p>
          <a:p>
            <a:pPr>
              <a:spcAft>
                <a:spcPts val="500"/>
              </a:spcAft>
              <a:defRPr sz="1200">
                <a:solidFill>
                  <a:srgbClr val="94A3B8"/>
                </a:solidFill>
              </a:defRPr>
            </a:pPr>
            <a:r>
              <a:t>• Quantitative Alpha Signals: Order Flow Imbalance (OFI), VPIN toxicity, Hawkes processes &amp; Kalman filter pairs trading.</a:t>
            </a:r>
          </a:p>
          <a:p>
            <a:pPr>
              <a:spcAft>
                <a:spcPts val="500"/>
              </a:spcAft>
              <a:defRPr sz="1200">
                <a:solidFill>
                  <a:srgbClr val="94A3B8"/>
                </a:solidFill>
              </a:defRPr>
            </a:pPr>
            <a:r>
              <a:t>• Derivatives Pricing: Black-Scholes-Merton PDE, options Greeks (Delta, Gamma, Vega), and Newton-Raphson implied volatility.</a:t>
            </a:r>
          </a:p>
        </p:txBody>
      </p:sp>
      <p:sp>
        <p:nvSpPr>
          <p:cNvPr id="10" name="Rounded Rectangle 9"/>
          <p:cNvSpPr/>
          <p:nvPr/>
        </p:nvSpPr>
        <p:spPr>
          <a:xfrm>
            <a:off x="6217920" y="1645920"/>
            <a:ext cx="512064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28800"/>
            <a:ext cx="4754880" cy="4023360"/>
          </a:xfrm>
          <a:prstGeom prst="rect">
            <a:avLst/>
          </a:prstGeom>
          <a:noFill/>
        </p:spPr>
        <p:txBody>
          <a:bodyPr wrap="square">
            <a:spAutoFit/>
          </a:bodyPr>
          <a:lstStyle/>
          <a:p>
            <a:pPr>
              <a:defRPr sz="1000" b="1">
                <a:solidFill>
                  <a:srgbClr val="38BDF8"/>
                </a:solidFill>
              </a:defRPr>
            </a:pPr>
            <a:r>
              <a:t>[ELITE PLACEMENT]</a:t>
            </a:r>
          </a:p>
          <a:p>
            <a:pPr>
              <a:defRPr sz="1700" b="1">
                <a:solidFill>
                  <a:srgbClr val="F8FAFC"/>
                </a:solidFill>
              </a:defRPr>
            </a:pPr>
            <a:r>
              <a:t>Why &amp; Where It Leads</a:t>
            </a:r>
          </a:p>
          <a:p>
            <a:pPr>
              <a:spcAft>
                <a:spcPts val="800"/>
              </a:spcAft>
              <a:defRPr sz="1100">
                <a:solidFill>
                  <a:srgbClr val="38BDF8"/>
                </a:solidFill>
              </a:defRPr>
            </a:pPr>
            <a:r>
              <a:t>The Pinnacle of Software Engineering Compensation</a:t>
            </a:r>
          </a:p>
          <a:p>
            <a:pPr>
              <a:spcAft>
                <a:spcPts val="500"/>
              </a:spcAft>
              <a:defRPr sz="1200">
                <a:solidFill>
                  <a:srgbClr val="94A3B8"/>
                </a:solidFill>
              </a:defRPr>
            </a:pPr>
            <a:r>
              <a:t>• WHY: High-Frequency Trading firms and prop shops hire only the top 0.1% who understand hardware memory semantics and tick-to-trade nanoseconds. Universities teach zero HFT.</a:t>
            </a:r>
          </a:p>
          <a:p>
            <a:pPr>
              <a:spcAft>
                <a:spcPts val="500"/>
              </a:spcAft>
              <a:defRPr sz="1200">
                <a:solidFill>
                  <a:srgbClr val="94A3B8"/>
                </a:solidFill>
              </a:defRPr>
            </a:pPr>
            <a:r>
              <a:t>• HOW: Students write low-latency C++ with deterministic CPU core pinning and zero-allocation critical paths.</a:t>
            </a:r>
          </a:p>
          <a:p>
            <a:pPr>
              <a:spcAft>
                <a:spcPts val="500"/>
              </a:spcAft>
              <a:defRPr sz="1200">
                <a:solidFill>
                  <a:srgbClr val="94A3B8"/>
                </a:solidFill>
              </a:defRPr>
            </a:pPr>
            <a:r>
              <a:t>• WHERE IT LEADS: Quantitative Trader, HFT Systems Engineer, Low-Latency C++ Architect.</a:t>
            </a:r>
          </a:p>
          <a:p>
            <a:pPr>
              <a:spcAft>
                <a:spcPts val="500"/>
              </a:spcAft>
              <a:defRPr sz="1200">
                <a:solidFill>
                  <a:srgbClr val="94A3B8"/>
                </a:solidFill>
              </a:defRPr>
            </a:pPr>
            <a:r>
              <a:t>• Compensation Benchmark: Rs 40–80 LPA ($200k–$400k+ global prop shops).</a:t>
            </a:r>
          </a:p>
          <a:p>
            <a:pPr>
              <a:spcAft>
                <a:spcPts val="500"/>
              </a:spcAft>
              <a:defRPr sz="1200">
                <a:solidFill>
                  <a:srgbClr val="94A3B8"/>
                </a:solidFill>
              </a:defRPr>
            </a:pPr>
            <a:r>
              <a:t>• Capstone Built: Sovereign Multi-Venue Market Making &amp; Matching Engine (41.8ns tick-to-trade, Sharpe 4.85).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89920" y="320040"/>
            <a:ext cx="914400" cy="365760"/>
          </a:xfrm>
          <a:prstGeom prst="rect">
            <a:avLst/>
          </a:prstGeom>
          <a:noFill/>
        </p:spPr>
        <p:txBody>
          <a:bodyPr wrap="square">
            <a:spAutoFit/>
          </a:bodyPr>
          <a:lstStyle/>
          <a:p>
            <a:pPr algn="r">
              <a:defRPr sz="1300" b="1">
                <a:solidFill>
                  <a:srgbClr val="38BDF8"/>
                </a:solidFill>
              </a:defRPr>
            </a:pPr>
            <a:r>
              <a:t>07 / 10</a:t>
            </a:r>
          </a:p>
        </p:txBody>
      </p:sp>
      <p:sp>
        <p:nvSpPr>
          <p:cNvPr id="5" name="TextBox 4"/>
          <p:cNvSpPr txBox="1"/>
          <p:nvPr/>
        </p:nvSpPr>
        <p:spPr>
          <a:xfrm>
            <a:off x="731520" y="320040"/>
            <a:ext cx="7315200" cy="320040"/>
          </a:xfrm>
          <a:prstGeom prst="rect">
            <a:avLst/>
          </a:prstGeom>
          <a:noFill/>
        </p:spPr>
        <p:txBody>
          <a:bodyPr wrap="none">
            <a:spAutoFit/>
          </a:bodyPr>
          <a:lstStyle/>
          <a:p>
            <a:pPr>
              <a:defRPr sz="1100" b="1">
                <a:solidFill>
                  <a:srgbClr val="818CF8"/>
                </a:solidFill>
              </a:defRPr>
            </a:pPr>
            <a:r>
              <a:t>COURSE VERTICAL 4: GENERATIVE &amp; COGNITIVE AI</a:t>
            </a:r>
          </a:p>
        </p:txBody>
      </p:sp>
      <p:sp>
        <p:nvSpPr>
          <p:cNvPr id="6" name="TextBox 5"/>
          <p:cNvSpPr txBox="1"/>
          <p:nvPr/>
        </p:nvSpPr>
        <p:spPr>
          <a:xfrm>
            <a:off x="731520" y="594360"/>
            <a:ext cx="10515600" cy="548640"/>
          </a:xfrm>
          <a:prstGeom prst="rect">
            <a:avLst/>
          </a:prstGeom>
          <a:noFill/>
        </p:spPr>
        <p:txBody>
          <a:bodyPr wrap="none">
            <a:spAutoFit/>
          </a:bodyPr>
          <a:lstStyle/>
          <a:p>
            <a:pPr>
              <a:defRPr sz="2400" b="1">
                <a:solidFill>
                  <a:srgbClr val="F8FAFC"/>
                </a:solidFill>
              </a:defRPr>
            </a:pPr>
            <a:r>
              <a:t>Artificial Intelligence, ML &amp; Prompt Systems</a:t>
            </a:r>
          </a:p>
        </p:txBody>
      </p:sp>
      <p:sp>
        <p:nvSpPr>
          <p:cNvPr id="7" name="TextBox 6"/>
          <p:cNvSpPr txBox="1"/>
          <p:nvPr/>
        </p:nvSpPr>
        <p:spPr>
          <a:xfrm>
            <a:off x="731520" y="1143000"/>
            <a:ext cx="10515600" cy="365760"/>
          </a:xfrm>
          <a:prstGeom prst="rect">
            <a:avLst/>
          </a:prstGeom>
          <a:noFill/>
        </p:spPr>
        <p:txBody>
          <a:bodyPr wrap="none">
            <a:spAutoFit/>
          </a:bodyPr>
          <a:lstStyle/>
          <a:p>
            <a:pPr>
              <a:defRPr sz="1300">
                <a:solidFill>
                  <a:srgbClr val="94A3B8"/>
                </a:solidFill>
              </a:defRPr>
            </a:pPr>
            <a:r>
              <a:t>From Model Foundations to Enterprise Vector RAG &amp; Transformer Architecture</a:t>
            </a:r>
          </a:p>
        </p:txBody>
      </p:sp>
      <p:sp>
        <p:nvSpPr>
          <p:cNvPr id="8" name="Rounded Rectangle 7"/>
          <p:cNvSpPr/>
          <p:nvPr/>
        </p:nvSpPr>
        <p:spPr>
          <a:xfrm>
            <a:off x="731520" y="1645920"/>
            <a:ext cx="512064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0"/>
            <a:ext cx="4754880" cy="4023360"/>
          </a:xfrm>
          <a:prstGeom prst="rect">
            <a:avLst/>
          </a:prstGeom>
          <a:noFill/>
        </p:spPr>
        <p:txBody>
          <a:bodyPr wrap="square">
            <a:spAutoFit/>
          </a:bodyPr>
          <a:lstStyle/>
          <a:p>
            <a:pPr>
              <a:defRPr sz="1000" b="1">
                <a:solidFill>
                  <a:srgbClr val="34D399"/>
                </a:solidFill>
              </a:defRPr>
            </a:pPr>
            <a:r>
              <a:t>[60 DAYS COMPLETE]</a:t>
            </a:r>
          </a:p>
          <a:p>
            <a:pPr>
              <a:defRPr sz="1700" b="1">
                <a:solidFill>
                  <a:srgbClr val="F8FAFC"/>
                </a:solidFill>
              </a:defRPr>
            </a:pPr>
            <a:r>
              <a:t>Built &amp; Live Today (60 Days)</a:t>
            </a:r>
          </a:p>
          <a:p>
            <a:pPr>
              <a:spcAft>
                <a:spcPts val="800"/>
              </a:spcAft>
              <a:defRPr sz="1100">
                <a:solidFill>
                  <a:srgbClr val="38BDF8"/>
                </a:solidFill>
              </a:defRPr>
            </a:pPr>
            <a:r>
              <a:t>Applied AI &amp; Everyday AI Literacy</a:t>
            </a:r>
          </a:p>
          <a:p>
            <a:pPr>
              <a:spcAft>
                <a:spcPts val="500"/>
              </a:spcAft>
              <a:defRPr sz="1200">
                <a:solidFill>
                  <a:srgbClr val="94A3B8"/>
                </a:solidFill>
              </a:defRPr>
            </a:pPr>
            <a:r>
              <a:t>• Applied AI Foundations (ai - 30 Days Live): Linear algebra, gradient descent, neural network backprop, CNNs &amp; PyTorch.</a:t>
            </a:r>
          </a:p>
          <a:p>
            <a:pPr>
              <a:spcAft>
                <a:spcPts val="500"/>
              </a:spcAft>
              <a:defRPr sz="1200">
                <a:solidFill>
                  <a:srgbClr val="94A3B8"/>
                </a:solidFill>
              </a:defRPr>
            </a:pPr>
            <a:r>
              <a:t>• Everyday AI Literacy (ai_prompt - 30 Days Live): Chain-of-Thought prompting, dynamic few-shot framing, multi-turn system design.</a:t>
            </a:r>
          </a:p>
          <a:p>
            <a:pPr>
              <a:spcAft>
                <a:spcPts val="500"/>
              </a:spcAft>
              <a:defRPr sz="1200">
                <a:solidFill>
                  <a:srgbClr val="94A3B8"/>
                </a:solidFill>
              </a:defRPr>
            </a:pPr>
            <a:r>
              <a:t>• Vector Embeddings: Dense semantic search, cosine distance, vector databases (pgvector/Pinecone) &amp; index clustering.</a:t>
            </a:r>
          </a:p>
          <a:p>
            <a:pPr>
              <a:spcAft>
                <a:spcPts val="500"/>
              </a:spcAft>
              <a:defRPr sz="1200">
                <a:solidFill>
                  <a:srgbClr val="94A3B8"/>
                </a:solidFill>
              </a:defRPr>
            </a:pPr>
            <a:r>
              <a:t>• Enterprise RAG Guardrails: Citation verification, hallucination circuit breakers &amp; toxicity defense filters.</a:t>
            </a:r>
          </a:p>
        </p:txBody>
      </p:sp>
      <p:sp>
        <p:nvSpPr>
          <p:cNvPr id="10" name="Rounded Rectangle 9"/>
          <p:cNvSpPr/>
          <p:nvPr/>
        </p:nvSpPr>
        <p:spPr>
          <a:xfrm>
            <a:off x="6217920" y="1645920"/>
            <a:ext cx="512064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28800"/>
            <a:ext cx="4754880" cy="4023360"/>
          </a:xfrm>
          <a:prstGeom prst="rect">
            <a:avLst/>
          </a:prstGeom>
          <a:noFill/>
        </p:spPr>
        <p:txBody>
          <a:bodyPr wrap="square">
            <a:spAutoFit/>
          </a:bodyPr>
          <a:lstStyle/>
          <a:p>
            <a:pPr>
              <a:defRPr sz="1000" b="1">
                <a:solidFill>
                  <a:srgbClr val="818CF8"/>
                </a:solidFill>
              </a:defRPr>
            </a:pPr>
            <a:r>
              <a:t>[EXPANSION HORIZON]</a:t>
            </a:r>
          </a:p>
          <a:p>
            <a:pPr>
              <a:defRPr sz="1700" b="1">
                <a:solidFill>
                  <a:srgbClr val="F8FAFC"/>
                </a:solidFill>
              </a:defRPr>
            </a:pPr>
            <a:r>
              <a:t>What We Are Building (Pipeline)</a:t>
            </a:r>
          </a:p>
          <a:p>
            <a:pPr>
              <a:spcAft>
                <a:spcPts val="800"/>
              </a:spcAft>
              <a:defRPr sz="1100">
                <a:solidFill>
                  <a:srgbClr val="38BDF8"/>
                </a:solidFill>
              </a:defRPr>
            </a:pPr>
            <a:r>
              <a:t>60-Day Masterclass: NLP &amp; Foundation Models</a:t>
            </a:r>
          </a:p>
          <a:p>
            <a:pPr>
              <a:spcAft>
                <a:spcPts val="500"/>
              </a:spcAft>
              <a:defRPr sz="1200">
                <a:solidFill>
                  <a:srgbClr val="94A3B8"/>
                </a:solidFill>
              </a:defRPr>
            </a:pPr>
            <a:r>
              <a:t>• Transformer Internals: Scaled dot-product self-attention, rotary positional embeddings (RoPE), FlashAttention &amp; KV-caches.</a:t>
            </a:r>
          </a:p>
          <a:p>
            <a:pPr>
              <a:spcAft>
                <a:spcPts val="500"/>
              </a:spcAft>
              <a:defRPr sz="1200">
                <a:solidFill>
                  <a:srgbClr val="94A3B8"/>
                </a:solidFill>
              </a:defRPr>
            </a:pPr>
            <a:r>
              <a:t>• Tokenization &amp; Preprocessing: Byte-Pair Encoding (BPE), SentencePiece &amp; Unicode normalization pipelines.</a:t>
            </a:r>
          </a:p>
          <a:p>
            <a:pPr>
              <a:spcAft>
                <a:spcPts val="500"/>
              </a:spcAft>
              <a:defRPr sz="1200">
                <a:solidFill>
                  <a:srgbClr val="94A3B8"/>
                </a:solidFill>
              </a:defRPr>
            </a:pPr>
            <a:r>
              <a:t>• Parameter-Efficient Fine-Tuning: LoRA, QLoRA, adapter weights merging &amp; 4-bit/8-bit quantization.</a:t>
            </a:r>
          </a:p>
          <a:p>
            <a:pPr>
              <a:spcAft>
                <a:spcPts val="500"/>
              </a:spcAft>
              <a:defRPr sz="1200">
                <a:solidFill>
                  <a:srgbClr val="94A3B8"/>
                </a:solidFill>
              </a:defRPr>
            </a:pPr>
            <a:r>
              <a:t>• Enterprise AI Transformation (bcom_ait): RPA bots vs cognitive agents, process mining &amp; model risk management.</a:t>
            </a:r>
          </a:p>
          <a:p>
            <a:pPr>
              <a:spcAft>
                <a:spcPts val="500"/>
              </a:spcAft>
              <a:defRPr sz="1200">
                <a:solidFill>
                  <a:srgbClr val="94A3B8"/>
                </a:solidFill>
              </a:defRPr>
            </a:pPr>
            <a:r>
              <a:t>• WHERE IT LEADS: AI/ML Engineer, LLMOps Specialist, AI Strategy Consultant (Rs 15–35 LPA / $130k–$210k).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89920" y="320040"/>
            <a:ext cx="914400" cy="365760"/>
          </a:xfrm>
          <a:prstGeom prst="rect">
            <a:avLst/>
          </a:prstGeom>
          <a:noFill/>
        </p:spPr>
        <p:txBody>
          <a:bodyPr wrap="square">
            <a:spAutoFit/>
          </a:bodyPr>
          <a:lstStyle/>
          <a:p>
            <a:pPr algn="r">
              <a:defRPr sz="1300" b="1">
                <a:solidFill>
                  <a:srgbClr val="38BDF8"/>
                </a:solidFill>
              </a:defRPr>
            </a:pPr>
            <a:r>
              <a:t>08 / 10</a:t>
            </a:r>
          </a:p>
        </p:txBody>
      </p:sp>
      <p:sp>
        <p:nvSpPr>
          <p:cNvPr id="5" name="TextBox 4"/>
          <p:cNvSpPr txBox="1"/>
          <p:nvPr/>
        </p:nvSpPr>
        <p:spPr>
          <a:xfrm>
            <a:off x="731520" y="320040"/>
            <a:ext cx="7315200" cy="320040"/>
          </a:xfrm>
          <a:prstGeom prst="rect">
            <a:avLst/>
          </a:prstGeom>
          <a:noFill/>
        </p:spPr>
        <p:txBody>
          <a:bodyPr wrap="none">
            <a:spAutoFit/>
          </a:bodyPr>
          <a:lstStyle/>
          <a:p>
            <a:pPr>
              <a:defRPr sz="1100" b="1">
                <a:solidFill>
                  <a:srgbClr val="818CF8"/>
                </a:solidFill>
              </a:defRPr>
            </a:pPr>
            <a:r>
              <a:t>COURSE VERTICAL 5: COMMERCE &amp; MANAGEMENT</a:t>
            </a:r>
          </a:p>
        </p:txBody>
      </p:sp>
      <p:sp>
        <p:nvSpPr>
          <p:cNvPr id="6" name="TextBox 5"/>
          <p:cNvSpPr txBox="1"/>
          <p:nvPr/>
        </p:nvSpPr>
        <p:spPr>
          <a:xfrm>
            <a:off x="731520" y="594360"/>
            <a:ext cx="10515600" cy="548640"/>
          </a:xfrm>
          <a:prstGeom prst="rect">
            <a:avLst/>
          </a:prstGeom>
          <a:noFill/>
        </p:spPr>
        <p:txBody>
          <a:bodyPr wrap="none">
            <a:spAutoFit/>
          </a:bodyPr>
          <a:lstStyle/>
          <a:p>
            <a:pPr>
              <a:defRPr sz="2400" b="1">
                <a:solidFill>
                  <a:srgbClr val="F8FAFC"/>
                </a:solidFill>
              </a:defRPr>
            </a:pPr>
            <a:r>
              <a:t>Commerce, Financial Modeling &amp; Modern Management</a:t>
            </a:r>
          </a:p>
        </p:txBody>
      </p:sp>
      <p:sp>
        <p:nvSpPr>
          <p:cNvPr id="7" name="TextBox 6"/>
          <p:cNvSpPr txBox="1"/>
          <p:nvPr/>
        </p:nvSpPr>
        <p:spPr>
          <a:xfrm>
            <a:off x="731520" y="1143000"/>
            <a:ext cx="10515600" cy="365760"/>
          </a:xfrm>
          <a:prstGeom prst="rect">
            <a:avLst/>
          </a:prstGeom>
          <a:noFill/>
        </p:spPr>
        <p:txBody>
          <a:bodyPr wrap="none">
            <a:spAutoFit/>
          </a:bodyPr>
          <a:lstStyle/>
          <a:p>
            <a:pPr>
              <a:defRPr sz="1300">
                <a:solidFill>
                  <a:srgbClr val="94A3B8"/>
                </a:solidFill>
              </a:defRPr>
            </a:pPr>
            <a:r>
              <a:t>14 University Tracks Across Banking, Corporate Finance, Accounting &amp; Growth</a:t>
            </a:r>
          </a:p>
        </p:txBody>
      </p:sp>
      <p:sp>
        <p:nvSpPr>
          <p:cNvPr id="8" name="Rounded Rectangle 7"/>
          <p:cNvSpPr/>
          <p:nvPr/>
        </p:nvSpPr>
        <p:spPr>
          <a:xfrm>
            <a:off x="731520" y="1645920"/>
            <a:ext cx="512064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0"/>
            <a:ext cx="4754880" cy="4023360"/>
          </a:xfrm>
          <a:prstGeom prst="rect">
            <a:avLst/>
          </a:prstGeom>
          <a:noFill/>
        </p:spPr>
        <p:txBody>
          <a:bodyPr wrap="square">
            <a:spAutoFit/>
          </a:bodyPr>
          <a:lstStyle/>
          <a:p>
            <a:pPr>
              <a:defRPr sz="1000" b="1">
                <a:solidFill>
                  <a:srgbClr val="34D399"/>
                </a:solidFill>
              </a:defRPr>
            </a:pPr>
            <a:r>
              <a:t>[70 DAYS LIVE • 350 EXPANDING]</a:t>
            </a:r>
          </a:p>
          <a:p>
            <a:pPr>
              <a:defRPr sz="1700" b="1">
                <a:solidFill>
                  <a:srgbClr val="F8FAFC"/>
                </a:solidFill>
              </a:defRPr>
            </a:pPr>
            <a:r>
              <a:t>The 14 Management Tracks</a:t>
            </a:r>
          </a:p>
          <a:p>
            <a:pPr>
              <a:spcAft>
                <a:spcPts val="800"/>
              </a:spcAft>
              <a:defRPr sz="1100">
                <a:solidFill>
                  <a:srgbClr val="38BDF8"/>
                </a:solidFill>
              </a:defRPr>
            </a:pPr>
            <a:r>
              <a:t>Days 1–5 Live; Days 6–30 Expanding (Branch B)</a:t>
            </a:r>
          </a:p>
          <a:p>
            <a:pPr>
              <a:spcAft>
                <a:spcPts val="500"/>
              </a:spcAft>
              <a:defRPr sz="1200">
                <a:solidFill>
                  <a:srgbClr val="94A3B8"/>
                </a:solidFill>
              </a:defRPr>
            </a:pPr>
            <a:r>
              <a:t>• Corporate Finance (bcom_finance): Discounted Cash Flow (DCF), WACC, DuPont ROE decomposition &amp; LBO modeling.</a:t>
            </a:r>
          </a:p>
          <a:p>
            <a:pPr>
              <a:spcAft>
                <a:spcPts val="500"/>
              </a:spcAft>
              <a:defRPr sz="1200">
                <a:solidFill>
                  <a:srgbClr val="94A3B8"/>
                </a:solidFill>
              </a:defRPr>
            </a:pPr>
            <a:r>
              <a:t>• Commercial Banking (bcom_ban): Fractional reserves, Modified Duration Gap ALM, Basel III RWA &amp; Expected Credit Loss.</a:t>
            </a:r>
          </a:p>
          <a:p>
            <a:pPr>
              <a:spcAft>
                <a:spcPts val="500"/>
              </a:spcAft>
              <a:defRPr sz="1200">
                <a:solidFill>
                  <a:srgbClr val="94A3B8"/>
                </a:solidFill>
              </a:defRPr>
            </a:pPr>
            <a:r>
              <a:t>• Digital Accounting (bcom_accounting): ASC 606 revenue recognition, double-entry trial balance &amp; integrated 3-statement models.</a:t>
            </a:r>
          </a:p>
          <a:p>
            <a:pPr>
              <a:spcAft>
                <a:spcPts val="500"/>
              </a:spcAft>
              <a:defRPr sz="1200">
                <a:solidFill>
                  <a:srgbClr val="94A3B8"/>
                </a:solidFill>
              </a:defRPr>
            </a:pPr>
            <a:r>
              <a:t>• Corporate Taxation (bcom_tax): ASC 740 DTA/DTL, Section 163(j) debt limits &amp; OECD Pillar 2 transfer pricing.</a:t>
            </a:r>
          </a:p>
          <a:p>
            <a:pPr>
              <a:spcAft>
                <a:spcPts val="500"/>
              </a:spcAft>
              <a:defRPr sz="1200">
                <a:solidFill>
                  <a:srgbClr val="94A3B8"/>
                </a:solidFill>
              </a:defRPr>
            </a:pPr>
            <a:r>
              <a:t>• Forensic Auditing (bcom_aud): Audit Risk Model, Benford's Law fraud forensics, Monetary Unit Sampling &amp; SOX 404.</a:t>
            </a:r>
          </a:p>
          <a:p>
            <a:pPr>
              <a:spcAft>
                <a:spcPts val="500"/>
              </a:spcAft>
              <a:defRPr sz="1200">
                <a:solidFill>
                  <a:srgbClr val="94A3B8"/>
                </a:solidFill>
              </a:defRPr>
            </a:pPr>
            <a:r>
              <a:t>• E-Commerce &amp; Digital Marketing (bcom_ecom/dmkt): Marketplace take rates, CAC:LTV, multi-touch attribution &amp; PageRank.</a:t>
            </a:r>
          </a:p>
          <a:p>
            <a:pPr>
              <a:spcAft>
                <a:spcPts val="500"/>
              </a:spcAft>
              <a:defRPr sz="1200">
                <a:solidFill>
                  <a:srgbClr val="94A3B8"/>
                </a:solidFill>
              </a:defRPr>
            </a:pPr>
            <a:r>
              <a:t>• Operations &amp; CRM (bcom_ops/scrm): Little's Law WIP lead times, EOQ inventory, Six Sigma Cpk &amp; MEDDPICC sales pipelines.</a:t>
            </a:r>
          </a:p>
        </p:txBody>
      </p:sp>
      <p:sp>
        <p:nvSpPr>
          <p:cNvPr id="10" name="Rounded Rectangle 9"/>
          <p:cNvSpPr/>
          <p:nvPr/>
        </p:nvSpPr>
        <p:spPr>
          <a:xfrm>
            <a:off x="6217920" y="1645920"/>
            <a:ext cx="512064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28800"/>
            <a:ext cx="4754880" cy="4023360"/>
          </a:xfrm>
          <a:prstGeom prst="rect">
            <a:avLst/>
          </a:prstGeom>
          <a:noFill/>
        </p:spPr>
        <p:txBody>
          <a:bodyPr wrap="square">
            <a:spAutoFit/>
          </a:bodyPr>
          <a:lstStyle/>
          <a:p>
            <a:pPr>
              <a:defRPr sz="1000" b="1">
                <a:solidFill>
                  <a:srgbClr val="FBBF24"/>
                </a:solidFill>
              </a:defRPr>
            </a:pPr>
            <a:r>
              <a:t>[CAREER OUTCOMES]</a:t>
            </a:r>
          </a:p>
          <a:p>
            <a:pPr>
              <a:defRPr sz="1700" b="1">
                <a:solidFill>
                  <a:srgbClr val="F8FAFC"/>
                </a:solidFill>
              </a:defRPr>
            </a:pPr>
            <a:r>
              <a:t>Why &amp; Where It Leads</a:t>
            </a:r>
          </a:p>
          <a:p>
            <a:pPr>
              <a:spcAft>
                <a:spcPts val="800"/>
              </a:spcAft>
              <a:defRPr sz="1100">
                <a:solidFill>
                  <a:srgbClr val="38BDF8"/>
                </a:solidFill>
              </a:defRPr>
            </a:pPr>
            <a:r>
              <a:t>Computational Business &amp; Financial Engineering</a:t>
            </a:r>
          </a:p>
          <a:p>
            <a:pPr>
              <a:spcAft>
                <a:spcPts val="500"/>
              </a:spcAft>
              <a:defRPr sz="1200">
                <a:solidFill>
                  <a:srgbClr val="94A3B8"/>
                </a:solidFill>
              </a:defRPr>
            </a:pPr>
            <a:r>
              <a:t>• WHY: Business graduates routinely fail basic Excel and financial modeling tests during interviews. PinIT transforms business students into computational finance analysts.</a:t>
            </a:r>
          </a:p>
          <a:p>
            <a:pPr>
              <a:spcAft>
                <a:spcPts val="500"/>
              </a:spcAft>
              <a:defRPr sz="1200">
                <a:solidFill>
                  <a:srgbClr val="94A3B8"/>
                </a:solidFill>
              </a:defRPr>
            </a:pPr>
            <a:r>
              <a:t>• HOW: Marrying business theory with live computational engines—dynamic ledgers, Monte Carlo capital budgeting, and SQL financial analytics.</a:t>
            </a:r>
          </a:p>
          <a:p>
            <a:pPr>
              <a:spcAft>
                <a:spcPts val="500"/>
              </a:spcAft>
              <a:defRPr sz="1200">
                <a:solidFill>
                  <a:srgbClr val="94A3B8"/>
                </a:solidFill>
              </a:defRPr>
            </a:pPr>
            <a:r>
              <a:t>• WHERE IT LEADS: Investment Banking Analyst, Private Equity Associate, Corporate Controller, Forensic Auditor.</a:t>
            </a:r>
          </a:p>
          <a:p>
            <a:pPr>
              <a:spcAft>
                <a:spcPts val="500"/>
              </a:spcAft>
              <a:defRPr sz="1200">
                <a:solidFill>
                  <a:srgbClr val="94A3B8"/>
                </a:solidFill>
              </a:defRPr>
            </a:pPr>
            <a:r>
              <a:t>• Compensation Benchmark: Rs 10–22 LPA ($85k–$160k global).</a:t>
            </a:r>
          </a:p>
          <a:p>
            <a:pPr>
              <a:spcAft>
                <a:spcPts val="500"/>
              </a:spcAft>
              <a:defRPr sz="1200">
                <a:solidFill>
                  <a:srgbClr val="94A3B8"/>
                </a:solidFill>
              </a:defRPr>
            </a:pPr>
            <a:r>
              <a:t>• Capstones: Institutional Debt Capital Structure Model &amp; Enterprise Forensic Fraud Audit Engine.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89920" y="320040"/>
            <a:ext cx="914400" cy="365760"/>
          </a:xfrm>
          <a:prstGeom prst="rect">
            <a:avLst/>
          </a:prstGeom>
          <a:noFill/>
        </p:spPr>
        <p:txBody>
          <a:bodyPr wrap="square">
            <a:spAutoFit/>
          </a:bodyPr>
          <a:lstStyle/>
          <a:p>
            <a:pPr algn="r">
              <a:defRPr sz="1300" b="1">
                <a:solidFill>
                  <a:srgbClr val="38BDF8"/>
                </a:solidFill>
              </a:defRPr>
            </a:pPr>
            <a:r>
              <a:t>09 / 10</a:t>
            </a:r>
          </a:p>
        </p:txBody>
      </p:sp>
      <p:sp>
        <p:nvSpPr>
          <p:cNvPr id="5" name="TextBox 4"/>
          <p:cNvSpPr txBox="1"/>
          <p:nvPr/>
        </p:nvSpPr>
        <p:spPr>
          <a:xfrm>
            <a:off x="731520" y="320040"/>
            <a:ext cx="7315200" cy="320040"/>
          </a:xfrm>
          <a:prstGeom prst="rect">
            <a:avLst/>
          </a:prstGeom>
          <a:noFill/>
        </p:spPr>
        <p:txBody>
          <a:bodyPr wrap="none">
            <a:spAutoFit/>
          </a:bodyPr>
          <a:lstStyle/>
          <a:p>
            <a:pPr>
              <a:defRPr sz="1100" b="1">
                <a:solidFill>
                  <a:srgbClr val="818CF8"/>
                </a:solidFill>
              </a:defRPr>
            </a:pPr>
            <a:r>
              <a:t>COURSE VERTICAL 6: SILICON HARDWARE &amp; LAUNCHPADS</a:t>
            </a:r>
          </a:p>
        </p:txBody>
      </p:sp>
      <p:sp>
        <p:nvSpPr>
          <p:cNvPr id="6" name="TextBox 5"/>
          <p:cNvSpPr txBox="1"/>
          <p:nvPr/>
        </p:nvSpPr>
        <p:spPr>
          <a:xfrm>
            <a:off x="731520" y="594360"/>
            <a:ext cx="10515600" cy="548640"/>
          </a:xfrm>
          <a:prstGeom prst="rect">
            <a:avLst/>
          </a:prstGeom>
          <a:noFill/>
        </p:spPr>
        <p:txBody>
          <a:bodyPr wrap="none">
            <a:spAutoFit/>
          </a:bodyPr>
          <a:lstStyle/>
          <a:p>
            <a:pPr>
              <a:defRPr sz="2400" b="1">
                <a:solidFill>
                  <a:srgbClr val="F8FAFC"/>
                </a:solidFill>
              </a:defRPr>
            </a:pPr>
            <a:r>
              <a:t>IoT, Hardware Security &amp; Universal Launchpads</a:t>
            </a:r>
          </a:p>
        </p:txBody>
      </p:sp>
      <p:sp>
        <p:nvSpPr>
          <p:cNvPr id="7" name="TextBox 6"/>
          <p:cNvSpPr txBox="1"/>
          <p:nvPr/>
        </p:nvSpPr>
        <p:spPr>
          <a:xfrm>
            <a:off x="731520" y="1143000"/>
            <a:ext cx="10515600" cy="365760"/>
          </a:xfrm>
          <a:prstGeom prst="rect">
            <a:avLst/>
          </a:prstGeom>
          <a:noFill/>
        </p:spPr>
        <p:txBody>
          <a:bodyPr wrap="none">
            <a:spAutoFit/>
          </a:bodyPr>
          <a:lstStyle/>
          <a:p>
            <a:pPr>
              <a:defRPr sz="1300">
                <a:solidFill>
                  <a:srgbClr val="94A3B8"/>
                </a:solidFill>
              </a:defRPr>
            </a:pPr>
            <a:r>
              <a:t>From Universal Freshman Onboarding to Bare-Metal Microcontroller Engineering</a:t>
            </a:r>
          </a:p>
        </p:txBody>
      </p:sp>
      <p:sp>
        <p:nvSpPr>
          <p:cNvPr id="8" name="Rounded Rectangle 7"/>
          <p:cNvSpPr/>
          <p:nvPr/>
        </p:nvSpPr>
        <p:spPr>
          <a:xfrm>
            <a:off x="731520" y="1645920"/>
            <a:ext cx="512064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0"/>
            <a:ext cx="4754880" cy="4023360"/>
          </a:xfrm>
          <a:prstGeom prst="rect">
            <a:avLst/>
          </a:prstGeom>
          <a:noFill/>
        </p:spPr>
        <p:txBody>
          <a:bodyPr wrap="square">
            <a:spAutoFit/>
          </a:bodyPr>
          <a:lstStyle/>
          <a:p>
            <a:pPr>
              <a:defRPr sz="1000" b="1">
                <a:solidFill>
                  <a:srgbClr val="38BDF8"/>
                </a:solidFill>
              </a:defRPr>
            </a:pPr>
            <a:r>
              <a:t>[UNIVERSAL ENTRY POINT]</a:t>
            </a:r>
          </a:p>
          <a:p>
            <a:pPr>
              <a:defRPr sz="1700" b="1">
                <a:solidFill>
                  <a:srgbClr val="F8FAFC"/>
                </a:solidFill>
              </a:defRPr>
            </a:pPr>
            <a:r>
              <a:t>Freshman Launchpads (Branch A)</a:t>
            </a:r>
          </a:p>
          <a:p>
            <a:pPr>
              <a:spcAft>
                <a:spcPts val="800"/>
              </a:spcAft>
              <a:defRPr sz="1100">
                <a:solidFill>
                  <a:srgbClr val="38BDF8"/>
                </a:solidFill>
              </a:defRPr>
            </a:pPr>
            <a:r>
              <a:t>Universal Career Foundations for All Students</a:t>
            </a:r>
          </a:p>
          <a:p>
            <a:pPr>
              <a:spcAft>
                <a:spcPts val="500"/>
              </a:spcAft>
              <a:defRPr sz="1200">
                <a:solidFill>
                  <a:srgbClr val="94A3B8"/>
                </a:solidFill>
              </a:defRPr>
            </a:pPr>
            <a:r>
              <a:t>• Excel &amp; Data Analysis (excel_viz): Days 1-10 complete! Power Query M, Star Schema, dynamic DAX time intelligence &amp; OLS regression.</a:t>
            </a:r>
          </a:p>
          <a:p>
            <a:pPr>
              <a:spcAft>
                <a:spcPts val="500"/>
              </a:spcAft>
              <a:defRPr sz="1200">
                <a:solidFill>
                  <a:srgbClr val="94A3B8"/>
                </a:solidFill>
              </a:defRPr>
            </a:pPr>
            <a:r>
              <a:t>• Computer OS Fundamentals (comp_fund): Linux POSIX file trees, I/O streams, piping (grep/sort/uniq) &amp; process management.</a:t>
            </a:r>
          </a:p>
          <a:p>
            <a:pPr>
              <a:spcAft>
                <a:spcPts val="500"/>
              </a:spcAft>
              <a:defRPr sz="1200">
                <a:solidFill>
                  <a:srgbClr val="94A3B8"/>
                </a:solidFill>
              </a:defRPr>
            </a:pPr>
            <a:r>
              <a:t>• Git &amp; Team Version Control (git_vcs): Distributed VCS, the 3 Git states, DAG commit graphs, merge conflict resolution.</a:t>
            </a:r>
          </a:p>
          <a:p>
            <a:pPr>
              <a:spcAft>
                <a:spcPts val="500"/>
              </a:spcAft>
              <a:defRPr sz="1200">
                <a:solidFill>
                  <a:srgbClr val="94A3B8"/>
                </a:solidFill>
              </a:defRPr>
            </a:pPr>
            <a:r>
              <a:t>• Tech Soft Skills (soft_skills): Socratic STAR behavioral interviews, executive bottom-line communication &amp; BATNA negotiation.</a:t>
            </a:r>
          </a:p>
        </p:txBody>
      </p:sp>
      <p:sp>
        <p:nvSpPr>
          <p:cNvPr id="10" name="Rounded Rectangle 9"/>
          <p:cNvSpPr/>
          <p:nvPr/>
        </p:nvSpPr>
        <p:spPr>
          <a:xfrm>
            <a:off x="6217920" y="1645920"/>
            <a:ext cx="512064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28800"/>
            <a:ext cx="4754880" cy="4023360"/>
          </a:xfrm>
          <a:prstGeom prst="rect">
            <a:avLst/>
          </a:prstGeom>
          <a:noFill/>
        </p:spPr>
        <p:txBody>
          <a:bodyPr wrap="square">
            <a:spAutoFit/>
          </a:bodyPr>
          <a:lstStyle/>
          <a:p>
            <a:pPr>
              <a:defRPr sz="1000" b="1">
                <a:solidFill>
                  <a:srgbClr val="34D399"/>
                </a:solidFill>
              </a:defRPr>
            </a:pPr>
            <a:r>
              <a:t>[SILICON HORIZON]</a:t>
            </a:r>
          </a:p>
          <a:p>
            <a:pPr>
              <a:defRPr sz="1700" b="1">
                <a:solidFill>
                  <a:srgbClr val="F8FAFC"/>
                </a:solidFill>
              </a:defRPr>
            </a:pPr>
            <a:r>
              <a:t>IoT &amp; Embedded Silicon (Branch B)</a:t>
            </a:r>
          </a:p>
          <a:p>
            <a:pPr>
              <a:spcAft>
                <a:spcPts val="800"/>
              </a:spcAft>
              <a:defRPr sz="1100">
                <a:solidFill>
                  <a:srgbClr val="38BDF8"/>
                </a:solidFill>
              </a:defRPr>
            </a:pPr>
            <a:r>
              <a:t>Bare-Metal Firmware &amp; Hardware Security</a:t>
            </a:r>
          </a:p>
          <a:p>
            <a:pPr>
              <a:spcAft>
                <a:spcPts val="500"/>
              </a:spcAft>
              <a:defRPr sz="1200">
                <a:solidFill>
                  <a:srgbClr val="94A3B8"/>
                </a:solidFill>
              </a:defRPr>
            </a:pPr>
            <a:r>
              <a:t>• Bare-Metal MCU (iot_emb): Volatile pointers, bitwise register manipulation, NVIC interrupts &amp; circular DMA buffers in C++.</a:t>
            </a:r>
          </a:p>
          <a:p>
            <a:pPr>
              <a:spcAft>
                <a:spcPts val="500"/>
              </a:spcAft>
              <a:defRPr sz="1200">
                <a:solidFill>
                  <a:srgbClr val="94A3B8"/>
                </a:solidFill>
              </a:defRPr>
            </a:pPr>
            <a:r>
              <a:t>• Edge AI &amp; TinyML (iot_edge): Post-training INT8 quantization, CMSIS-NN ARM SIMD micro-kernels &amp; TFLM static tensor arenas.</a:t>
            </a:r>
          </a:p>
          <a:p>
            <a:pPr>
              <a:spcAft>
                <a:spcPts val="500"/>
              </a:spcAft>
              <a:defRPr sz="1200">
                <a:solidFill>
                  <a:srgbClr val="94A3B8"/>
                </a:solidFill>
              </a:defRPr>
            </a:pPr>
            <a:r>
              <a:t>• Hardware Root of Trust (iot_sec): OTP eFuses, secure boot chains, ARM TrustZone memory partitioning &amp; anti-rollback.</a:t>
            </a:r>
          </a:p>
          <a:p>
            <a:pPr>
              <a:spcAft>
                <a:spcPts val="500"/>
              </a:spcAft>
              <a:defRPr sz="1200">
                <a:solidFill>
                  <a:srgbClr val="94A3B8"/>
                </a:solidFill>
              </a:defRPr>
            </a:pPr>
            <a:r>
              <a:t>• IoT Radio Protocols (iot_net): Friis link budgets, IEEE 802.15.4 MAC frames, 6LoWPAN compression &amp; CoAP/MQTT-SN.</a:t>
            </a:r>
          </a:p>
          <a:p>
            <a:pPr>
              <a:spcAft>
                <a:spcPts val="500"/>
              </a:spcAft>
              <a:defRPr sz="1200">
                <a:solidFill>
                  <a:srgbClr val="94A3B8"/>
                </a:solidFill>
              </a:defRPr>
            </a:pPr>
            <a:r>
              <a:t>• WHERE IT LEADS: Embedded Firmware Engineer, TinyML Edge AI Dev, Hardware Security Researcher (Rs 12–28 LPA).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89920" y="320040"/>
            <a:ext cx="914400" cy="365760"/>
          </a:xfrm>
          <a:prstGeom prst="rect">
            <a:avLst/>
          </a:prstGeom>
          <a:noFill/>
        </p:spPr>
        <p:txBody>
          <a:bodyPr wrap="square">
            <a:spAutoFit/>
          </a:bodyPr>
          <a:lstStyle/>
          <a:p>
            <a:pPr algn="r">
              <a:defRPr sz="1300" b="1">
                <a:solidFill>
                  <a:srgbClr val="38BDF8"/>
                </a:solidFill>
              </a:defRPr>
            </a:pPr>
            <a:r>
              <a:t>10 / 10</a:t>
            </a:r>
          </a:p>
        </p:txBody>
      </p:sp>
      <p:sp>
        <p:nvSpPr>
          <p:cNvPr id="5" name="TextBox 4"/>
          <p:cNvSpPr txBox="1"/>
          <p:nvPr/>
        </p:nvSpPr>
        <p:spPr>
          <a:xfrm>
            <a:off x="731520" y="320040"/>
            <a:ext cx="7315200" cy="320040"/>
          </a:xfrm>
          <a:prstGeom prst="rect">
            <a:avLst/>
          </a:prstGeom>
          <a:noFill/>
        </p:spPr>
        <p:txBody>
          <a:bodyPr wrap="none">
            <a:spAutoFit/>
          </a:bodyPr>
          <a:lstStyle/>
          <a:p>
            <a:pPr>
              <a:defRPr sz="1100" b="1">
                <a:solidFill>
                  <a:srgbClr val="818CF8"/>
                </a:solidFill>
              </a:defRPr>
            </a:pPr>
            <a:r>
              <a:t>THE ROAD AHEAD &amp; CAMPUS DEPLOYMENT</a:t>
            </a:r>
          </a:p>
        </p:txBody>
      </p:sp>
      <p:sp>
        <p:nvSpPr>
          <p:cNvPr id="6" name="TextBox 5"/>
          <p:cNvSpPr txBox="1"/>
          <p:nvPr/>
        </p:nvSpPr>
        <p:spPr>
          <a:xfrm>
            <a:off x="731520" y="594360"/>
            <a:ext cx="10515600" cy="548640"/>
          </a:xfrm>
          <a:prstGeom prst="rect">
            <a:avLst/>
          </a:prstGeom>
          <a:noFill/>
        </p:spPr>
        <p:txBody>
          <a:bodyPr wrap="none">
            <a:spAutoFit/>
          </a:bodyPr>
          <a:lstStyle/>
          <a:p>
            <a:pPr>
              <a:defRPr sz="2400" b="1">
                <a:solidFill>
                  <a:srgbClr val="F8FAFC"/>
                </a:solidFill>
              </a:defRPr>
            </a:pPr>
            <a:r>
              <a:t>The Horizon: Scaled Architecture &amp; Campus Roadmap</a:t>
            </a:r>
          </a:p>
        </p:txBody>
      </p:sp>
      <p:sp>
        <p:nvSpPr>
          <p:cNvPr id="7" name="TextBox 6"/>
          <p:cNvSpPr txBox="1"/>
          <p:nvPr/>
        </p:nvSpPr>
        <p:spPr>
          <a:xfrm>
            <a:off x="731520" y="1143000"/>
            <a:ext cx="10515600" cy="365760"/>
          </a:xfrm>
          <a:prstGeom prst="rect">
            <a:avLst/>
          </a:prstGeom>
          <a:noFill/>
        </p:spPr>
        <p:txBody>
          <a:bodyPr wrap="none">
            <a:spAutoFit/>
          </a:bodyPr>
          <a:lstStyle/>
          <a:p>
            <a:pPr>
              <a:defRPr sz="1300">
                <a:solidFill>
                  <a:srgbClr val="94A3B8"/>
                </a:solidFill>
              </a:defRPr>
            </a:pPr>
            <a:r>
              <a:t>The Tri-Stream Parallel Execution Engine Delivering Full Institutional Operating Parity</a:t>
            </a:r>
          </a:p>
        </p:txBody>
      </p:sp>
      <p:sp>
        <p:nvSpPr>
          <p:cNvPr id="8" name="Rounded Rectangle 7"/>
          <p:cNvSpPr/>
          <p:nvPr/>
        </p:nvSpPr>
        <p:spPr>
          <a:xfrm>
            <a:off x="731520" y="1645920"/>
            <a:ext cx="338328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28800"/>
            <a:ext cx="3017520" cy="4023360"/>
          </a:xfrm>
          <a:prstGeom prst="rect">
            <a:avLst/>
          </a:prstGeom>
          <a:noFill/>
        </p:spPr>
        <p:txBody>
          <a:bodyPr wrap="square">
            <a:spAutoFit/>
          </a:bodyPr>
          <a:lstStyle/>
          <a:p>
            <a:pPr>
              <a:defRPr sz="1000" b="1">
                <a:solidFill>
                  <a:srgbClr val="38BDF8"/>
                </a:solidFill>
              </a:defRPr>
            </a:pPr>
            <a:r>
              <a:t>[STREAM 1 IN FLIGHT]</a:t>
            </a:r>
          </a:p>
          <a:p>
            <a:pPr>
              <a:defRPr sz="1700" b="1">
                <a:solidFill>
                  <a:srgbClr val="F8FAFC"/>
                </a:solidFill>
              </a:defRPr>
            </a:pPr>
            <a:r>
              <a:t>Branch A: Tech Launchpad</a:t>
            </a:r>
          </a:p>
          <a:p>
            <a:pPr>
              <a:spcAft>
                <a:spcPts val="800"/>
              </a:spcAft>
              <a:defRPr sz="1100">
                <a:solidFill>
                  <a:srgbClr val="38BDF8"/>
                </a:solidFill>
              </a:defRPr>
            </a:pPr>
            <a:r>
              <a:t>Worktree 1 (Current Agent)</a:t>
            </a:r>
          </a:p>
          <a:p>
            <a:pPr>
              <a:spcAft>
                <a:spcPts val="500"/>
              </a:spcAft>
              <a:defRPr sz="1200">
                <a:solidFill>
                  <a:srgbClr val="94A3B8"/>
                </a:solidFill>
              </a:defRPr>
            </a:pPr>
            <a:r>
              <a:t>• Scope: Finalize Launchpad tracks to Day 30 (95 Days total).</a:t>
            </a:r>
          </a:p>
          <a:p>
            <a:pPr>
              <a:spcAft>
                <a:spcPts val="500"/>
              </a:spcAft>
              <a:defRPr sz="1200">
                <a:solidFill>
                  <a:srgbClr val="94A3B8"/>
                </a:solidFill>
              </a:defRPr>
            </a:pPr>
            <a:r>
              <a:t>• Tracks: Excel Viz (Days 11-30), Comp Fund (Days 6-30), Git VCS (Days 6-30), Soft Skills (Days 6-30).</a:t>
            </a:r>
          </a:p>
          <a:p>
            <a:pPr>
              <a:spcAft>
                <a:spcPts val="500"/>
              </a:spcAft>
              <a:defRPr sz="1200">
                <a:solidFill>
                  <a:srgbClr val="94A3B8"/>
                </a:solidFill>
              </a:defRPr>
            </a:pPr>
            <a:r>
              <a:t>• Invariants: Strict 5-part LongLesson structure, Gate v2 visual JSON specs, 100% green tests.</a:t>
            </a:r>
          </a:p>
          <a:p>
            <a:pPr>
              <a:spcAft>
                <a:spcPts val="500"/>
              </a:spcAft>
              <a:defRPr sz="1200">
                <a:solidFill>
                  <a:srgbClr val="94A3B8"/>
                </a:solidFill>
              </a:defRPr>
            </a:pPr>
            <a:r>
              <a:t>• Task Range: TASK-689 to TASK-750.</a:t>
            </a:r>
          </a:p>
        </p:txBody>
      </p:sp>
      <p:sp>
        <p:nvSpPr>
          <p:cNvPr id="10" name="Rounded Rectangle 9"/>
          <p:cNvSpPr/>
          <p:nvPr/>
        </p:nvSpPr>
        <p:spPr>
          <a:xfrm>
            <a:off x="4389120" y="1645920"/>
            <a:ext cx="338328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828800"/>
            <a:ext cx="3017520" cy="4023360"/>
          </a:xfrm>
          <a:prstGeom prst="rect">
            <a:avLst/>
          </a:prstGeom>
          <a:noFill/>
        </p:spPr>
        <p:txBody>
          <a:bodyPr wrap="square">
            <a:spAutoFit/>
          </a:bodyPr>
          <a:lstStyle/>
          <a:p>
            <a:pPr>
              <a:defRPr sz="1000" b="1">
                <a:solidFill>
                  <a:srgbClr val="34D399"/>
                </a:solidFill>
              </a:defRPr>
            </a:pPr>
            <a:r>
              <a:t>[STREAM 2 IN FLIGHT]</a:t>
            </a:r>
          </a:p>
          <a:p>
            <a:pPr>
              <a:defRPr sz="1700" b="1">
                <a:solidFill>
                  <a:srgbClr val="F8FAFC"/>
                </a:solidFill>
              </a:defRPr>
            </a:pPr>
            <a:r>
              <a:t>Branch B: Commerce &amp; IoT</a:t>
            </a:r>
          </a:p>
          <a:p>
            <a:pPr>
              <a:spcAft>
                <a:spcPts val="800"/>
              </a:spcAft>
              <a:defRPr sz="1100">
                <a:solidFill>
                  <a:srgbClr val="38BDF8"/>
                </a:solidFill>
              </a:defRPr>
            </a:pPr>
            <a:r>
              <a:t>Worktree 2 (Sub-Agent Stream)</a:t>
            </a:r>
          </a:p>
          <a:p>
            <a:pPr>
              <a:spcAft>
                <a:spcPts val="500"/>
              </a:spcAft>
              <a:defRPr sz="1200">
                <a:solidFill>
                  <a:srgbClr val="94A3B8"/>
                </a:solidFill>
              </a:defRPr>
            </a:pPr>
            <a:r>
              <a:t>• Scope: Complete 14 B.Com tracks &amp; 4 IoT tracks to Day 30 (450 Days total).</a:t>
            </a:r>
          </a:p>
          <a:p>
            <a:pPr>
              <a:spcAft>
                <a:spcPts val="500"/>
              </a:spcAft>
              <a:defRPr sz="1200">
                <a:solidFill>
                  <a:srgbClr val="94A3B8"/>
                </a:solidFill>
              </a:defRPr>
            </a:pPr>
            <a:r>
              <a:t>• Collision-Free Guarantee: 100% disjoint file ownership from Branch A; zero shared data or test files.</a:t>
            </a:r>
          </a:p>
          <a:p>
            <a:pPr>
              <a:spcAft>
                <a:spcPts val="500"/>
              </a:spcAft>
              <a:defRPr sz="1200">
                <a:solidFill>
                  <a:srgbClr val="94A3B8"/>
                </a:solidFill>
              </a:defRPr>
            </a:pPr>
            <a:r>
              <a:t>• Invariants: &gt;= 2,940 words/day, LedgerSheet/Funnel/RegisterBits visuals.</a:t>
            </a:r>
          </a:p>
          <a:p>
            <a:pPr>
              <a:spcAft>
                <a:spcPts val="500"/>
              </a:spcAft>
              <a:defRPr sz="1200">
                <a:solidFill>
                  <a:srgbClr val="94A3B8"/>
                </a:solidFill>
              </a:defRPr>
            </a:pPr>
            <a:r>
              <a:t>• Task Range: TASK-751 to TASK-850.</a:t>
            </a:r>
          </a:p>
        </p:txBody>
      </p:sp>
      <p:sp>
        <p:nvSpPr>
          <p:cNvPr id="12" name="Rounded Rectangle 11"/>
          <p:cNvSpPr/>
          <p:nvPr/>
        </p:nvSpPr>
        <p:spPr>
          <a:xfrm>
            <a:off x="8046720" y="1645920"/>
            <a:ext cx="3383280" cy="4389120"/>
          </a:xfrm>
          <a:prstGeom prst="roundRect">
            <a:avLst/>
          </a:prstGeom>
          <a:solidFill>
            <a:srgbClr val="161E2E"/>
          </a:solidFill>
          <a:ln w="19050">
            <a:solidFill>
              <a:srgbClr val="2533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828800"/>
            <a:ext cx="3017520" cy="4023360"/>
          </a:xfrm>
          <a:prstGeom prst="rect">
            <a:avLst/>
          </a:prstGeom>
          <a:noFill/>
        </p:spPr>
        <p:txBody>
          <a:bodyPr wrap="square">
            <a:spAutoFit/>
          </a:bodyPr>
          <a:lstStyle/>
          <a:p>
            <a:pPr>
              <a:defRPr sz="1000" b="1">
                <a:solidFill>
                  <a:srgbClr val="FBBF24"/>
                </a:solidFill>
              </a:defRPr>
            </a:pPr>
            <a:r>
              <a:t>[STREAM 3 IN FLIGHT]</a:t>
            </a:r>
          </a:p>
          <a:p>
            <a:pPr>
              <a:defRPr sz="1700" b="1">
                <a:solidFill>
                  <a:srgbClr val="F8FAFC"/>
                </a:solidFill>
              </a:defRPr>
            </a:pPr>
            <a:r>
              <a:t>Branch C: Platform &amp; Admin</a:t>
            </a:r>
          </a:p>
          <a:p>
            <a:pPr>
              <a:spcAft>
                <a:spcPts val="800"/>
              </a:spcAft>
              <a:defRPr sz="1100">
                <a:solidFill>
                  <a:srgbClr val="38BDF8"/>
                </a:solidFill>
              </a:defRPr>
            </a:pPr>
            <a:r>
              <a:t>Worktree 3 (Platform Stream)</a:t>
            </a:r>
          </a:p>
          <a:p>
            <a:pPr>
              <a:spcAft>
                <a:spcPts val="500"/>
              </a:spcAft>
              <a:defRPr sz="1200">
                <a:solidFill>
                  <a:srgbClr val="94A3B8"/>
                </a:solidFill>
              </a:defRPr>
            </a:pPr>
            <a:r>
              <a:t>• Scope: Institutional software infrastructure &amp; governance.</a:t>
            </a:r>
          </a:p>
          <a:p>
            <a:pPr>
              <a:spcAft>
                <a:spcPts val="500"/>
              </a:spcAft>
              <a:defRPr sz="1200">
                <a:solidFill>
                  <a:srgbClr val="94A3B8"/>
                </a:solidFill>
              </a:defRPr>
            </a:pPr>
            <a:r>
              <a:t>• Campus Admin Portal: Student admissions, fee ledger &amp; audit exports.</a:t>
            </a:r>
          </a:p>
          <a:p>
            <a:pPr>
              <a:spcAft>
                <a:spcPts val="500"/>
              </a:spcAft>
              <a:defRPr sz="1200">
                <a:solidFill>
                  <a:srgbClr val="94A3B8"/>
                </a:solidFill>
              </a:defRPr>
            </a:pPr>
            <a:r>
              <a:t>• Faculty &amp; Teacher Tools: Auto-grading rubrics, live class engagement telemetry.</a:t>
            </a:r>
          </a:p>
          <a:p>
            <a:pPr>
              <a:spcAft>
                <a:spcPts val="500"/>
              </a:spcAft>
              <a:defRPr sz="1200">
                <a:solidFill>
                  <a:srgbClr val="94A3B8"/>
                </a:solidFill>
              </a:defRPr>
            </a:pPr>
            <a:r>
              <a:t>• Multi-Tenant Isolation: Supabase RLS by institutionId.</a:t>
            </a:r>
          </a:p>
          <a:p>
            <a:pPr>
              <a:spcAft>
                <a:spcPts val="500"/>
              </a:spcAft>
              <a:defRPr sz="1200">
                <a:solidFill>
                  <a:srgbClr val="94A3B8"/>
                </a:solidFill>
              </a:defRPr>
            </a:pPr>
            <a:r>
              <a:t>• Task Range: TASK-851 to TASK-950.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