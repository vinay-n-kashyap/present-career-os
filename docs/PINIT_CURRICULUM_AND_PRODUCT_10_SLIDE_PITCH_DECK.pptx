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shareholders. If you're new to PinIT Career OS, here is our core premise: Higher education is experiencing an employability crisis. Universities teach outdated theory, and online video courses fail because 90% of students drop out. PinIT solves this. We are an all-in-one Career Operating System that replaces passive videos with hands-on practice, AI pair-programming, and real company projects. Over 1,045 training days are already built and live on our platform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complete 37-course footprint. Every course is semester-grade. Notice our two flagship Fullstack tracks: Course 02 is Web Fullstack with React and Next.js, and Course 20 is Python Fullstack with FastAPI and async databases. Combined with our deep computer science, 14 commerce tracks, and launchpads, PinIT covers 100% of university degrees.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Shareholders often ask: What are your flagship courses that get students hired first? It's our Two Fullstack tracks. Course 02 is our Web Fullstack track, teaching React and Next.js App Router. Course 20 is our Python Fullstack track, teaching FastAPI, async database pools, and backend architecture. Both are 100% built, tested, and live today, producing graduates who build real, deployable enterprise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courses form the operational backbone of any tech company: Java for enterprise banking backends, Node.js for high-speed APIs, AWS for cloud hosting, DevOps for automated Kubernetes delivery, and Design Systems for accessible UI. All five are 100% built and live, giving students end-to-end systems competence.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represents our deep computer science moat: Data Structures, Mobile, Cybersecurity, Database Internals, and Distributed Systems. In Course 10, students study how B+ trees split and write to disk. In Course 11, they implement the Raft consensus algorithm. This is why our students stand out from standard bootcamp graduates who only know surface-level frontend code.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our highest-margin, elite disciplines. Course 21 is Quantitative Systems—teaching high-frequency trading in C++ with 41.8-nanosecond matching. Prop shops pay Rs 40 to 80 Lakh starting packages for this skill. Meanwhile, Course 12 and 37 cover modern AI, LLMs, and Transformers. These courses position PinIT as an elite institution partner.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 is investing over $50 Billion into semiconductor manufacturing and hardware design. These four courses—Embedded MCU, Edge AI TinyML, Wireless IoT, and Hardware Root of Trust—connect our students directly to physical chips. Days 1 through 5 are live today, and our Branch B sub-agents are expanding Days 6 through 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60% of university students are enrolled in Commerce, BBA, and MBA programs. We have brought the exact same interactive simulation rigor to business education. Students use our LedgerSheet engine to balance books, run DCF valuations, and model supply chain inventory. This unlocks massive enterprise software sales to business colleges.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Modern businesses run on growth and digital transformation. In these courses, students learn programmatic ad attribution, two-sided marketplace take rates, B2B enterprise sales pipelines, and process mining. When graduates interview at fast-growing companies, they already understand customer acquisition economics and revenue pipelines.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Every student starts in our universal launchpad—mastering Excel, Linux, Git, and Interview Communication. And with our 3-branch parallel execution architecture, we are rapidly finishing the remaining 34% of the curriculum while deploying our university administrative software. We have built the definitive operating system for higher education. Thank you, and I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THE SOVEREIGN PLATFORM</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01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PinIT Career OS: The All-In-One Campus Career Operating System</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Bridging Higher Education to High-Paying Employment Through Active Learning &amp; Cryptographic Proof-of-Work</a:t>
            </a:r>
          </a:p>
        </p:txBody>
      </p:sp>
      <p:sp>
        <p:nvSpPr>
          <p:cNvPr id="8" name="Rounded Rectangle 7"/>
          <p:cNvSpPr/>
          <p:nvPr/>
        </p:nvSpPr>
        <p:spPr>
          <a:xfrm>
            <a:off x="731520" y="1600200"/>
            <a:ext cx="3291840" cy="15544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400" b="1">
                <a:solidFill>
                  <a:srgbClr val="2563EB"/>
                </a:solidFill>
              </a:defRPr>
            </a:pPr>
            <a:r>
              <a:t>37</a:t>
            </a:r>
          </a:p>
          <a:p>
            <a:pPr>
              <a:defRPr sz="1100" b="1">
                <a:solidFill>
                  <a:srgbClr val="0F172A"/>
                </a:solidFill>
              </a:defRPr>
            </a:pPr>
            <a:r>
              <a:t>MASTER COURSES</a:t>
            </a:r>
          </a:p>
          <a:p>
            <a:pPr>
              <a:defRPr sz="1000">
                <a:solidFill>
                  <a:srgbClr val="64748B"/>
                </a:solidFill>
              </a:defRPr>
            </a:pPr>
            <a:r>
              <a:t>Complete multi-disciplinary catalog: Tech, AI, Cloud, Hardware &amp; 14 Commerce Tracks.</a:t>
            </a:r>
          </a:p>
        </p:txBody>
      </p:sp>
      <p:sp>
        <p:nvSpPr>
          <p:cNvPr id="9" name="Rounded Rectangle 8"/>
          <p:cNvSpPr/>
          <p:nvPr/>
        </p:nvSpPr>
        <p:spPr>
          <a:xfrm>
            <a:off x="4389120" y="1600200"/>
            <a:ext cx="3383280" cy="15544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400" b="1">
                <a:solidFill>
                  <a:srgbClr val="10B981"/>
                </a:solidFill>
              </a:defRPr>
            </a:pPr>
            <a:r>
              <a:t>1,045</a:t>
            </a:r>
          </a:p>
          <a:p>
            <a:pPr>
              <a:defRPr sz="1100" b="1">
                <a:solidFill>
                  <a:srgbClr val="0F172A"/>
                </a:solidFill>
              </a:defRPr>
            </a:pPr>
            <a:r>
              <a:t>LESSON DAYS BUILT &amp; LIVE</a:t>
            </a:r>
          </a:p>
          <a:p>
            <a:pPr>
              <a:defRPr sz="1000">
                <a:solidFill>
                  <a:srgbClr val="64748B"/>
                </a:solidFill>
              </a:defRPr>
            </a:pPr>
            <a:r>
              <a:t>65.7% of full 30-day foundation complete today with 100% automated test verification.</a:t>
            </a:r>
          </a:p>
        </p:txBody>
      </p:sp>
      <p:sp>
        <p:nvSpPr>
          <p:cNvPr id="10" name="Rounded Rectangle 9"/>
          <p:cNvSpPr/>
          <p:nvPr/>
        </p:nvSpPr>
        <p:spPr>
          <a:xfrm>
            <a:off x="8138160" y="1600200"/>
            <a:ext cx="3291840" cy="1554480"/>
          </a:xfrm>
          <a:prstGeom prst="roundRect">
            <a:avLst/>
          </a:prstGeom>
          <a:solidFill>
            <a:srgbClr val="FFFFFF"/>
          </a:solidFill>
          <a:ln w="1905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400" b="1">
                <a:solidFill>
                  <a:srgbClr val="7E22CE"/>
                </a:solidFill>
              </a:defRPr>
            </a:pPr>
            <a:r>
              <a:t>990</a:t>
            </a:r>
          </a:p>
          <a:p>
            <a:pPr>
              <a:defRPr sz="1100" b="1">
                <a:solidFill>
                  <a:srgbClr val="0F172A"/>
                </a:solidFill>
              </a:defRPr>
            </a:pPr>
            <a:r>
              <a:t>INTERACTIVE SIMULATORS</a:t>
            </a:r>
          </a:p>
          <a:p>
            <a:pPr>
              <a:defRPr sz="1000">
                <a:solidFill>
                  <a:srgbClr val="64748B"/>
                </a:solidFill>
              </a:defRPr>
            </a:pPr>
            <a:r>
              <a:t>17 proprietary visual engines turning abstract concepts into active browser simulations.</a:t>
            </a:r>
          </a:p>
        </p:txBody>
      </p:sp>
      <p:sp>
        <p:nvSpPr>
          <p:cNvPr id="11" name="Rounded Rectangle 10"/>
          <p:cNvSpPr/>
          <p:nvPr/>
        </p:nvSpPr>
        <p:spPr>
          <a:xfrm>
            <a:off x="731520" y="3383280"/>
            <a:ext cx="5120640" cy="292608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547872"/>
            <a:ext cx="4754880" cy="2596896"/>
          </a:xfrm>
          <a:prstGeom prst="rect">
            <a:avLst/>
          </a:prstGeom>
          <a:noFill/>
        </p:spPr>
        <p:txBody>
          <a:bodyPr wrap="square">
            <a:spAutoFit/>
          </a:bodyPr>
          <a:lstStyle/>
          <a:p>
            <a:pPr>
              <a:spcAft>
                <a:spcPts val="200"/>
              </a:spcAft>
              <a:defRPr sz="950" b="1">
                <a:solidFill>
                  <a:srgbClr val="E11D48"/>
                </a:solidFill>
              </a:defRPr>
            </a:pPr>
            <a:r>
              <a:t>THE PROBLEM</a:t>
            </a:r>
          </a:p>
          <a:p>
            <a:pPr>
              <a:spcAft>
                <a:spcPts val="200"/>
              </a:spcAft>
              <a:defRPr sz="1400" b="1">
                <a:solidFill>
                  <a:srgbClr val="0F172A"/>
                </a:solidFill>
              </a:defRPr>
            </a:pPr>
            <a:r>
              <a:t>The College Employability Crisis</a:t>
            </a:r>
          </a:p>
          <a:p>
            <a:pPr>
              <a:spcAft>
                <a:spcPts val="400"/>
              </a:spcAft>
              <a:defRPr sz="1050">
                <a:solidFill>
                  <a:srgbClr val="E11D48"/>
                </a:solidFill>
              </a:defRPr>
            </a:pPr>
            <a:r>
              <a:t>Why Universities &amp; Students Are Struggling</a:t>
            </a:r>
          </a:p>
          <a:p>
            <a:pPr>
              <a:spcAft>
                <a:spcPts val="300"/>
              </a:spcAft>
              <a:defRPr sz="1050">
                <a:solidFill>
                  <a:srgbClr val="334155"/>
                </a:solidFill>
              </a:defRPr>
            </a:pPr>
            <a:r>
              <a:t>• Outdated Textbook Theory: Universities teach concepts from 10 years ago.</a:t>
            </a:r>
          </a:p>
          <a:p>
            <a:pPr>
              <a:spcAft>
                <a:spcPts val="300"/>
              </a:spcAft>
              <a:defRPr sz="1050">
                <a:solidFill>
                  <a:srgbClr val="334155"/>
                </a:solidFill>
              </a:defRPr>
            </a:pPr>
            <a:r>
              <a:t>• 90% Video Dropout: MOOCs fail because watching passive videos is boring.</a:t>
            </a:r>
          </a:p>
          <a:p>
            <a:pPr>
              <a:spcAft>
                <a:spcPts val="300"/>
              </a:spcAft>
              <a:defRPr sz="1050">
                <a:solidFill>
                  <a:srgbClr val="334155"/>
                </a:solidFill>
              </a:defRPr>
            </a:pPr>
            <a:r>
              <a:t>• Unemployable Graduates: Over 80% fail basic practical coding and financial interviews.</a:t>
            </a:r>
          </a:p>
          <a:p>
            <a:pPr>
              <a:spcAft>
                <a:spcPts val="300"/>
              </a:spcAft>
              <a:defRPr sz="1050">
                <a:solidFill>
                  <a:srgbClr val="334155"/>
                </a:solidFill>
              </a:defRPr>
            </a:pPr>
            <a:r>
              <a:t>• Campus Software Sprawl: Colleges waste $60k-$130k/yr on disconnected LMS tools.</a:t>
            </a:r>
          </a:p>
        </p:txBody>
      </p:sp>
      <p:sp>
        <p:nvSpPr>
          <p:cNvPr id="13" name="Rounded Rectangle 12"/>
          <p:cNvSpPr/>
          <p:nvPr/>
        </p:nvSpPr>
        <p:spPr>
          <a:xfrm>
            <a:off x="6217920" y="3383280"/>
            <a:ext cx="5212080" cy="29260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3547872"/>
            <a:ext cx="4846320" cy="2596896"/>
          </a:xfrm>
          <a:prstGeom prst="rect">
            <a:avLst/>
          </a:prstGeom>
          <a:noFill/>
        </p:spPr>
        <p:txBody>
          <a:bodyPr wrap="square">
            <a:spAutoFit/>
          </a:bodyPr>
          <a:lstStyle/>
          <a:p>
            <a:pPr>
              <a:spcAft>
                <a:spcPts val="200"/>
              </a:spcAft>
              <a:defRPr sz="950" b="1">
                <a:solidFill>
                  <a:srgbClr val="10B981"/>
                </a:solidFill>
              </a:defRPr>
            </a:pPr>
            <a:r>
              <a:t>THE SOLUTION</a:t>
            </a:r>
          </a:p>
          <a:p>
            <a:pPr>
              <a:spcAft>
                <a:spcPts val="200"/>
              </a:spcAft>
              <a:defRPr sz="1400" b="1">
                <a:solidFill>
                  <a:srgbClr val="0F172A"/>
                </a:solidFill>
              </a:defRPr>
            </a:pPr>
            <a:r>
              <a:t>The PinIT Sovereign Solution</a:t>
            </a:r>
          </a:p>
          <a:p>
            <a:pPr>
              <a:spcAft>
                <a:spcPts val="400"/>
              </a:spcAft>
              <a:defRPr sz="1050">
                <a:solidFill>
                  <a:srgbClr val="10B981"/>
                </a:solidFill>
              </a:defRPr>
            </a:pPr>
            <a:r>
              <a:t>Direct Campus-to-Placement Highway</a:t>
            </a:r>
          </a:p>
          <a:p>
            <a:pPr>
              <a:spcAft>
                <a:spcPts val="300"/>
              </a:spcAft>
              <a:defRPr sz="1050">
                <a:solidFill>
                  <a:srgbClr val="334155"/>
                </a:solidFill>
              </a:defRPr>
            </a:pPr>
            <a:r>
              <a:t>• All-In-One Campus Platform: Combines curriculum, browser sandboxes, AI tutors &amp; hiring.</a:t>
            </a:r>
          </a:p>
          <a:p>
            <a:pPr>
              <a:spcAft>
                <a:spcPts val="300"/>
              </a:spcAft>
              <a:defRPr sz="1050">
                <a:solidFill>
                  <a:srgbClr val="334155"/>
                </a:solidFill>
              </a:defRPr>
            </a:pPr>
            <a:r>
              <a:t>• Active Learn-By-Doing: Students write real code &amp; balance ledgers every 5 minutes.</a:t>
            </a:r>
          </a:p>
          <a:p>
            <a:pPr>
              <a:spcAft>
                <a:spcPts val="300"/>
              </a:spcAft>
              <a:defRPr sz="1050">
                <a:solidFill>
                  <a:srgbClr val="334155"/>
                </a:solidFill>
              </a:defRPr>
            </a:pPr>
            <a:r>
              <a:t>• 24/7 AI Voice Mentors: Personal senior pair-programmers guiding students in real time.</a:t>
            </a:r>
          </a:p>
          <a:p>
            <a:pPr>
              <a:spcAft>
                <a:spcPts val="300"/>
              </a:spcAft>
              <a:defRPr sz="1050">
                <a:solidFill>
                  <a:srgbClr val="334155"/>
                </a:solidFill>
              </a:defRPr>
            </a:pPr>
            <a:r>
              <a:t>• Verifiable Proof-of-Work: Real GitHub repositories and code telemetry recruiters trust.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COMPLETE CURRICULUM ARCHITECTURE</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02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The 37-Course Master Map &amp; The Two Fullstack Flagships</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Total Campus Coverage: 1,045 Days Live (65.7% Complete) Across 4 Core Faculties</a:t>
            </a:r>
          </a:p>
        </p:txBody>
      </p:sp>
      <p:sp>
        <p:nvSpPr>
          <p:cNvPr id="8" name="Rounded Rectangle 7"/>
          <p:cNvSpPr/>
          <p:nvPr/>
        </p:nvSpPr>
        <p:spPr>
          <a:xfrm>
            <a:off x="731520" y="1645920"/>
            <a:ext cx="512064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4754880" cy="1911096"/>
          </a:xfrm>
          <a:prstGeom prst="rect">
            <a:avLst/>
          </a:prstGeom>
          <a:noFill/>
        </p:spPr>
        <p:txBody>
          <a:bodyPr wrap="square">
            <a:spAutoFit/>
          </a:bodyPr>
          <a:lstStyle/>
          <a:p>
            <a:pPr>
              <a:spcAft>
                <a:spcPts val="200"/>
              </a:spcAft>
              <a:defRPr sz="950" b="1">
                <a:solidFill>
                  <a:srgbClr val="2563EB"/>
                </a:solidFill>
              </a:defRPr>
            </a:pPr>
            <a:r>
              <a:t>100% COMPLETE (6 COURSES • 180 DAYS)</a:t>
            </a:r>
          </a:p>
          <a:p>
            <a:pPr>
              <a:spcAft>
                <a:spcPts val="200"/>
              </a:spcAft>
              <a:defRPr sz="1400" b="1">
                <a:solidFill>
                  <a:srgbClr val="0F172A"/>
                </a:solidFill>
              </a:defRPr>
            </a:pPr>
            <a:r>
              <a:t>Faculty 1: Software &amp; Web Engineering</a:t>
            </a:r>
          </a:p>
          <a:p>
            <a:pPr>
              <a:spcAft>
                <a:spcPts val="400"/>
              </a:spcAft>
              <a:defRPr sz="1050">
                <a:solidFill>
                  <a:srgbClr val="2563EB"/>
                </a:solidFill>
              </a:defRPr>
            </a:pPr>
            <a:r>
              <a:t>The Two Fullstack Anchor Disciplines</a:t>
            </a:r>
          </a:p>
          <a:p>
            <a:pPr>
              <a:spcAft>
                <a:spcPts val="300"/>
              </a:spcAft>
              <a:defRPr sz="1050">
                <a:solidFill>
                  <a:srgbClr val="334155"/>
                </a:solidFill>
              </a:defRPr>
            </a:pPr>
            <a:r>
              <a:t>• ★ Course 02: Full-Stack React Web Development (Web Fullstack)</a:t>
            </a:r>
          </a:p>
          <a:p>
            <a:pPr>
              <a:spcAft>
                <a:spcPts val="300"/>
              </a:spcAft>
              <a:defRPr sz="1050">
                <a:solidFill>
                  <a:srgbClr val="334155"/>
                </a:solidFill>
              </a:defRPr>
            </a:pPr>
            <a:r>
              <a:t>• ★ Course 20: Python Programming &amp; Backend Systems (Python Fullstack)</a:t>
            </a:r>
          </a:p>
          <a:p>
            <a:pPr>
              <a:spcAft>
                <a:spcPts val="300"/>
              </a:spcAft>
              <a:defRPr sz="1050">
                <a:solidFill>
                  <a:srgbClr val="334155"/>
                </a:solidFill>
              </a:defRPr>
            </a:pPr>
            <a:r>
              <a:t>• Course 01: Java Core Logic • Course 03: Node.js &amp; TypeScript Backend</a:t>
            </a:r>
          </a:p>
          <a:p>
            <a:pPr>
              <a:spcAft>
                <a:spcPts val="300"/>
              </a:spcAft>
              <a:defRPr sz="1050">
                <a:solidFill>
                  <a:srgbClr val="334155"/>
                </a:solidFill>
              </a:defRPr>
            </a:pPr>
            <a:r>
              <a:t>• Course 04: Cloud Native Architectures (AWS) • Course 05: DevOps &amp; CI/CD Pipelines</a:t>
            </a:r>
          </a:p>
        </p:txBody>
      </p:sp>
      <p:sp>
        <p:nvSpPr>
          <p:cNvPr id="10" name="Rounded Rectangle 9"/>
          <p:cNvSpPr/>
          <p:nvPr/>
        </p:nvSpPr>
        <p:spPr>
          <a:xfrm>
            <a:off x="6217920" y="1645920"/>
            <a:ext cx="52120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10512"/>
            <a:ext cx="4846320" cy="1911096"/>
          </a:xfrm>
          <a:prstGeom prst="rect">
            <a:avLst/>
          </a:prstGeom>
          <a:noFill/>
        </p:spPr>
        <p:txBody>
          <a:bodyPr wrap="square">
            <a:spAutoFit/>
          </a:bodyPr>
          <a:lstStyle/>
          <a:p>
            <a:pPr>
              <a:spcAft>
                <a:spcPts val="200"/>
              </a:spcAft>
              <a:defRPr sz="950" b="1">
                <a:solidFill>
                  <a:srgbClr val="7E22CE"/>
                </a:solidFill>
              </a:defRPr>
            </a:pPr>
            <a:r>
              <a:t>100% COMPLETE (7 COURSES • 210 DAYS)</a:t>
            </a:r>
          </a:p>
          <a:p>
            <a:pPr>
              <a:spcAft>
                <a:spcPts val="200"/>
              </a:spcAft>
              <a:defRPr sz="1400" b="1">
                <a:solidFill>
                  <a:srgbClr val="0F172A"/>
                </a:solidFill>
              </a:defRPr>
            </a:pPr>
            <a:r>
              <a:t>Faculty 2: Deep Computer Science &amp; AI</a:t>
            </a:r>
          </a:p>
          <a:p>
            <a:pPr>
              <a:spcAft>
                <a:spcPts val="400"/>
              </a:spcAft>
              <a:defRPr sz="1050">
                <a:solidFill>
                  <a:srgbClr val="7E22CE"/>
                </a:solidFill>
              </a:defRPr>
            </a:pPr>
            <a:r>
              <a:t>High-Margin Deep Technical Specializations</a:t>
            </a:r>
          </a:p>
          <a:p>
            <a:pPr>
              <a:spcAft>
                <a:spcPts val="300"/>
              </a:spcAft>
              <a:defRPr sz="1050">
                <a:solidFill>
                  <a:srgbClr val="334155"/>
                </a:solidFill>
              </a:defRPr>
            </a:pPr>
            <a:r>
              <a:t>• Course 07: Data Structures &amp; Algorithms • Course 09: Cybersecurity &amp; Zero Trust</a:t>
            </a:r>
          </a:p>
          <a:p>
            <a:pPr>
              <a:spcAft>
                <a:spcPts val="300"/>
              </a:spcAft>
              <a:defRPr sz="1050">
                <a:solidFill>
                  <a:srgbClr val="334155"/>
                </a:solidFill>
              </a:defRPr>
            </a:pPr>
            <a:r>
              <a:t>• Course 10: Database Engineering &amp; SQL • Course 11: Distributed Systems &amp; Consensus</a:t>
            </a:r>
          </a:p>
          <a:p>
            <a:pPr>
              <a:spcAft>
                <a:spcPts val="300"/>
              </a:spcAft>
              <a:defRPr sz="1050">
                <a:solidFill>
                  <a:srgbClr val="334155"/>
                </a:solidFill>
              </a:defRPr>
            </a:pPr>
            <a:r>
              <a:t>• Course 12: Applied AI &amp; LLMs • Course 15: 3D Graphics • Course 16: Blockchain Web3</a:t>
            </a:r>
          </a:p>
          <a:p>
            <a:pPr>
              <a:spcAft>
                <a:spcPts val="300"/>
              </a:spcAft>
              <a:defRPr sz="1050">
                <a:solidFill>
                  <a:srgbClr val="334155"/>
                </a:solidFill>
              </a:defRPr>
            </a:pPr>
            <a:r>
              <a:t>• Course 21: Quantitative Systems Engineering (The Crown Jewel)</a:t>
            </a:r>
          </a:p>
        </p:txBody>
      </p:sp>
      <p:sp>
        <p:nvSpPr>
          <p:cNvPr id="12" name="Rounded Rectangle 11"/>
          <p:cNvSpPr/>
          <p:nvPr/>
        </p:nvSpPr>
        <p:spPr>
          <a:xfrm>
            <a:off x="731520" y="4069080"/>
            <a:ext cx="5120640" cy="2240280"/>
          </a:xfrm>
          <a:prstGeom prst="roundRect">
            <a:avLst/>
          </a:prstGeom>
          <a:solidFill>
            <a:srgbClr val="FFFFFF"/>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233672"/>
            <a:ext cx="4754880" cy="1911096"/>
          </a:xfrm>
          <a:prstGeom prst="rect">
            <a:avLst/>
          </a:prstGeom>
          <a:noFill/>
        </p:spPr>
        <p:txBody>
          <a:bodyPr wrap="square">
            <a:spAutoFit/>
          </a:bodyPr>
          <a:lstStyle/>
          <a:p>
            <a:pPr>
              <a:spcAft>
                <a:spcPts val="200"/>
              </a:spcAft>
              <a:defRPr sz="950" b="1">
                <a:solidFill>
                  <a:srgbClr val="10B981"/>
                </a:solidFill>
              </a:defRPr>
            </a:pPr>
            <a:r>
              <a:t>DAYS 1–5 LIVE (14 COURSES • 70/420 DAYS)</a:t>
            </a:r>
          </a:p>
          <a:p>
            <a:pPr>
              <a:spcAft>
                <a:spcPts val="200"/>
              </a:spcAft>
              <a:defRPr sz="1400" b="1">
                <a:solidFill>
                  <a:srgbClr val="0F172A"/>
                </a:solidFill>
              </a:defRPr>
            </a:pPr>
            <a:r>
              <a:t>Faculty 3: Commerce &amp; Management</a:t>
            </a:r>
          </a:p>
          <a:p>
            <a:pPr>
              <a:spcAft>
                <a:spcPts val="400"/>
              </a:spcAft>
              <a:defRPr sz="1050">
                <a:solidFill>
                  <a:srgbClr val="10B981"/>
                </a:solidFill>
              </a:defRPr>
            </a:pPr>
            <a:r>
              <a:t>Serving the 60% Non-Engineering Campus Audience</a:t>
            </a:r>
          </a:p>
          <a:p>
            <a:pPr>
              <a:spcAft>
                <a:spcPts val="300"/>
              </a:spcAft>
              <a:defRPr sz="1050">
                <a:solidFill>
                  <a:srgbClr val="334155"/>
                </a:solidFill>
              </a:defRPr>
            </a:pPr>
            <a:r>
              <a:t>• Course 22: Digital Accounting &amp; Tax • Course 23: Business Finance &amp; Investment</a:t>
            </a:r>
          </a:p>
          <a:p>
            <a:pPr>
              <a:spcAft>
                <a:spcPts val="300"/>
              </a:spcAft>
              <a:defRPr sz="1050">
                <a:solidFill>
                  <a:srgbClr val="334155"/>
                </a:solidFill>
              </a:defRPr>
            </a:pPr>
            <a:r>
              <a:t>• Course 24: Business Analytics • Course 25: Marketing &amp; Brand Management</a:t>
            </a:r>
          </a:p>
          <a:p>
            <a:pPr>
              <a:spcAft>
                <a:spcPts val="300"/>
              </a:spcAft>
              <a:defRPr sz="1050">
                <a:solidFill>
                  <a:srgbClr val="334155"/>
                </a:solidFill>
              </a:defRPr>
            </a:pPr>
            <a:r>
              <a:t>• Course 26: Digital Marketing • Course 27: E-Commerce • Course 28: Entrepreneurship</a:t>
            </a:r>
          </a:p>
          <a:p>
            <a:pPr>
              <a:spcAft>
                <a:spcPts val="300"/>
              </a:spcAft>
              <a:defRPr sz="1050">
                <a:solidFill>
                  <a:srgbClr val="334155"/>
                </a:solidFill>
              </a:defRPr>
            </a:pPr>
            <a:r>
              <a:t>• Course 29: Sales &amp; CRM • Course 30: Supply Chain &amp; Ops • Course 31: AI Business</a:t>
            </a:r>
          </a:p>
        </p:txBody>
      </p:sp>
      <p:sp>
        <p:nvSpPr>
          <p:cNvPr id="14" name="Rounded Rectangle 13"/>
          <p:cNvSpPr/>
          <p:nvPr/>
        </p:nvSpPr>
        <p:spPr>
          <a:xfrm>
            <a:off x="6217920" y="4069080"/>
            <a:ext cx="5212080" cy="2240280"/>
          </a:xfrm>
          <a:prstGeom prst="roundRect">
            <a:avLst/>
          </a:prstGeom>
          <a:solidFill>
            <a:srgbClr val="FFFFFF"/>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233672"/>
            <a:ext cx="4846320" cy="1911096"/>
          </a:xfrm>
          <a:prstGeom prst="rect">
            <a:avLst/>
          </a:prstGeom>
          <a:noFill/>
        </p:spPr>
        <p:txBody>
          <a:bodyPr wrap="square">
            <a:spAutoFit/>
          </a:bodyPr>
          <a:lstStyle/>
          <a:p>
            <a:pPr>
              <a:spcAft>
                <a:spcPts val="200"/>
              </a:spcAft>
              <a:defRPr sz="950" b="1">
                <a:solidFill>
                  <a:srgbClr val="D97706"/>
                </a:solidFill>
              </a:defRPr>
            </a:pPr>
            <a:r>
              <a:t>DAYS 1–5 LIVE (10 COURSES • 50/300 DAYS)</a:t>
            </a:r>
          </a:p>
          <a:p>
            <a:pPr>
              <a:spcAft>
                <a:spcPts val="200"/>
              </a:spcAft>
              <a:defRPr sz="1400" b="1">
                <a:solidFill>
                  <a:srgbClr val="0F172A"/>
                </a:solidFill>
              </a:defRPr>
            </a:pPr>
            <a:r>
              <a:t>Faculty 4: Launchpad &amp; IoT Silicon</a:t>
            </a:r>
          </a:p>
          <a:p>
            <a:pPr>
              <a:spcAft>
                <a:spcPts val="400"/>
              </a:spcAft>
              <a:defRPr sz="1050">
                <a:solidFill>
                  <a:srgbClr val="D97706"/>
                </a:solidFill>
              </a:defRPr>
            </a:pPr>
            <a:r>
              <a:t>Universal Freshman Adoption + Hardware Semiconductor Boom</a:t>
            </a:r>
          </a:p>
          <a:p>
            <a:pPr>
              <a:spcAft>
                <a:spcPts val="300"/>
              </a:spcAft>
              <a:defRPr sz="1050">
                <a:solidFill>
                  <a:srgbClr val="334155"/>
                </a:solidFill>
              </a:defRPr>
            </a:pPr>
            <a:r>
              <a:t>• Course 32: Computer OS Fundamentals • Course 33: Everyday AI Prompt Literacy</a:t>
            </a:r>
          </a:p>
          <a:p>
            <a:pPr>
              <a:spcAft>
                <a:spcPts val="300"/>
              </a:spcAft>
              <a:defRPr sz="1050">
                <a:solidFill>
                  <a:srgbClr val="334155"/>
                </a:solidFill>
              </a:defRPr>
            </a:pPr>
            <a:r>
              <a:t>• Course 34: Excel &amp; Data Analysis (Days 1–10 Live!) • Course 35: Git &amp; GitHub VCS</a:t>
            </a:r>
          </a:p>
          <a:p>
            <a:pPr>
              <a:spcAft>
                <a:spcPts val="300"/>
              </a:spcAft>
              <a:defRPr sz="1050">
                <a:solidFill>
                  <a:srgbClr val="334155"/>
                </a:solidFill>
              </a:defRPr>
            </a:pPr>
            <a:r>
              <a:t>• Course 36: Tech Soft Skills &amp; STAR • Course 37: NLP &amp; Computational Linguistics</a:t>
            </a:r>
          </a:p>
          <a:p>
            <a:pPr>
              <a:spcAft>
                <a:spcPts val="300"/>
              </a:spcAft>
              <a:defRPr sz="1050">
                <a:solidFill>
                  <a:srgbClr val="334155"/>
                </a:solidFill>
              </a:defRPr>
            </a:pPr>
            <a:r>
              <a:t>• IoT Hardware (Courses 14, 17, 18, 19): Embedded MCU, Wireless, TinyML,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FLAGSHIP ENGINEERING CURRICULUM</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03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The Two Fullstack Flagships: Web Fullstack &amp; Python Fullstack</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How We Train Job-Ready Full-Stack Developers Who Can Architect Real Enterprise Applications</a:t>
            </a:r>
          </a:p>
        </p:txBody>
      </p:sp>
      <p:sp>
        <p:nvSpPr>
          <p:cNvPr id="8" name="Rounded Rectangle 7"/>
          <p:cNvSpPr/>
          <p:nvPr/>
        </p:nvSpPr>
        <p:spPr>
          <a:xfrm>
            <a:off x="731520" y="1645920"/>
            <a:ext cx="512064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4754880" cy="4151376"/>
          </a:xfrm>
          <a:prstGeom prst="rect">
            <a:avLst/>
          </a:prstGeom>
          <a:noFill/>
        </p:spPr>
        <p:txBody>
          <a:bodyPr wrap="square">
            <a:spAutoFit/>
          </a:bodyPr>
          <a:lstStyle/>
          <a:p>
            <a:pPr>
              <a:spcAft>
                <a:spcPts val="200"/>
              </a:spcAft>
              <a:defRPr sz="950" b="1">
                <a:solidFill>
                  <a:srgbClr val="2563EB"/>
                </a:solidFill>
              </a:defRPr>
            </a:pPr>
            <a:r>
              <a:t>WEB FULLSTACK FLAGSHIP (100% LIVE)</a:t>
            </a:r>
          </a:p>
          <a:p>
            <a:pPr>
              <a:spcAft>
                <a:spcPts val="200"/>
              </a:spcAft>
              <a:defRPr sz="1400" b="1">
                <a:solidFill>
                  <a:srgbClr val="0F172A"/>
                </a:solidFill>
              </a:defRPr>
            </a:pPr>
            <a:r>
              <a:t>Course 02: Full-Stack React &amp; Next.js</a:t>
            </a:r>
          </a:p>
          <a:p>
            <a:pPr>
              <a:spcAft>
                <a:spcPts val="400"/>
              </a:spcAft>
              <a:defRPr sz="1050">
                <a:solidFill>
                  <a:srgbClr val="2563EB"/>
                </a:solidFill>
              </a:defRPr>
            </a:pPr>
            <a:r>
              <a:t>30 Days Complete • 120 Interactive Quests</a:t>
            </a:r>
          </a:p>
          <a:p>
            <a:pPr>
              <a:spcAft>
                <a:spcPts val="300"/>
              </a:spcAft>
              <a:defRPr sz="1050">
                <a:solidFill>
                  <a:srgbClr val="334155"/>
                </a:solidFill>
              </a:defRPr>
            </a:pPr>
            <a:r>
              <a:t>• What Students Learn: Modern React 19, Next.js App Router, TypeScript, Tailwind CSS, Server Components (RSC), and edge streaming.</a:t>
            </a:r>
          </a:p>
          <a:p>
            <a:pPr>
              <a:spcAft>
                <a:spcPts val="300"/>
              </a:spcAft>
              <a:defRPr sz="1050">
                <a:solidFill>
                  <a:srgbClr val="334155"/>
                </a:solidFill>
              </a:defRPr>
            </a:pPr>
            <a:r>
              <a:t>• How We Teach: Students build full-stack web applications in the browser with live preview, Flight serialization inspection, and state synchronization.</a:t>
            </a:r>
          </a:p>
          <a:p>
            <a:pPr>
              <a:spcAft>
                <a:spcPts val="300"/>
              </a:spcAft>
              <a:defRPr sz="1050">
                <a:solidFill>
                  <a:srgbClr val="334155"/>
                </a:solidFill>
              </a:defRPr>
            </a:pPr>
            <a:r>
              <a:t>• Why We Teach It: Next.js is the global industry standard for modern enterprise frontend and full-stack web development.</a:t>
            </a:r>
          </a:p>
          <a:p>
            <a:pPr>
              <a:spcAft>
                <a:spcPts val="300"/>
              </a:spcAft>
              <a:defRPr sz="1050">
                <a:solidFill>
                  <a:srgbClr val="334155"/>
                </a:solidFill>
              </a:defRPr>
            </a:pPr>
            <a:r>
              <a:t>• Where It Leads: Senior Full-Stack Engineer, Frontend Architect, React Platform Lead. Starting Salary: Rs 14–25 LPA ($120k–$160k).</a:t>
            </a:r>
          </a:p>
          <a:p>
            <a:pPr>
              <a:spcAft>
                <a:spcPts val="300"/>
              </a:spcAft>
              <a:defRPr sz="1050">
                <a:solidFill>
                  <a:srgbClr val="334155"/>
                </a:solidFill>
              </a:defRPr>
            </a:pPr>
            <a:r>
              <a:t>• Live Capstone on GitHub: Sovereign Microservices Web Portal with dynamic authentication, streaming SSR, and optimistic state mutations.</a:t>
            </a:r>
          </a:p>
        </p:txBody>
      </p:sp>
      <p:sp>
        <p:nvSpPr>
          <p:cNvPr id="10" name="Rounded Rectangle 9"/>
          <p:cNvSpPr/>
          <p:nvPr/>
        </p:nvSpPr>
        <p:spPr>
          <a:xfrm>
            <a:off x="6217920" y="1645920"/>
            <a:ext cx="5212080" cy="4480560"/>
          </a:xfrm>
          <a:prstGeom prst="roundRect">
            <a:avLst/>
          </a:prstGeom>
          <a:solidFill>
            <a:srgbClr val="FFFFFF"/>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10512"/>
            <a:ext cx="4846320" cy="4151376"/>
          </a:xfrm>
          <a:prstGeom prst="rect">
            <a:avLst/>
          </a:prstGeom>
          <a:noFill/>
        </p:spPr>
        <p:txBody>
          <a:bodyPr wrap="square">
            <a:spAutoFit/>
          </a:bodyPr>
          <a:lstStyle/>
          <a:p>
            <a:pPr>
              <a:spcAft>
                <a:spcPts val="200"/>
              </a:spcAft>
              <a:defRPr sz="950" b="1">
                <a:solidFill>
                  <a:srgbClr val="10B981"/>
                </a:solidFill>
              </a:defRPr>
            </a:pPr>
            <a:r>
              <a:t>PYTHON FULLSTACK FLAGSHIP (100% LIVE)</a:t>
            </a:r>
          </a:p>
          <a:p>
            <a:pPr>
              <a:spcAft>
                <a:spcPts val="200"/>
              </a:spcAft>
              <a:defRPr sz="1400" b="1">
                <a:solidFill>
                  <a:srgbClr val="0F172A"/>
                </a:solidFill>
              </a:defRPr>
            </a:pPr>
            <a:r>
              <a:t>Course 20: Python Fullstack &amp; Backend</a:t>
            </a:r>
          </a:p>
          <a:p>
            <a:pPr>
              <a:spcAft>
                <a:spcPts val="400"/>
              </a:spcAft>
              <a:defRPr sz="1050">
                <a:solidFill>
                  <a:srgbClr val="10B981"/>
                </a:solidFill>
              </a:defRPr>
            </a:pPr>
            <a:r>
              <a:t>30 Days Complete • 120 Interactive Quests</a:t>
            </a:r>
          </a:p>
          <a:p>
            <a:pPr>
              <a:spcAft>
                <a:spcPts val="300"/>
              </a:spcAft>
              <a:defRPr sz="1050">
                <a:solidFill>
                  <a:srgbClr val="334155"/>
                </a:solidFill>
              </a:defRPr>
            </a:pPr>
            <a:r>
              <a:t>• What Students Learn: Advanced Python 3.12, FastAPI, AsyncIO event loops, PostgreSQL database connection pools, and Redis caching.</a:t>
            </a:r>
          </a:p>
          <a:p>
            <a:pPr>
              <a:spcAft>
                <a:spcPts val="300"/>
              </a:spcAft>
              <a:defRPr sz="1050">
                <a:solidFill>
                  <a:srgbClr val="334155"/>
                </a:solidFill>
              </a:defRPr>
            </a:pPr>
            <a:r>
              <a:t>• How We Teach: Students dissect memory profiling, async task queues, generator pipelines, and production REST/GraphQL API contracts.</a:t>
            </a:r>
          </a:p>
          <a:p>
            <a:pPr>
              <a:spcAft>
                <a:spcPts val="300"/>
              </a:spcAft>
              <a:defRPr sz="1050">
                <a:solidFill>
                  <a:srgbClr val="334155"/>
                </a:solidFill>
              </a:defRPr>
            </a:pPr>
            <a:r>
              <a:t>• Why We Teach It: Python powers the backend of modern AI applications, data engineering platforms, and high-scale cloud services.</a:t>
            </a:r>
          </a:p>
          <a:p>
            <a:pPr>
              <a:spcAft>
                <a:spcPts val="300"/>
              </a:spcAft>
              <a:defRPr sz="1050">
                <a:solidFill>
                  <a:srgbClr val="334155"/>
                </a:solidFill>
              </a:defRPr>
            </a:pPr>
            <a:r>
              <a:t>• Where It Leads: Python Backend Engineer, AI Full-Stack Developer, API Platform Architect. Starting Salary: Rs 12–24 LPA ($110k–$150k).</a:t>
            </a:r>
          </a:p>
          <a:p>
            <a:pPr>
              <a:spcAft>
                <a:spcPts val="300"/>
              </a:spcAft>
              <a:defRPr sz="1050">
                <a:solidFill>
                  <a:srgbClr val="334155"/>
                </a:solidFill>
              </a:defRPr>
            </a:pPr>
            <a:r>
              <a:t>• Live Capstone on GitHub: Enterprise Asynchronous Job Queue with distributed workers, retry backoff, and PostgreSQL persistence.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ENTERPRISE ENGINEERING INFRASTRUCTURE</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04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Core Software &amp; Cloud Engineering (Courses 01, 03, 04, 05, 06)</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5 Foundation Tracks Transforming Beginners into Enterprise Infrastructure Engineers (100% Complete)</a:t>
            </a:r>
          </a:p>
        </p:txBody>
      </p:sp>
      <p:sp>
        <p:nvSpPr>
          <p:cNvPr id="8" name="Rounded Rectangle 7"/>
          <p:cNvSpPr/>
          <p:nvPr/>
        </p:nvSpPr>
        <p:spPr>
          <a:xfrm>
            <a:off x="731520" y="1645920"/>
            <a:ext cx="329184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2926080" cy="1865376"/>
          </a:xfrm>
          <a:prstGeom prst="rect">
            <a:avLst/>
          </a:prstGeom>
          <a:noFill/>
        </p:spPr>
        <p:txBody>
          <a:bodyPr wrap="square">
            <a:spAutoFit/>
          </a:bodyPr>
          <a:lstStyle/>
          <a:p>
            <a:pPr>
              <a:spcAft>
                <a:spcPts val="200"/>
              </a:spcAft>
              <a:defRPr sz="950" b="1">
                <a:solidFill>
                  <a:srgbClr val="2563EB"/>
                </a:solidFill>
              </a:defRPr>
            </a:pPr>
            <a:r>
              <a:t>100% BUILT (30 DAYS)</a:t>
            </a:r>
          </a:p>
          <a:p>
            <a:pPr>
              <a:spcAft>
                <a:spcPts val="200"/>
              </a:spcAft>
              <a:defRPr sz="1400" b="1">
                <a:solidFill>
                  <a:srgbClr val="0F172A"/>
                </a:solidFill>
              </a:defRPr>
            </a:pPr>
            <a:r>
              <a:t>Course 01: Java Logic</a:t>
            </a:r>
          </a:p>
          <a:p>
            <a:pPr>
              <a:spcAft>
                <a:spcPts val="400"/>
              </a:spcAft>
              <a:defRPr sz="1050">
                <a:solidFill>
                  <a:srgbClr val="2563EB"/>
                </a:solidFill>
              </a:defRPr>
            </a:pPr>
            <a:r>
              <a:t>Enterprise Server Foundations</a:t>
            </a:r>
          </a:p>
          <a:p>
            <a:pPr>
              <a:spcAft>
                <a:spcPts val="300"/>
              </a:spcAft>
              <a:defRPr sz="1050">
                <a:solidFill>
                  <a:srgbClr val="334155"/>
                </a:solidFill>
              </a:defRPr>
            </a:pPr>
            <a:r>
              <a:t>• Java 21 LTS core syntax, OOP encapsulation, memory stack/heap.</a:t>
            </a:r>
          </a:p>
          <a:p>
            <a:pPr>
              <a:spcAft>
                <a:spcPts val="300"/>
              </a:spcAft>
              <a:defRPr sz="1050">
                <a:solidFill>
                  <a:srgbClr val="334155"/>
                </a:solidFill>
              </a:defRPr>
            </a:pPr>
            <a:r>
              <a:t>• AutoCloseable resource safety, streams, and Project Loom virtual threads.</a:t>
            </a:r>
          </a:p>
          <a:p>
            <a:pPr>
              <a:spcAft>
                <a:spcPts val="300"/>
              </a:spcAft>
              <a:defRPr sz="1050">
                <a:solidFill>
                  <a:srgbClr val="334155"/>
                </a:solidFill>
              </a:defRPr>
            </a:pPr>
            <a:r>
              <a:t>• Career: Java Enterprise Developer (Rs 10–20 LPA).</a:t>
            </a:r>
          </a:p>
        </p:txBody>
      </p:sp>
      <p:sp>
        <p:nvSpPr>
          <p:cNvPr id="10" name="Rounded Rectangle 9"/>
          <p:cNvSpPr/>
          <p:nvPr/>
        </p:nvSpPr>
        <p:spPr>
          <a:xfrm>
            <a:off x="4389120" y="1645920"/>
            <a:ext cx="338328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810512"/>
            <a:ext cx="3017520" cy="1865376"/>
          </a:xfrm>
          <a:prstGeom prst="rect">
            <a:avLst/>
          </a:prstGeom>
          <a:noFill/>
        </p:spPr>
        <p:txBody>
          <a:bodyPr wrap="square">
            <a:spAutoFit/>
          </a:bodyPr>
          <a:lstStyle/>
          <a:p>
            <a:pPr>
              <a:spcAft>
                <a:spcPts val="200"/>
              </a:spcAft>
              <a:defRPr sz="950" b="1">
                <a:solidFill>
                  <a:srgbClr val="2563EB"/>
                </a:solidFill>
              </a:defRPr>
            </a:pPr>
            <a:r>
              <a:t>100% BUILT (30 DAYS)</a:t>
            </a:r>
          </a:p>
          <a:p>
            <a:pPr>
              <a:spcAft>
                <a:spcPts val="200"/>
              </a:spcAft>
              <a:defRPr sz="1400" b="1">
                <a:solidFill>
                  <a:srgbClr val="0F172A"/>
                </a:solidFill>
              </a:defRPr>
            </a:pPr>
            <a:r>
              <a:t>Course 03: Node.js Backend</a:t>
            </a:r>
          </a:p>
          <a:p>
            <a:pPr>
              <a:spcAft>
                <a:spcPts val="400"/>
              </a:spcAft>
              <a:defRPr sz="1050">
                <a:solidFill>
                  <a:srgbClr val="2563EB"/>
                </a:solidFill>
              </a:defRPr>
            </a:pPr>
            <a:r>
              <a:t>High-Throughput Microservices</a:t>
            </a:r>
          </a:p>
          <a:p>
            <a:pPr>
              <a:spcAft>
                <a:spcPts val="300"/>
              </a:spcAft>
              <a:defRPr sz="1050">
                <a:solidFill>
                  <a:srgbClr val="334155"/>
                </a:solidFill>
              </a:defRPr>
            </a:pPr>
            <a:r>
              <a:t>• Node.js event loop, libuv microtask queues, stream pipelines.</a:t>
            </a:r>
          </a:p>
          <a:p>
            <a:pPr>
              <a:spcAft>
                <a:spcPts val="300"/>
              </a:spcAft>
              <a:defRPr sz="1050">
                <a:solidFill>
                  <a:srgbClr val="334155"/>
                </a:solidFill>
              </a:defRPr>
            </a:pPr>
            <a:r>
              <a:t>• TypeScript enterprise schemas, JWT auth, rate-limiting middleware.</a:t>
            </a:r>
          </a:p>
          <a:p>
            <a:pPr>
              <a:spcAft>
                <a:spcPts val="300"/>
              </a:spcAft>
              <a:defRPr sz="1050">
                <a:solidFill>
                  <a:srgbClr val="334155"/>
                </a:solidFill>
              </a:defRPr>
            </a:pPr>
            <a:r>
              <a:t>• Career: Node.js Backend Engineer (Rs 12–22 LPA).</a:t>
            </a:r>
          </a:p>
        </p:txBody>
      </p:sp>
      <p:sp>
        <p:nvSpPr>
          <p:cNvPr id="12" name="Rounded Rectangle 11"/>
          <p:cNvSpPr/>
          <p:nvPr/>
        </p:nvSpPr>
        <p:spPr>
          <a:xfrm>
            <a:off x="8138160" y="1645920"/>
            <a:ext cx="329184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810512"/>
            <a:ext cx="2926080" cy="1865376"/>
          </a:xfrm>
          <a:prstGeom prst="rect">
            <a:avLst/>
          </a:prstGeom>
          <a:noFill/>
        </p:spPr>
        <p:txBody>
          <a:bodyPr wrap="square">
            <a:spAutoFit/>
          </a:bodyPr>
          <a:lstStyle/>
          <a:p>
            <a:pPr>
              <a:spcAft>
                <a:spcPts val="200"/>
              </a:spcAft>
              <a:defRPr sz="950" b="1">
                <a:solidFill>
                  <a:srgbClr val="2563EB"/>
                </a:solidFill>
              </a:defRPr>
            </a:pPr>
            <a:r>
              <a:t>100% BUILT (30 DAYS)</a:t>
            </a:r>
          </a:p>
          <a:p>
            <a:pPr>
              <a:spcAft>
                <a:spcPts val="200"/>
              </a:spcAft>
              <a:defRPr sz="1400" b="1">
                <a:solidFill>
                  <a:srgbClr val="0F172A"/>
                </a:solidFill>
              </a:defRPr>
            </a:pPr>
            <a:r>
              <a:t>Course 04: Cloud Native (AWS)</a:t>
            </a:r>
          </a:p>
          <a:p>
            <a:pPr>
              <a:spcAft>
                <a:spcPts val="400"/>
              </a:spcAft>
              <a:defRPr sz="1050">
                <a:solidFill>
                  <a:srgbClr val="2563EB"/>
                </a:solidFill>
              </a:defRPr>
            </a:pPr>
            <a:r>
              <a:t>Cloud Scalability &amp; Reliability</a:t>
            </a:r>
          </a:p>
          <a:p>
            <a:pPr>
              <a:spcAft>
                <a:spcPts val="300"/>
              </a:spcAft>
              <a:defRPr sz="1050">
                <a:solidFill>
                  <a:srgbClr val="334155"/>
                </a:solidFill>
              </a:defRPr>
            </a:pPr>
            <a:r>
              <a:t>• AWS architecture: EC2, S3, RDS, Lambda serverless, API Gateway.</a:t>
            </a:r>
          </a:p>
          <a:p>
            <a:pPr>
              <a:spcAft>
                <a:spcPts val="300"/>
              </a:spcAft>
              <a:defRPr sz="1050">
                <a:solidFill>
                  <a:srgbClr val="334155"/>
                </a:solidFill>
              </a:defRPr>
            </a:pPr>
            <a:r>
              <a:t>• IAM zero-trust policies, VPC private subnets, CloudFront CDN.</a:t>
            </a:r>
          </a:p>
          <a:p>
            <a:pPr>
              <a:spcAft>
                <a:spcPts val="300"/>
              </a:spcAft>
              <a:defRPr sz="1050">
                <a:solidFill>
                  <a:srgbClr val="334155"/>
                </a:solidFill>
              </a:defRPr>
            </a:pPr>
            <a:r>
              <a:t>• Career: Cloud Solutions Architect (Rs 14–26 LPA).</a:t>
            </a:r>
          </a:p>
        </p:txBody>
      </p:sp>
      <p:sp>
        <p:nvSpPr>
          <p:cNvPr id="14" name="Rounded Rectangle 13"/>
          <p:cNvSpPr/>
          <p:nvPr/>
        </p:nvSpPr>
        <p:spPr>
          <a:xfrm>
            <a:off x="731520" y="3977639"/>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42231"/>
            <a:ext cx="4754880" cy="2002536"/>
          </a:xfrm>
          <a:prstGeom prst="rect">
            <a:avLst/>
          </a:prstGeom>
          <a:noFill/>
        </p:spPr>
        <p:txBody>
          <a:bodyPr wrap="square">
            <a:spAutoFit/>
          </a:bodyPr>
          <a:lstStyle/>
          <a:p>
            <a:pPr>
              <a:spcAft>
                <a:spcPts val="200"/>
              </a:spcAft>
              <a:defRPr sz="950" b="1">
                <a:solidFill>
                  <a:srgbClr val="10B981"/>
                </a:solidFill>
              </a:defRPr>
            </a:pPr>
            <a:r>
              <a:t>100% BUILT (30 DAYS)</a:t>
            </a:r>
          </a:p>
          <a:p>
            <a:pPr>
              <a:spcAft>
                <a:spcPts val="200"/>
              </a:spcAft>
              <a:defRPr sz="1400" b="1">
                <a:solidFill>
                  <a:srgbClr val="0F172A"/>
                </a:solidFill>
              </a:defRPr>
            </a:pPr>
            <a:r>
              <a:t>Course 05: DevOps &amp; CI/CD Pipelines</a:t>
            </a:r>
          </a:p>
          <a:p>
            <a:pPr>
              <a:spcAft>
                <a:spcPts val="400"/>
              </a:spcAft>
              <a:defRPr sz="1050">
                <a:solidFill>
                  <a:srgbClr val="10B981"/>
                </a:solidFill>
              </a:defRPr>
            </a:pPr>
            <a:r>
              <a:t>Automated Delivery &amp; Self-Healing Pods</a:t>
            </a:r>
          </a:p>
          <a:p>
            <a:pPr>
              <a:spcAft>
                <a:spcPts val="300"/>
              </a:spcAft>
              <a:defRPr sz="1050">
                <a:solidFill>
                  <a:srgbClr val="334155"/>
                </a:solidFill>
              </a:defRPr>
            </a:pPr>
            <a:r>
              <a:t>• Docker multi-stage builds, container orchestration, Kubernetes pod lifecycles.</a:t>
            </a:r>
          </a:p>
          <a:p>
            <a:pPr>
              <a:spcAft>
                <a:spcPts val="300"/>
              </a:spcAft>
              <a:defRPr sz="1050">
                <a:solidFill>
                  <a:srgbClr val="334155"/>
                </a:solidFill>
              </a:defRPr>
            </a:pPr>
            <a:r>
              <a:t>• Automated GitHub Actions CI/CD workflows, Terraform Infrastructure as Code (IaC).</a:t>
            </a:r>
          </a:p>
          <a:p>
            <a:pPr>
              <a:spcAft>
                <a:spcPts val="300"/>
              </a:spcAft>
              <a:defRPr sz="1050">
                <a:solidFill>
                  <a:srgbClr val="334155"/>
                </a:solidFill>
              </a:defRPr>
            </a:pPr>
            <a:r>
              <a:t>• Why &amp; Where: Tech companies require automated deployment. Leads to SRE and DevOps Engineer roles (Rs 14–28 LPA).</a:t>
            </a:r>
          </a:p>
        </p:txBody>
      </p:sp>
      <p:sp>
        <p:nvSpPr>
          <p:cNvPr id="16" name="Rounded Rectangle 15"/>
          <p:cNvSpPr/>
          <p:nvPr/>
        </p:nvSpPr>
        <p:spPr>
          <a:xfrm>
            <a:off x="6217920" y="3977639"/>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142231"/>
            <a:ext cx="4846320" cy="2002536"/>
          </a:xfrm>
          <a:prstGeom prst="rect">
            <a:avLst/>
          </a:prstGeom>
          <a:noFill/>
        </p:spPr>
        <p:txBody>
          <a:bodyPr wrap="square">
            <a:spAutoFit/>
          </a:bodyPr>
          <a:lstStyle/>
          <a:p>
            <a:pPr>
              <a:spcAft>
                <a:spcPts val="200"/>
              </a:spcAft>
              <a:defRPr sz="950" b="1">
                <a:solidFill>
                  <a:srgbClr val="7E22CE"/>
                </a:solidFill>
              </a:defRPr>
            </a:pPr>
            <a:r>
              <a:t>100% BUILT (30 DAYS)</a:t>
            </a:r>
          </a:p>
          <a:p>
            <a:pPr>
              <a:spcAft>
                <a:spcPts val="200"/>
              </a:spcAft>
              <a:defRPr sz="1400" b="1">
                <a:solidFill>
                  <a:srgbClr val="0F172A"/>
                </a:solidFill>
              </a:defRPr>
            </a:pPr>
            <a:r>
              <a:t>Course 06: UI/UX Design Systems</a:t>
            </a:r>
          </a:p>
          <a:p>
            <a:pPr>
              <a:spcAft>
                <a:spcPts val="400"/>
              </a:spcAft>
              <a:defRPr sz="1050">
                <a:solidFill>
                  <a:srgbClr val="7E22CE"/>
                </a:solidFill>
              </a:defRPr>
            </a:pPr>
            <a:r>
              <a:t>Component Tokens &amp; Production Accessibility</a:t>
            </a:r>
          </a:p>
          <a:p>
            <a:pPr>
              <a:spcAft>
                <a:spcPts val="300"/>
              </a:spcAft>
              <a:defRPr sz="1050">
                <a:solidFill>
                  <a:srgbClr val="334155"/>
                </a:solidFill>
              </a:defRPr>
            </a:pPr>
            <a:r>
              <a:t>• Atomic design architecture, WCAG 2.1 AA accessibility, design token variables.</a:t>
            </a:r>
          </a:p>
          <a:p>
            <a:pPr>
              <a:spcAft>
                <a:spcPts val="300"/>
              </a:spcAft>
              <a:defRPr sz="1050">
                <a:solidFill>
                  <a:srgbClr val="334155"/>
                </a:solidFill>
              </a:defRPr>
            </a:pPr>
            <a:r>
              <a:t>• Figma to code translation, responsive fluid typography, dark mode theming.</a:t>
            </a:r>
          </a:p>
          <a:p>
            <a:pPr>
              <a:spcAft>
                <a:spcPts val="300"/>
              </a:spcAft>
              <a:defRPr sz="1050">
                <a:solidFill>
                  <a:srgbClr val="334155"/>
                </a:solidFill>
              </a:defRPr>
            </a:pPr>
            <a:r>
              <a:t>• Why &amp; Where: Bridges design and engineering. Leads to Design Systems Engineer &amp; Frontend Architect roles (Rs 12–22 LPA).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DEEP COMPUTER SCIENCE &amp; SYSTEMS</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05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Algorithms, Systems &amp; Data Internals (Courses 07, 08, 09, 10, 11)</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Deep Systems Engineering That Generative AI Cannot Automate (100% Complete)</a:t>
            </a:r>
          </a:p>
        </p:txBody>
      </p:sp>
      <p:sp>
        <p:nvSpPr>
          <p:cNvPr id="8" name="Rounded Rectangle 7"/>
          <p:cNvSpPr/>
          <p:nvPr/>
        </p:nvSpPr>
        <p:spPr>
          <a:xfrm>
            <a:off x="731520" y="1645920"/>
            <a:ext cx="329184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2926080" cy="1865376"/>
          </a:xfrm>
          <a:prstGeom prst="rect">
            <a:avLst/>
          </a:prstGeom>
          <a:noFill/>
        </p:spPr>
        <p:txBody>
          <a:bodyPr wrap="square">
            <a:spAutoFit/>
          </a:bodyPr>
          <a:lstStyle/>
          <a:p>
            <a:pPr>
              <a:spcAft>
                <a:spcPts val="200"/>
              </a:spcAft>
              <a:defRPr sz="950" b="1">
                <a:solidFill>
                  <a:srgbClr val="7E22CE"/>
                </a:solidFill>
              </a:defRPr>
            </a:pPr>
            <a:r>
              <a:t>100% BUILT (30 DAYS)</a:t>
            </a:r>
          </a:p>
          <a:p>
            <a:pPr>
              <a:spcAft>
                <a:spcPts val="200"/>
              </a:spcAft>
              <a:defRPr sz="1400" b="1">
                <a:solidFill>
                  <a:srgbClr val="0F172A"/>
                </a:solidFill>
              </a:defRPr>
            </a:pPr>
            <a:r>
              <a:t>Course 07: Data Structures (DSA)</a:t>
            </a:r>
          </a:p>
          <a:p>
            <a:pPr>
              <a:spcAft>
                <a:spcPts val="400"/>
              </a:spcAft>
              <a:defRPr sz="1050">
                <a:solidFill>
                  <a:srgbClr val="7E22CE"/>
                </a:solidFill>
              </a:defRPr>
            </a:pPr>
            <a:r>
              <a:t>Mastering Technical Interviews</a:t>
            </a:r>
          </a:p>
          <a:p>
            <a:pPr>
              <a:spcAft>
                <a:spcPts val="300"/>
              </a:spcAft>
              <a:defRPr sz="1050">
                <a:solidFill>
                  <a:srgbClr val="334155"/>
                </a:solidFill>
              </a:defRPr>
            </a:pPr>
            <a:r>
              <a:t>• Red-Black trees, graph BFS/DFS, dynamic programming grids.</a:t>
            </a:r>
          </a:p>
          <a:p>
            <a:pPr>
              <a:spcAft>
                <a:spcPts val="300"/>
              </a:spcAft>
              <a:defRPr sz="1050">
                <a:solidFill>
                  <a:srgbClr val="334155"/>
                </a:solidFill>
              </a:defRPr>
            </a:pPr>
            <a:r>
              <a:t>• Amortized complexity, memory bounds, technical interview drill.</a:t>
            </a:r>
          </a:p>
          <a:p>
            <a:pPr>
              <a:spcAft>
                <a:spcPts val="300"/>
              </a:spcAft>
              <a:defRPr sz="1050">
                <a:solidFill>
                  <a:srgbClr val="334155"/>
                </a:solidFill>
              </a:defRPr>
            </a:pPr>
            <a:r>
              <a:t>• Career: Algorithm Engineer (Rs 15–30 LPA).</a:t>
            </a:r>
          </a:p>
        </p:txBody>
      </p:sp>
      <p:sp>
        <p:nvSpPr>
          <p:cNvPr id="10" name="Rounded Rectangle 9"/>
          <p:cNvSpPr/>
          <p:nvPr/>
        </p:nvSpPr>
        <p:spPr>
          <a:xfrm>
            <a:off x="4389120" y="1645920"/>
            <a:ext cx="338328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810512"/>
            <a:ext cx="3017520" cy="1865376"/>
          </a:xfrm>
          <a:prstGeom prst="rect">
            <a:avLst/>
          </a:prstGeom>
          <a:noFill/>
        </p:spPr>
        <p:txBody>
          <a:bodyPr wrap="square">
            <a:spAutoFit/>
          </a:bodyPr>
          <a:lstStyle/>
          <a:p>
            <a:pPr>
              <a:spcAft>
                <a:spcPts val="200"/>
              </a:spcAft>
              <a:defRPr sz="950" b="1">
                <a:solidFill>
                  <a:srgbClr val="2563EB"/>
                </a:solidFill>
              </a:defRPr>
            </a:pPr>
            <a:r>
              <a:t>100% BUILT (30 DAYS)</a:t>
            </a:r>
          </a:p>
          <a:p>
            <a:pPr>
              <a:spcAft>
                <a:spcPts val="200"/>
              </a:spcAft>
              <a:defRPr sz="1400" b="1">
                <a:solidFill>
                  <a:srgbClr val="0F172A"/>
                </a:solidFill>
              </a:defRPr>
            </a:pPr>
            <a:r>
              <a:t>Course 08: Mobile Development</a:t>
            </a:r>
          </a:p>
          <a:p>
            <a:pPr>
              <a:spcAft>
                <a:spcPts val="400"/>
              </a:spcAft>
              <a:defRPr sz="1050">
                <a:solidFill>
                  <a:srgbClr val="2563EB"/>
                </a:solidFill>
              </a:defRPr>
            </a:pPr>
            <a:r>
              <a:t>iOS &amp; Android Cross-Platform</a:t>
            </a:r>
          </a:p>
          <a:p>
            <a:pPr>
              <a:spcAft>
                <a:spcPts val="300"/>
              </a:spcAft>
              <a:defRPr sz="1050">
                <a:solidFill>
                  <a:srgbClr val="334155"/>
                </a:solidFill>
              </a:defRPr>
            </a:pPr>
            <a:r>
              <a:t>• React Native cross-platform architecture, native UI threads.</a:t>
            </a:r>
          </a:p>
          <a:p>
            <a:pPr>
              <a:spcAft>
                <a:spcPts val="300"/>
              </a:spcAft>
              <a:defRPr sz="1050">
                <a:solidFill>
                  <a:srgbClr val="334155"/>
                </a:solidFill>
              </a:defRPr>
            </a:pPr>
            <a:r>
              <a:t>• FlatList memory optimization, gestures, offline SQLite sync.</a:t>
            </a:r>
          </a:p>
          <a:p>
            <a:pPr>
              <a:spcAft>
                <a:spcPts val="300"/>
              </a:spcAft>
              <a:defRPr sz="1050">
                <a:solidFill>
                  <a:srgbClr val="334155"/>
                </a:solidFill>
              </a:defRPr>
            </a:pPr>
            <a:r>
              <a:t>• Career: Mobile App Engineer (Rs 12–24 LPA).</a:t>
            </a:r>
          </a:p>
        </p:txBody>
      </p:sp>
      <p:sp>
        <p:nvSpPr>
          <p:cNvPr id="12" name="Rounded Rectangle 11"/>
          <p:cNvSpPr/>
          <p:nvPr/>
        </p:nvSpPr>
        <p:spPr>
          <a:xfrm>
            <a:off x="8138160" y="1645920"/>
            <a:ext cx="329184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810512"/>
            <a:ext cx="2926080" cy="1865376"/>
          </a:xfrm>
          <a:prstGeom prst="rect">
            <a:avLst/>
          </a:prstGeom>
          <a:noFill/>
        </p:spPr>
        <p:txBody>
          <a:bodyPr wrap="square">
            <a:spAutoFit/>
          </a:bodyPr>
          <a:lstStyle/>
          <a:p>
            <a:pPr>
              <a:spcAft>
                <a:spcPts val="200"/>
              </a:spcAft>
              <a:defRPr sz="950" b="1">
                <a:solidFill>
                  <a:srgbClr val="E11D48"/>
                </a:solidFill>
              </a:defRPr>
            </a:pPr>
            <a:r>
              <a:t>100% BUILT (30 DAYS)</a:t>
            </a:r>
          </a:p>
          <a:p>
            <a:pPr>
              <a:spcAft>
                <a:spcPts val="200"/>
              </a:spcAft>
              <a:defRPr sz="1400" b="1">
                <a:solidFill>
                  <a:srgbClr val="0F172A"/>
                </a:solidFill>
              </a:defRPr>
            </a:pPr>
            <a:r>
              <a:t>Course 09: Cybersecurity Systems</a:t>
            </a:r>
          </a:p>
          <a:p>
            <a:pPr>
              <a:spcAft>
                <a:spcPts val="400"/>
              </a:spcAft>
              <a:defRPr sz="1050">
                <a:solidFill>
                  <a:srgbClr val="E11D48"/>
                </a:solidFill>
              </a:defRPr>
            </a:pPr>
            <a:r>
              <a:t>Defending Enterprise Systems</a:t>
            </a:r>
          </a:p>
          <a:p>
            <a:pPr>
              <a:spcAft>
                <a:spcPts val="300"/>
              </a:spcAft>
              <a:defRPr sz="1050">
                <a:solidFill>
                  <a:srgbClr val="334155"/>
                </a:solidFill>
              </a:defRPr>
            </a:pPr>
            <a:r>
              <a:t>• Zero-Trust architecture, AES-GCM encryption, memory safety.</a:t>
            </a:r>
          </a:p>
          <a:p>
            <a:pPr>
              <a:spcAft>
                <a:spcPts val="300"/>
              </a:spcAft>
              <a:defRPr sz="1050">
                <a:solidFill>
                  <a:srgbClr val="334155"/>
                </a:solidFill>
              </a:defRPr>
            </a:pPr>
            <a:r>
              <a:t>• Buffer overflow defenses, OWASP Top 10, SOC 2 compliance.</a:t>
            </a:r>
          </a:p>
          <a:p>
            <a:pPr>
              <a:spcAft>
                <a:spcPts val="300"/>
              </a:spcAft>
              <a:defRPr sz="1050">
                <a:solidFill>
                  <a:srgbClr val="334155"/>
                </a:solidFill>
              </a:defRPr>
            </a:pPr>
            <a:r>
              <a:t>• Career: Security Engineer (Rs 15–32 LPA).</a:t>
            </a:r>
          </a:p>
        </p:txBody>
      </p:sp>
      <p:sp>
        <p:nvSpPr>
          <p:cNvPr id="14" name="Rounded Rectangle 13"/>
          <p:cNvSpPr/>
          <p:nvPr/>
        </p:nvSpPr>
        <p:spPr>
          <a:xfrm>
            <a:off x="731520" y="3977639"/>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42231"/>
            <a:ext cx="4754880" cy="2002536"/>
          </a:xfrm>
          <a:prstGeom prst="rect">
            <a:avLst/>
          </a:prstGeom>
          <a:noFill/>
        </p:spPr>
        <p:txBody>
          <a:bodyPr wrap="square">
            <a:spAutoFit/>
          </a:bodyPr>
          <a:lstStyle/>
          <a:p>
            <a:pPr>
              <a:spcAft>
                <a:spcPts val="200"/>
              </a:spcAft>
              <a:defRPr sz="950" b="1">
                <a:solidFill>
                  <a:srgbClr val="10B981"/>
                </a:solidFill>
              </a:defRPr>
            </a:pPr>
            <a:r>
              <a:t>100% BUILT (30 DAYS)</a:t>
            </a:r>
          </a:p>
          <a:p>
            <a:pPr>
              <a:spcAft>
                <a:spcPts val="200"/>
              </a:spcAft>
              <a:defRPr sz="1400" b="1">
                <a:solidFill>
                  <a:srgbClr val="0F172A"/>
                </a:solidFill>
              </a:defRPr>
            </a:pPr>
            <a:r>
              <a:t>Course 10: Database Systems &amp; SQL Performance</a:t>
            </a:r>
          </a:p>
          <a:p>
            <a:pPr>
              <a:spcAft>
                <a:spcPts val="400"/>
              </a:spcAft>
              <a:defRPr sz="1050">
                <a:solidFill>
                  <a:srgbClr val="10B981"/>
                </a:solidFill>
              </a:defRPr>
            </a:pPr>
            <a:r>
              <a:t>High-Throughput Storage Engines</a:t>
            </a:r>
          </a:p>
          <a:p>
            <a:pPr>
              <a:spcAft>
                <a:spcPts val="300"/>
              </a:spcAft>
              <a:defRPr sz="1050">
                <a:solidFill>
                  <a:srgbClr val="334155"/>
                </a:solidFill>
              </a:defRPr>
            </a:pPr>
            <a:r>
              <a:t>• Database engine internals: B+ Tree index structures, Write-Ahead Logs (WAL), MVCC.</a:t>
            </a:r>
          </a:p>
          <a:p>
            <a:pPr>
              <a:spcAft>
                <a:spcPts val="300"/>
              </a:spcAft>
              <a:defRPr sz="1050">
                <a:solidFill>
                  <a:srgbClr val="334155"/>
                </a:solidFill>
              </a:defRPr>
            </a:pPr>
            <a:r>
              <a:t>• SQL execution plans, deadlocks, connection pooling, and multi-version concurrency.</a:t>
            </a:r>
          </a:p>
          <a:p>
            <a:pPr>
              <a:spcAft>
                <a:spcPts val="300"/>
              </a:spcAft>
              <a:defRPr sz="1050">
                <a:solidFill>
                  <a:srgbClr val="334155"/>
                </a:solidFill>
              </a:defRPr>
            </a:pPr>
            <a:r>
              <a:t>• Career: Database Administrator (DBA), Data Platform Engineer (Rs 14–25 LPA).</a:t>
            </a:r>
          </a:p>
        </p:txBody>
      </p:sp>
      <p:sp>
        <p:nvSpPr>
          <p:cNvPr id="16" name="Rounded Rectangle 15"/>
          <p:cNvSpPr/>
          <p:nvPr/>
        </p:nvSpPr>
        <p:spPr>
          <a:xfrm>
            <a:off x="6217920" y="3977639"/>
            <a:ext cx="521208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142231"/>
            <a:ext cx="4846320" cy="2002536"/>
          </a:xfrm>
          <a:prstGeom prst="rect">
            <a:avLst/>
          </a:prstGeom>
          <a:noFill/>
        </p:spPr>
        <p:txBody>
          <a:bodyPr wrap="square">
            <a:spAutoFit/>
          </a:bodyPr>
          <a:lstStyle/>
          <a:p>
            <a:pPr>
              <a:spcAft>
                <a:spcPts val="200"/>
              </a:spcAft>
              <a:defRPr sz="950" b="1">
                <a:solidFill>
                  <a:srgbClr val="2563EB"/>
                </a:solidFill>
              </a:defRPr>
            </a:pPr>
            <a:r>
              <a:t>100% BUILT (30 DAYS)</a:t>
            </a:r>
          </a:p>
          <a:p>
            <a:pPr>
              <a:spcAft>
                <a:spcPts val="200"/>
              </a:spcAft>
              <a:defRPr sz="1400" b="1">
                <a:solidFill>
                  <a:srgbClr val="0F172A"/>
                </a:solidFill>
              </a:defRPr>
            </a:pPr>
            <a:r>
              <a:t>Course 11: High-Scale Distributed Systems</a:t>
            </a:r>
          </a:p>
          <a:p>
            <a:pPr>
              <a:spcAft>
                <a:spcPts val="400"/>
              </a:spcAft>
              <a:defRPr sz="1050">
                <a:solidFill>
                  <a:srgbClr val="2563EB"/>
                </a:solidFill>
              </a:defRPr>
            </a:pPr>
            <a:r>
              <a:t>Global Fault-Tolerant Clusters</a:t>
            </a:r>
          </a:p>
          <a:p>
            <a:pPr>
              <a:spcAft>
                <a:spcPts val="300"/>
              </a:spcAft>
              <a:defRPr sz="1050">
                <a:solidFill>
                  <a:srgbClr val="334155"/>
                </a:solidFill>
              </a:defRPr>
            </a:pPr>
            <a:r>
              <a:t>• Raft consensus protocol, Two-Phase Commits (2PC), CAP theorem trade-offs.</a:t>
            </a:r>
          </a:p>
          <a:p>
            <a:pPr>
              <a:spcAft>
                <a:spcPts val="300"/>
              </a:spcAft>
              <a:defRPr sz="1050">
                <a:solidFill>
                  <a:srgbClr val="334155"/>
                </a:solidFill>
              </a:defRPr>
            </a:pPr>
            <a:r>
              <a:t>• Consistent hashing ring partitions, vector clocks, and distributed lock managers.</a:t>
            </a:r>
          </a:p>
          <a:p>
            <a:pPr>
              <a:spcAft>
                <a:spcPts val="300"/>
              </a:spcAft>
              <a:defRPr sz="1050">
                <a:solidFill>
                  <a:srgbClr val="334155"/>
                </a:solidFill>
              </a:defRPr>
            </a:pPr>
            <a:r>
              <a:t>• Career: Distributed Systems Architect, Principal Infrastructure Engineer (Rs 20–40 LPA).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HIGH-MARGIN DEEP SPECIALIZATIONS</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06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Cutting-Edge AI, 3D Graphics &amp; Quant Systems (Courses 12, 15, 16, 21, 37)</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Elite Career Specializations with Global $200k+ Placement Benchmarks (100% Built &amp; Live)</a:t>
            </a:r>
          </a:p>
        </p:txBody>
      </p:sp>
      <p:sp>
        <p:nvSpPr>
          <p:cNvPr id="8" name="Rounded Rectangle 7"/>
          <p:cNvSpPr/>
          <p:nvPr/>
        </p:nvSpPr>
        <p:spPr>
          <a:xfrm>
            <a:off x="731520" y="1645920"/>
            <a:ext cx="5120640" cy="2240280"/>
          </a:xfrm>
          <a:prstGeom prst="roundRect">
            <a:avLst/>
          </a:prstGeom>
          <a:solidFill>
            <a:srgbClr val="FFFFFF"/>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4754880" cy="1911096"/>
          </a:xfrm>
          <a:prstGeom prst="rect">
            <a:avLst/>
          </a:prstGeom>
          <a:noFill/>
        </p:spPr>
        <p:txBody>
          <a:bodyPr wrap="square">
            <a:spAutoFit/>
          </a:bodyPr>
          <a:lstStyle/>
          <a:p>
            <a:pPr>
              <a:spcAft>
                <a:spcPts val="200"/>
              </a:spcAft>
              <a:defRPr sz="950" b="1">
                <a:solidFill>
                  <a:srgbClr val="D97706"/>
                </a:solidFill>
              </a:defRPr>
            </a:pPr>
            <a:r>
              <a:t>👑 THE CROWN JEWEL (30/30 DAYS LIVE)</a:t>
            </a:r>
          </a:p>
          <a:p>
            <a:pPr>
              <a:spcAft>
                <a:spcPts val="200"/>
              </a:spcAft>
              <a:defRPr sz="1400" b="1">
                <a:solidFill>
                  <a:srgbClr val="0F172A"/>
                </a:solidFill>
              </a:defRPr>
            </a:pPr>
            <a:r>
              <a:t>Course 21: Quant Trading Systems</a:t>
            </a:r>
          </a:p>
          <a:p>
            <a:pPr>
              <a:spcAft>
                <a:spcPts val="400"/>
              </a:spcAft>
              <a:defRPr sz="1050">
                <a:solidFill>
                  <a:srgbClr val="D97706"/>
                </a:solidFill>
              </a:defRPr>
            </a:pPr>
            <a:r>
              <a:t>World's First In-Browser HFT Curriculum</a:t>
            </a:r>
          </a:p>
          <a:p>
            <a:pPr>
              <a:spcAft>
                <a:spcPts val="300"/>
              </a:spcAft>
              <a:defRPr sz="1050">
                <a:solidFill>
                  <a:srgbClr val="334155"/>
                </a:solidFill>
              </a:defRPr>
            </a:pPr>
            <a:r>
              <a:t>• High-Frequency Trading in C++: 41.8ns limit order book (LOB) matching engine.</a:t>
            </a:r>
          </a:p>
          <a:p>
            <a:pPr>
              <a:spcAft>
                <a:spcPts val="300"/>
              </a:spcAft>
              <a:defRPr sz="1050">
                <a:solidFill>
                  <a:srgbClr val="334155"/>
                </a:solidFill>
              </a:defRPr>
            </a:pPr>
            <a:r>
              <a:t>• Kernel bypass, lock-free SPSC circular ring buffers with 64-byte cache alignment.</a:t>
            </a:r>
          </a:p>
          <a:p>
            <a:pPr>
              <a:spcAft>
                <a:spcPts val="300"/>
              </a:spcAft>
              <a:defRPr sz="1050">
                <a:solidFill>
                  <a:srgbClr val="334155"/>
                </a:solidFill>
              </a:defRPr>
            </a:pPr>
            <a:r>
              <a:t>• SEC Rule 15c3-5 pre-trade risk kill switches &amp; Black-Scholes derivatives Greeks.</a:t>
            </a:r>
          </a:p>
          <a:p>
            <a:pPr>
              <a:spcAft>
                <a:spcPts val="300"/>
              </a:spcAft>
              <a:defRPr sz="1050">
                <a:solidFill>
                  <a:srgbClr val="334155"/>
                </a:solidFill>
              </a:defRPr>
            </a:pPr>
            <a:r>
              <a:t>• Career: Quantitative Developer, HFT Trader (Rs 40–80 LPA / $200k–$400k+).</a:t>
            </a:r>
          </a:p>
        </p:txBody>
      </p:sp>
      <p:sp>
        <p:nvSpPr>
          <p:cNvPr id="10" name="Rounded Rectangle 9"/>
          <p:cNvSpPr/>
          <p:nvPr/>
        </p:nvSpPr>
        <p:spPr>
          <a:xfrm>
            <a:off x="6217920" y="1645920"/>
            <a:ext cx="52120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10512"/>
            <a:ext cx="4846320" cy="1911096"/>
          </a:xfrm>
          <a:prstGeom prst="rect">
            <a:avLst/>
          </a:prstGeom>
          <a:noFill/>
        </p:spPr>
        <p:txBody>
          <a:bodyPr wrap="square">
            <a:spAutoFit/>
          </a:bodyPr>
          <a:lstStyle/>
          <a:p>
            <a:pPr>
              <a:spcAft>
                <a:spcPts val="200"/>
              </a:spcAft>
              <a:defRPr sz="950" b="1">
                <a:solidFill>
                  <a:srgbClr val="7E22CE"/>
                </a:solidFill>
              </a:defRPr>
            </a:pPr>
            <a:r>
              <a:t>60 DAYS TOTAL (100% BUILT &amp; EXPANDING)</a:t>
            </a:r>
          </a:p>
          <a:p>
            <a:pPr>
              <a:spcAft>
                <a:spcPts val="200"/>
              </a:spcAft>
              <a:defRPr sz="1400" b="1">
                <a:solidFill>
                  <a:srgbClr val="0F172A"/>
                </a:solidFill>
              </a:defRPr>
            </a:pPr>
            <a:r>
              <a:t>Course 12 &amp; 37: Applied AI &amp; NLP</a:t>
            </a:r>
          </a:p>
          <a:p>
            <a:pPr>
              <a:spcAft>
                <a:spcPts val="400"/>
              </a:spcAft>
              <a:defRPr sz="1050">
                <a:solidFill>
                  <a:srgbClr val="7E22CE"/>
                </a:solidFill>
              </a:defRPr>
            </a:pPr>
            <a:r>
              <a:t>From Neural Networks to Sovereign LLMs</a:t>
            </a:r>
          </a:p>
          <a:p>
            <a:pPr>
              <a:spcAft>
                <a:spcPts val="300"/>
              </a:spcAft>
              <a:defRPr sz="1050">
                <a:solidFill>
                  <a:srgbClr val="334155"/>
                </a:solidFill>
              </a:defRPr>
            </a:pPr>
            <a:r>
              <a:t>• Course 12: Applied AI Foundations: Neural networks, backprop, vector embeddings, RAG.</a:t>
            </a:r>
          </a:p>
          <a:p>
            <a:pPr>
              <a:spcAft>
                <a:spcPts val="300"/>
              </a:spcAft>
              <a:defRPr sz="1050">
                <a:solidFill>
                  <a:srgbClr val="334155"/>
                </a:solidFill>
              </a:defRPr>
            </a:pPr>
            <a:r>
              <a:t>• Course 37: NLP &amp; Transformers: Scaled dot-product self-attention, BPE, LoRA fine-tuning.</a:t>
            </a:r>
          </a:p>
          <a:p>
            <a:pPr>
              <a:spcAft>
                <a:spcPts val="300"/>
              </a:spcAft>
              <a:defRPr sz="1050">
                <a:solidFill>
                  <a:srgbClr val="334155"/>
                </a:solidFill>
              </a:defRPr>
            </a:pPr>
            <a:r>
              <a:t>• Production Guardrails: Citation verification, hallucination filters, and latency bounds.</a:t>
            </a:r>
          </a:p>
          <a:p>
            <a:pPr>
              <a:spcAft>
                <a:spcPts val="300"/>
              </a:spcAft>
              <a:defRPr sz="1050">
                <a:solidFill>
                  <a:srgbClr val="334155"/>
                </a:solidFill>
              </a:defRPr>
            </a:pPr>
            <a:r>
              <a:t>• Career: AI/ML Engineer, LLMOps Specialist (Rs 16–35 LPA / $140k–$210k).</a:t>
            </a:r>
          </a:p>
        </p:txBody>
      </p:sp>
      <p:sp>
        <p:nvSpPr>
          <p:cNvPr id="12" name="Rounded Rectangle 11"/>
          <p:cNvSpPr/>
          <p:nvPr/>
        </p:nvSpPr>
        <p:spPr>
          <a:xfrm>
            <a:off x="731520" y="4069080"/>
            <a:ext cx="512064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233672"/>
            <a:ext cx="4754880" cy="1911096"/>
          </a:xfrm>
          <a:prstGeom prst="rect">
            <a:avLst/>
          </a:prstGeom>
          <a:noFill/>
        </p:spPr>
        <p:txBody>
          <a:bodyPr wrap="square">
            <a:spAutoFit/>
          </a:bodyPr>
          <a:lstStyle/>
          <a:p>
            <a:pPr>
              <a:spcAft>
                <a:spcPts val="200"/>
              </a:spcAft>
              <a:defRPr sz="950" b="1">
                <a:solidFill>
                  <a:srgbClr val="2563EB"/>
                </a:solidFill>
              </a:defRPr>
            </a:pPr>
            <a:r>
              <a:t>100% BUILT (30 DAYS LIVE)</a:t>
            </a:r>
          </a:p>
          <a:p>
            <a:pPr>
              <a:spcAft>
                <a:spcPts val="200"/>
              </a:spcAft>
              <a:defRPr sz="1400" b="1">
                <a:solidFill>
                  <a:srgbClr val="0F172A"/>
                </a:solidFill>
              </a:defRPr>
            </a:pPr>
            <a:r>
              <a:t>Course 15: 3D Graphics &amp; Avatars</a:t>
            </a:r>
          </a:p>
          <a:p>
            <a:pPr>
              <a:spcAft>
                <a:spcPts val="400"/>
              </a:spcAft>
              <a:defRPr sz="1050">
                <a:solidFill>
                  <a:srgbClr val="2563EB"/>
                </a:solidFill>
              </a:defRPr>
            </a:pPr>
            <a:r>
              <a:t>WebGL2 &amp; GPU Shader Graphics</a:t>
            </a:r>
          </a:p>
          <a:p>
            <a:pPr>
              <a:spcAft>
                <a:spcPts val="300"/>
              </a:spcAft>
              <a:defRPr sz="1050">
                <a:solidFill>
                  <a:srgbClr val="334155"/>
                </a:solidFill>
              </a:defRPr>
            </a:pPr>
            <a:r>
              <a:t>• WebGL2 programmable GPU pipelines, Model-View-Projection (MVP) matrix transforms.</a:t>
            </a:r>
          </a:p>
          <a:p>
            <a:pPr>
              <a:spcAft>
                <a:spcPts val="300"/>
              </a:spcAft>
              <a:defRPr sz="1050">
                <a:solidFill>
                  <a:srgbClr val="334155"/>
                </a:solidFill>
              </a:defRPr>
            </a:pPr>
            <a:r>
              <a:t>• Skeletal rigging, inverse kinematics (FABRIK), and quaternion SLERP animation.</a:t>
            </a:r>
          </a:p>
          <a:p>
            <a:pPr>
              <a:spcAft>
                <a:spcPts val="300"/>
              </a:spcAft>
              <a:defRPr sz="1050">
                <a:solidFill>
                  <a:srgbClr val="334155"/>
                </a:solidFill>
              </a:defRPr>
            </a:pPr>
            <a:r>
              <a:t>• Powers PinIT's own 3D AI mentors! Career: 3D Graphics Engineer (Rs 15–30 LPA).</a:t>
            </a:r>
          </a:p>
        </p:txBody>
      </p:sp>
      <p:sp>
        <p:nvSpPr>
          <p:cNvPr id="14" name="Rounded Rectangle 13"/>
          <p:cNvSpPr/>
          <p:nvPr/>
        </p:nvSpPr>
        <p:spPr>
          <a:xfrm>
            <a:off x="6217920" y="4069080"/>
            <a:ext cx="52120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233672"/>
            <a:ext cx="4846320" cy="1911096"/>
          </a:xfrm>
          <a:prstGeom prst="rect">
            <a:avLst/>
          </a:prstGeom>
          <a:noFill/>
        </p:spPr>
        <p:txBody>
          <a:bodyPr wrap="square">
            <a:spAutoFit/>
          </a:bodyPr>
          <a:lstStyle/>
          <a:p>
            <a:pPr>
              <a:spcAft>
                <a:spcPts val="200"/>
              </a:spcAft>
              <a:defRPr sz="950" b="1">
                <a:solidFill>
                  <a:srgbClr val="10B981"/>
                </a:solidFill>
              </a:defRPr>
            </a:pPr>
            <a:r>
              <a:t>100% BUILT (30 DAYS LIVE)</a:t>
            </a:r>
          </a:p>
          <a:p>
            <a:pPr>
              <a:spcAft>
                <a:spcPts val="200"/>
              </a:spcAft>
              <a:defRPr sz="1400" b="1">
                <a:solidFill>
                  <a:srgbClr val="0F172A"/>
                </a:solidFill>
              </a:defRPr>
            </a:pPr>
            <a:r>
              <a:t>Course 16: Blockchain &amp; Web3</a:t>
            </a:r>
          </a:p>
          <a:p>
            <a:pPr>
              <a:spcAft>
                <a:spcPts val="400"/>
              </a:spcAft>
              <a:defRPr sz="1050">
                <a:solidFill>
                  <a:srgbClr val="10B981"/>
                </a:solidFill>
              </a:defRPr>
            </a:pPr>
            <a:r>
              <a:t>Cryptographic State Machines</a:t>
            </a:r>
          </a:p>
          <a:p>
            <a:pPr>
              <a:spcAft>
                <a:spcPts val="300"/>
              </a:spcAft>
              <a:defRPr sz="1050">
                <a:solidFill>
                  <a:srgbClr val="334155"/>
                </a:solidFill>
              </a:defRPr>
            </a:pPr>
            <a:r>
              <a:t>• EVM internals, Solidity smart contracts, Merkle Patricia state roots.</a:t>
            </a:r>
          </a:p>
          <a:p>
            <a:pPr>
              <a:spcAft>
                <a:spcPts val="300"/>
              </a:spcAft>
              <a:defRPr sz="1050">
                <a:solidFill>
                  <a:srgbClr val="334155"/>
                </a:solidFill>
              </a:defRPr>
            </a:pPr>
            <a:r>
              <a:t>• Reentrancy mutex guards, ERC-20 Conservation of Value, gas optimization.</a:t>
            </a:r>
          </a:p>
          <a:p>
            <a:pPr>
              <a:spcAft>
                <a:spcPts val="300"/>
              </a:spcAft>
              <a:defRPr sz="1050">
                <a:solidFill>
                  <a:srgbClr val="334155"/>
                </a:solidFill>
              </a:defRPr>
            </a:pPr>
            <a:r>
              <a:t>• Career: Smart Contract Auditor, Web3 Protocol Engineer (Rs 18–35 LPA).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SEMICONDUCTOR &amp; HARDWARE SILICON</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07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IoT, Embedded Firmware &amp; Hardware Security (Courses 14, 17, 18, 19)</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Direct Hardware Silicon Engineering Aligned with India's $50B Semiconductor Mission</a:t>
            </a:r>
          </a:p>
        </p:txBody>
      </p:sp>
      <p:sp>
        <p:nvSpPr>
          <p:cNvPr id="8" name="Rounded Rectangle 7"/>
          <p:cNvSpPr/>
          <p:nvPr/>
        </p:nvSpPr>
        <p:spPr>
          <a:xfrm>
            <a:off x="731520" y="1645920"/>
            <a:ext cx="512064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4754880" cy="1911096"/>
          </a:xfrm>
          <a:prstGeom prst="rect">
            <a:avLst/>
          </a:prstGeom>
          <a:noFill/>
        </p:spPr>
        <p:txBody>
          <a:bodyPr wrap="square">
            <a:spAutoFit/>
          </a:bodyPr>
          <a:lstStyle/>
          <a:p>
            <a:pPr>
              <a:spcAft>
                <a:spcPts val="200"/>
              </a:spcAft>
              <a:defRPr sz="950" b="1">
                <a:solidFill>
                  <a:srgbClr val="2563EB"/>
                </a:solidFill>
              </a:defRPr>
            </a:pPr>
            <a:r>
              <a:t>DAYS 1–5 LIVE • DAYS 6–30 IN FLIGHT</a:t>
            </a:r>
          </a:p>
          <a:p>
            <a:pPr>
              <a:spcAft>
                <a:spcPts val="200"/>
              </a:spcAft>
              <a:defRPr sz="1400" b="1">
                <a:solidFill>
                  <a:srgbClr val="0F172A"/>
                </a:solidFill>
              </a:defRPr>
            </a:pPr>
            <a:r>
              <a:t>Course 14: Embedded MCU Programming</a:t>
            </a:r>
          </a:p>
          <a:p>
            <a:pPr>
              <a:spcAft>
                <a:spcPts val="400"/>
              </a:spcAft>
              <a:defRPr sz="1050">
                <a:solidFill>
                  <a:srgbClr val="2563EB"/>
                </a:solidFill>
              </a:defRPr>
            </a:pPr>
            <a:r>
              <a:t>Silicon Registers &amp; Bare-Metal Control</a:t>
            </a:r>
          </a:p>
          <a:p>
            <a:pPr>
              <a:spcAft>
                <a:spcPts val="300"/>
              </a:spcAft>
              <a:defRPr sz="1050">
                <a:solidFill>
                  <a:srgbClr val="334155"/>
                </a:solidFill>
              </a:defRPr>
            </a:pPr>
            <a:r>
              <a:t>• Bare-metal C++ microcontroller programming, memory-mapped I/O (MMIO).</a:t>
            </a:r>
          </a:p>
          <a:p>
            <a:pPr>
              <a:spcAft>
                <a:spcPts val="300"/>
              </a:spcAft>
              <a:defRPr sz="1050">
                <a:solidFill>
                  <a:srgbClr val="334155"/>
                </a:solidFill>
              </a:defRPr>
            </a:pPr>
            <a:r>
              <a:t>• Volatile hardware register pointers, NVIC interrupts, circular DMA double-buffering.</a:t>
            </a:r>
          </a:p>
          <a:p>
            <a:pPr>
              <a:spcAft>
                <a:spcPts val="300"/>
              </a:spcAft>
              <a:defRPr sz="1050">
                <a:solidFill>
                  <a:srgbClr val="334155"/>
                </a:solidFill>
              </a:defRPr>
            </a:pPr>
            <a:r>
              <a:t>• RegisterBits Simulator: Flip bits 0-7 live and see registers mutate.</a:t>
            </a:r>
          </a:p>
          <a:p>
            <a:pPr>
              <a:spcAft>
                <a:spcPts val="300"/>
              </a:spcAft>
              <a:defRPr sz="1050">
                <a:solidFill>
                  <a:srgbClr val="334155"/>
                </a:solidFill>
              </a:defRPr>
            </a:pPr>
            <a:r>
              <a:t>• Career: Embedded Firmware Engineer (Rs 10–22 LPA).</a:t>
            </a:r>
          </a:p>
        </p:txBody>
      </p:sp>
      <p:sp>
        <p:nvSpPr>
          <p:cNvPr id="10" name="Rounded Rectangle 9"/>
          <p:cNvSpPr/>
          <p:nvPr/>
        </p:nvSpPr>
        <p:spPr>
          <a:xfrm>
            <a:off x="6217920" y="1645920"/>
            <a:ext cx="52120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10512"/>
            <a:ext cx="4846320" cy="1911096"/>
          </a:xfrm>
          <a:prstGeom prst="rect">
            <a:avLst/>
          </a:prstGeom>
          <a:noFill/>
        </p:spPr>
        <p:txBody>
          <a:bodyPr wrap="square">
            <a:spAutoFit/>
          </a:bodyPr>
          <a:lstStyle/>
          <a:p>
            <a:pPr>
              <a:spcAft>
                <a:spcPts val="200"/>
              </a:spcAft>
              <a:defRPr sz="950" b="1">
                <a:solidFill>
                  <a:srgbClr val="7E22CE"/>
                </a:solidFill>
              </a:defRPr>
            </a:pPr>
            <a:r>
              <a:t>DAYS 1–5 LIVE • DAYS 6–30 IN FLIGHT</a:t>
            </a:r>
          </a:p>
          <a:p>
            <a:pPr>
              <a:spcAft>
                <a:spcPts val="200"/>
              </a:spcAft>
              <a:defRPr sz="1400" b="1">
                <a:solidFill>
                  <a:srgbClr val="0F172A"/>
                </a:solidFill>
              </a:defRPr>
            </a:pPr>
            <a:r>
              <a:t>Course 18: Edge AI &amp; TinyML</a:t>
            </a:r>
          </a:p>
          <a:p>
            <a:pPr>
              <a:spcAft>
                <a:spcPts val="400"/>
              </a:spcAft>
              <a:defRPr sz="1050">
                <a:solidFill>
                  <a:srgbClr val="7E22CE"/>
                </a:solidFill>
              </a:defRPr>
            </a:pPr>
            <a:r>
              <a:t>AI on Microcontrollers &amp; Sensors</a:t>
            </a:r>
          </a:p>
          <a:p>
            <a:pPr>
              <a:spcAft>
                <a:spcPts val="300"/>
              </a:spcAft>
              <a:defRPr sz="1050">
                <a:solidFill>
                  <a:srgbClr val="334155"/>
                </a:solidFill>
              </a:defRPr>
            </a:pPr>
            <a:r>
              <a:t>• Running AI neural networks directly on microcontrollers with zero cloud latency.</a:t>
            </a:r>
          </a:p>
          <a:p>
            <a:pPr>
              <a:spcAft>
                <a:spcPts val="300"/>
              </a:spcAft>
              <a:defRPr sz="1050">
                <a:solidFill>
                  <a:srgbClr val="334155"/>
                </a:solidFill>
              </a:defRPr>
            </a:pPr>
            <a:r>
              <a:t>• INT8 post-training quantization, CMSIS-NN ARM SIMD micro-kernels (SMLAD).</a:t>
            </a:r>
          </a:p>
          <a:p>
            <a:pPr>
              <a:spcAft>
                <a:spcPts val="300"/>
              </a:spcAft>
              <a:defRPr sz="1050">
                <a:solidFill>
                  <a:srgbClr val="334155"/>
                </a:solidFill>
              </a:defRPr>
            </a:pPr>
            <a:r>
              <a:t>• Static tensor arena allocation without heap fragmentation.</a:t>
            </a:r>
          </a:p>
          <a:p>
            <a:pPr>
              <a:spcAft>
                <a:spcPts val="300"/>
              </a:spcAft>
              <a:defRPr sz="1050">
                <a:solidFill>
                  <a:srgbClr val="334155"/>
                </a:solidFill>
              </a:defRPr>
            </a:pPr>
            <a:r>
              <a:t>• Career: Edge AI Developer, TinyML Systems Engineer (Rs 14–26 LPA).</a:t>
            </a:r>
          </a:p>
        </p:txBody>
      </p:sp>
      <p:sp>
        <p:nvSpPr>
          <p:cNvPr id="12" name="Rounded Rectangle 11"/>
          <p:cNvSpPr/>
          <p:nvPr/>
        </p:nvSpPr>
        <p:spPr>
          <a:xfrm>
            <a:off x="731520" y="4069080"/>
            <a:ext cx="512064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233672"/>
            <a:ext cx="4754880" cy="1911096"/>
          </a:xfrm>
          <a:prstGeom prst="rect">
            <a:avLst/>
          </a:prstGeom>
          <a:noFill/>
        </p:spPr>
        <p:txBody>
          <a:bodyPr wrap="square">
            <a:spAutoFit/>
          </a:bodyPr>
          <a:lstStyle/>
          <a:p>
            <a:pPr>
              <a:spcAft>
                <a:spcPts val="200"/>
              </a:spcAft>
              <a:defRPr sz="950" b="1">
                <a:solidFill>
                  <a:srgbClr val="10B981"/>
                </a:solidFill>
              </a:defRPr>
            </a:pPr>
            <a:r>
              <a:t>DAYS 1–5 LIVE • DAYS 6–30 IN FLIGHT</a:t>
            </a:r>
          </a:p>
          <a:p>
            <a:pPr>
              <a:spcAft>
                <a:spcPts val="200"/>
              </a:spcAft>
              <a:defRPr sz="1400" b="1">
                <a:solidFill>
                  <a:srgbClr val="0F172A"/>
                </a:solidFill>
              </a:defRPr>
            </a:pPr>
            <a:r>
              <a:t>Course 17: IoT Wireless Networks</a:t>
            </a:r>
          </a:p>
          <a:p>
            <a:pPr>
              <a:spcAft>
                <a:spcPts val="400"/>
              </a:spcAft>
              <a:defRPr sz="1050">
                <a:solidFill>
                  <a:srgbClr val="10B981"/>
                </a:solidFill>
              </a:defRPr>
            </a:pPr>
            <a:r>
              <a:t>Low-Power Mesh Networking</a:t>
            </a:r>
          </a:p>
          <a:p>
            <a:pPr>
              <a:spcAft>
                <a:spcPts val="300"/>
              </a:spcAft>
              <a:defRPr sz="1050">
                <a:solidFill>
                  <a:srgbClr val="334155"/>
                </a:solidFill>
              </a:defRPr>
            </a:pPr>
            <a:r>
              <a:t>• Wireless radio protocols: Friis link budgets, IEEE 802.15.4 MAC frames.</a:t>
            </a:r>
          </a:p>
          <a:p>
            <a:pPr>
              <a:spcAft>
                <a:spcPts val="300"/>
              </a:spcAft>
              <a:defRPr sz="1050">
                <a:solidFill>
                  <a:srgbClr val="334155"/>
                </a:solidFill>
              </a:defRPr>
            </a:pPr>
            <a:r>
              <a:t>• RFC 6282 6LoWPAN header compression (compressing 40-byte IPv6 headers to 2 bytes).</a:t>
            </a:r>
          </a:p>
          <a:p>
            <a:pPr>
              <a:spcAft>
                <a:spcPts val="300"/>
              </a:spcAft>
              <a:defRPr sz="1050">
                <a:solidFill>
                  <a:srgbClr val="334155"/>
                </a:solidFill>
              </a:defRPr>
            </a:pPr>
            <a:r>
              <a:t>• CoAP transport over UDP and MQTT-SN for 10-year battery sensor nodes.</a:t>
            </a:r>
          </a:p>
          <a:p>
            <a:pPr>
              <a:spcAft>
                <a:spcPts val="300"/>
              </a:spcAft>
              <a:defRPr sz="1050">
                <a:solidFill>
                  <a:srgbClr val="334155"/>
                </a:solidFill>
              </a:defRPr>
            </a:pPr>
            <a:r>
              <a:t>• Career: IoT Network Architect, Wireless Systems Engineer (Rs 12–24 LPA).</a:t>
            </a:r>
          </a:p>
        </p:txBody>
      </p:sp>
      <p:sp>
        <p:nvSpPr>
          <p:cNvPr id="14" name="Rounded Rectangle 13"/>
          <p:cNvSpPr/>
          <p:nvPr/>
        </p:nvSpPr>
        <p:spPr>
          <a:xfrm>
            <a:off x="6217920" y="4069080"/>
            <a:ext cx="52120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233672"/>
            <a:ext cx="4846320" cy="1911096"/>
          </a:xfrm>
          <a:prstGeom prst="rect">
            <a:avLst/>
          </a:prstGeom>
          <a:noFill/>
        </p:spPr>
        <p:txBody>
          <a:bodyPr wrap="square">
            <a:spAutoFit/>
          </a:bodyPr>
          <a:lstStyle/>
          <a:p>
            <a:pPr>
              <a:spcAft>
                <a:spcPts val="200"/>
              </a:spcAft>
              <a:defRPr sz="950" b="1">
                <a:solidFill>
                  <a:srgbClr val="E11D48"/>
                </a:solidFill>
              </a:defRPr>
            </a:pPr>
            <a:r>
              <a:t>DAYS 1–5 LIVE • DAYS 6–30 IN FLIGHT</a:t>
            </a:r>
          </a:p>
          <a:p>
            <a:pPr>
              <a:spcAft>
                <a:spcPts val="200"/>
              </a:spcAft>
              <a:defRPr sz="1400" b="1">
                <a:solidFill>
                  <a:srgbClr val="0F172A"/>
                </a:solidFill>
              </a:defRPr>
            </a:pPr>
            <a:r>
              <a:t>Course 19: Hardware Root of Trust &amp; Security</a:t>
            </a:r>
          </a:p>
          <a:p>
            <a:pPr>
              <a:spcAft>
                <a:spcPts val="400"/>
              </a:spcAft>
              <a:defRPr sz="1050">
                <a:solidFill>
                  <a:srgbClr val="E11D48"/>
                </a:solidFill>
              </a:defRPr>
            </a:pPr>
            <a:r>
              <a:t>Silicon Security &amp; Secure Boot Chains</a:t>
            </a:r>
          </a:p>
          <a:p>
            <a:pPr>
              <a:spcAft>
                <a:spcPts val="300"/>
              </a:spcAft>
              <a:defRPr sz="1050">
                <a:solidFill>
                  <a:srgbClr val="334155"/>
                </a:solidFill>
              </a:defRPr>
            </a:pPr>
            <a:r>
              <a:t>• Silicon Hardware Root of Trust: OTP eFuses, immutable Mask ROM bootloaders.</a:t>
            </a:r>
          </a:p>
          <a:p>
            <a:pPr>
              <a:spcAft>
                <a:spcPts val="300"/>
              </a:spcAft>
              <a:defRPr sz="1050">
                <a:solidFill>
                  <a:srgbClr val="334155"/>
                </a:solidFill>
              </a:defRPr>
            </a:pPr>
            <a:r>
              <a:t>• Cryptographic secure boot chains, ARM TrustZone hardware bus memory partitioning.</a:t>
            </a:r>
          </a:p>
          <a:p>
            <a:pPr>
              <a:spcAft>
                <a:spcPts val="300"/>
              </a:spcAft>
              <a:defRPr sz="1050">
                <a:solidFill>
                  <a:srgbClr val="334155"/>
                </a:solidFill>
              </a:defRPr>
            </a:pPr>
            <a:r>
              <a:t>• On-The-Fly Decryption (OTFDEC) defeating physical PCB trace sniffing.</a:t>
            </a:r>
          </a:p>
          <a:p>
            <a:pPr>
              <a:spcAft>
                <a:spcPts val="300"/>
              </a:spcAft>
              <a:defRPr sz="1050">
                <a:solidFill>
                  <a:srgbClr val="334155"/>
                </a:solidFill>
              </a:defRPr>
            </a:pPr>
            <a:r>
              <a:t>• Career: Hardware Security Researcher, Automotive Systems Auditor (Rs 15–30 LPA).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BUSINESS SCHOOL FLAGSHIP TRACKS</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08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Accounting, Finance &amp; Operations Management (Courses 22, 23, 24, 28, 30)</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Modernizing B.Com &amp; MBA Education with Live Double-Entry Ledgers and Financial Modeling</a:t>
            </a:r>
          </a:p>
        </p:txBody>
      </p:sp>
      <p:sp>
        <p:nvSpPr>
          <p:cNvPr id="8" name="Rounded Rectangle 7"/>
          <p:cNvSpPr/>
          <p:nvPr/>
        </p:nvSpPr>
        <p:spPr>
          <a:xfrm>
            <a:off x="731520" y="1645920"/>
            <a:ext cx="5120640" cy="2240280"/>
          </a:xfrm>
          <a:prstGeom prst="roundRect">
            <a:avLst/>
          </a:prstGeom>
          <a:solidFill>
            <a:srgbClr val="FFFFFF"/>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4754880" cy="1911096"/>
          </a:xfrm>
          <a:prstGeom prst="rect">
            <a:avLst/>
          </a:prstGeom>
          <a:noFill/>
        </p:spPr>
        <p:txBody>
          <a:bodyPr wrap="square">
            <a:spAutoFit/>
          </a:bodyPr>
          <a:lstStyle/>
          <a:p>
            <a:pPr>
              <a:spcAft>
                <a:spcPts val="200"/>
              </a:spcAft>
              <a:defRPr sz="950" b="1">
                <a:solidFill>
                  <a:srgbClr val="10B981"/>
                </a:solidFill>
              </a:defRPr>
            </a:pPr>
            <a:r>
              <a:t>DAYS 1–5 LIVE • DAYS 6–30 IN FLIGHT</a:t>
            </a:r>
          </a:p>
          <a:p>
            <a:pPr>
              <a:spcAft>
                <a:spcPts val="200"/>
              </a:spcAft>
              <a:defRPr sz="1400" b="1">
                <a:solidFill>
                  <a:srgbClr val="0F172A"/>
                </a:solidFill>
              </a:defRPr>
            </a:pPr>
            <a:r>
              <a:t>Course 22: Digital Accounting &amp; Taxation</a:t>
            </a:r>
          </a:p>
          <a:p>
            <a:pPr>
              <a:spcAft>
                <a:spcPts val="400"/>
              </a:spcAft>
              <a:defRPr sz="1050">
                <a:solidFill>
                  <a:srgbClr val="10B981"/>
                </a:solidFill>
              </a:defRPr>
            </a:pPr>
            <a:r>
              <a:t>Double-Entry Balance &amp; Statutory Tax</a:t>
            </a:r>
          </a:p>
          <a:p>
            <a:pPr>
              <a:spcAft>
                <a:spcPts val="300"/>
              </a:spcAft>
              <a:defRPr sz="1050">
                <a:solidFill>
                  <a:srgbClr val="334155"/>
                </a:solidFill>
              </a:defRPr>
            </a:pPr>
            <a:r>
              <a:t>• Double-entry bookkeeping trial balance, ASC 606 revenue recognition.</a:t>
            </a:r>
          </a:p>
          <a:p>
            <a:pPr>
              <a:spcAft>
                <a:spcPts val="300"/>
              </a:spcAft>
              <a:defRPr sz="1050">
                <a:solidFill>
                  <a:srgbClr val="334155"/>
                </a:solidFill>
              </a:defRPr>
            </a:pPr>
            <a:r>
              <a:t>• ASC 740 Deferred Tax Assets/Liabilities (DTA/DTL) and OECD transfer pricing.</a:t>
            </a:r>
          </a:p>
          <a:p>
            <a:pPr>
              <a:spcAft>
                <a:spcPts val="300"/>
              </a:spcAft>
              <a:defRPr sz="1050">
                <a:solidFill>
                  <a:srgbClr val="334155"/>
                </a:solidFill>
              </a:defRPr>
            </a:pPr>
            <a:r>
              <a:t>• LedgerSheet Simulator: Interactive T-accounts that flash red until balanced.</a:t>
            </a:r>
          </a:p>
          <a:p>
            <a:pPr>
              <a:spcAft>
                <a:spcPts val="300"/>
              </a:spcAft>
              <a:defRPr sz="1050">
                <a:solidFill>
                  <a:srgbClr val="334155"/>
                </a:solidFill>
              </a:defRPr>
            </a:pPr>
            <a:r>
              <a:t>• Career: Corporate Controller, Tax Consultant at Big 4 (Rs 8–18 LPA).</a:t>
            </a:r>
          </a:p>
        </p:txBody>
      </p:sp>
      <p:sp>
        <p:nvSpPr>
          <p:cNvPr id="10" name="Rounded Rectangle 9"/>
          <p:cNvSpPr/>
          <p:nvPr/>
        </p:nvSpPr>
        <p:spPr>
          <a:xfrm>
            <a:off x="6217920" y="1645920"/>
            <a:ext cx="5212080" cy="2240280"/>
          </a:xfrm>
          <a:prstGeom prst="roundRect">
            <a:avLst/>
          </a:prstGeom>
          <a:solidFill>
            <a:srgbClr val="FFFFFF"/>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10512"/>
            <a:ext cx="4846320" cy="1911096"/>
          </a:xfrm>
          <a:prstGeom prst="rect">
            <a:avLst/>
          </a:prstGeom>
          <a:noFill/>
        </p:spPr>
        <p:txBody>
          <a:bodyPr wrap="square">
            <a:spAutoFit/>
          </a:bodyPr>
          <a:lstStyle/>
          <a:p>
            <a:pPr>
              <a:spcAft>
                <a:spcPts val="200"/>
              </a:spcAft>
              <a:defRPr sz="950" b="1">
                <a:solidFill>
                  <a:srgbClr val="D97706"/>
                </a:solidFill>
              </a:defRPr>
            </a:pPr>
            <a:r>
              <a:t>DAYS 1–5 LIVE • DAYS 6–30 IN FLIGHT</a:t>
            </a:r>
          </a:p>
          <a:p>
            <a:pPr>
              <a:spcAft>
                <a:spcPts val="200"/>
              </a:spcAft>
              <a:defRPr sz="1400" b="1">
                <a:solidFill>
                  <a:srgbClr val="0F172A"/>
                </a:solidFill>
              </a:defRPr>
            </a:pPr>
            <a:r>
              <a:t>Course 23: Business Finance &amp; Investment</a:t>
            </a:r>
          </a:p>
          <a:p>
            <a:pPr>
              <a:spcAft>
                <a:spcPts val="400"/>
              </a:spcAft>
              <a:defRPr sz="1050">
                <a:solidFill>
                  <a:srgbClr val="D97706"/>
                </a:solidFill>
              </a:defRPr>
            </a:pPr>
            <a:r>
              <a:t>Corporate Valuation &amp; M&amp;A Modeling</a:t>
            </a:r>
          </a:p>
          <a:p>
            <a:pPr>
              <a:spcAft>
                <a:spcPts val="300"/>
              </a:spcAft>
              <a:defRPr sz="1050">
                <a:solidFill>
                  <a:srgbClr val="334155"/>
                </a:solidFill>
              </a:defRPr>
            </a:pPr>
            <a:r>
              <a:t>• Discounted Cash Flow (DCF), WACC valuation, DuPont 3-step ROE decomposition.</a:t>
            </a:r>
          </a:p>
          <a:p>
            <a:pPr>
              <a:spcAft>
                <a:spcPts val="300"/>
              </a:spcAft>
              <a:defRPr sz="1050">
                <a:solidFill>
                  <a:srgbClr val="334155"/>
                </a:solidFill>
              </a:defRPr>
            </a:pPr>
            <a:r>
              <a:t>• Multi-tranche debt capital structures, LBO debt waterfalls, and M&amp;A accretion.</a:t>
            </a:r>
          </a:p>
          <a:p>
            <a:pPr>
              <a:spcAft>
                <a:spcPts val="300"/>
              </a:spcAft>
              <a:defRPr sz="1050">
                <a:solidFill>
                  <a:srgbClr val="334155"/>
                </a:solidFill>
              </a:defRPr>
            </a:pPr>
            <a:r>
              <a:t>• Bars Simulator: Dynamic sensitivity bridges and Monte Carlo capital risk.</a:t>
            </a:r>
          </a:p>
          <a:p>
            <a:pPr>
              <a:spcAft>
                <a:spcPts val="300"/>
              </a:spcAft>
              <a:defRPr sz="1050">
                <a:solidFill>
                  <a:srgbClr val="334155"/>
                </a:solidFill>
              </a:defRPr>
            </a:pPr>
            <a:r>
              <a:t>• Career: Investment Banking Analyst, Private Equity Associate (Rs 12–25 LPA).</a:t>
            </a:r>
          </a:p>
        </p:txBody>
      </p:sp>
      <p:sp>
        <p:nvSpPr>
          <p:cNvPr id="12" name="Rounded Rectangle 11"/>
          <p:cNvSpPr/>
          <p:nvPr/>
        </p:nvSpPr>
        <p:spPr>
          <a:xfrm>
            <a:off x="731520" y="4069080"/>
            <a:ext cx="329184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233672"/>
            <a:ext cx="2926080" cy="1911096"/>
          </a:xfrm>
          <a:prstGeom prst="rect">
            <a:avLst/>
          </a:prstGeom>
          <a:noFill/>
        </p:spPr>
        <p:txBody>
          <a:bodyPr wrap="square">
            <a:spAutoFit/>
          </a:bodyPr>
          <a:lstStyle/>
          <a:p>
            <a:pPr>
              <a:spcAft>
                <a:spcPts val="200"/>
              </a:spcAft>
              <a:defRPr sz="950" b="1">
                <a:solidFill>
                  <a:srgbClr val="2563EB"/>
                </a:solidFill>
              </a:defRPr>
            </a:pPr>
            <a:r>
              <a:t>DAYS 1–5 LIVE • D6–30 IN FLIGHT</a:t>
            </a:r>
          </a:p>
          <a:p>
            <a:pPr>
              <a:spcAft>
                <a:spcPts val="200"/>
              </a:spcAft>
              <a:defRPr sz="1400" b="1">
                <a:solidFill>
                  <a:srgbClr val="0F172A"/>
                </a:solidFill>
              </a:defRPr>
            </a:pPr>
            <a:r>
              <a:t>Course 24: Business Analytics</a:t>
            </a:r>
          </a:p>
          <a:p>
            <a:pPr>
              <a:spcAft>
                <a:spcPts val="400"/>
              </a:spcAft>
              <a:defRPr sz="1050">
                <a:solidFill>
                  <a:srgbClr val="2563EB"/>
                </a:solidFill>
              </a:defRPr>
            </a:pPr>
            <a:r>
              <a:t>Prescriptive Decision Analytics</a:t>
            </a:r>
          </a:p>
          <a:p>
            <a:pPr>
              <a:spcAft>
                <a:spcPts val="300"/>
              </a:spcAft>
              <a:defRPr sz="1050">
                <a:solidFill>
                  <a:srgbClr val="334155"/>
                </a:solidFill>
              </a:defRPr>
            </a:pPr>
            <a:r>
              <a:t>• Linear programming simplex optimization, marginal shadow prices.</a:t>
            </a:r>
          </a:p>
          <a:p>
            <a:pPr>
              <a:spcAft>
                <a:spcPts val="300"/>
              </a:spcAft>
              <a:defRPr sz="1050">
                <a:solidFill>
                  <a:srgbClr val="334155"/>
                </a:solidFill>
              </a:defRPr>
            </a:pPr>
            <a:r>
              <a:t>• Cohort retention matrices, Net Revenue Retention (NRR &gt; 100%).</a:t>
            </a:r>
          </a:p>
          <a:p>
            <a:pPr>
              <a:spcAft>
                <a:spcPts val="300"/>
              </a:spcAft>
              <a:defRPr sz="1050">
                <a:solidFill>
                  <a:srgbClr val="334155"/>
                </a:solidFill>
              </a:defRPr>
            </a:pPr>
            <a:r>
              <a:t>• Career: Financial Analyst (Rs 10–20 LPA).</a:t>
            </a:r>
          </a:p>
        </p:txBody>
      </p:sp>
      <p:sp>
        <p:nvSpPr>
          <p:cNvPr id="14" name="Rounded Rectangle 13"/>
          <p:cNvSpPr/>
          <p:nvPr/>
        </p:nvSpPr>
        <p:spPr>
          <a:xfrm>
            <a:off x="4389120" y="4069080"/>
            <a:ext cx="33832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4233672"/>
            <a:ext cx="3017520" cy="1911096"/>
          </a:xfrm>
          <a:prstGeom prst="rect">
            <a:avLst/>
          </a:prstGeom>
          <a:noFill/>
        </p:spPr>
        <p:txBody>
          <a:bodyPr wrap="square">
            <a:spAutoFit/>
          </a:bodyPr>
          <a:lstStyle/>
          <a:p>
            <a:pPr>
              <a:spcAft>
                <a:spcPts val="200"/>
              </a:spcAft>
              <a:defRPr sz="950" b="1">
                <a:solidFill>
                  <a:srgbClr val="7E22CE"/>
                </a:solidFill>
              </a:defRPr>
            </a:pPr>
            <a:r>
              <a:t>DAYS 1–5 LIVE • D6–30 IN FLIGHT</a:t>
            </a:r>
          </a:p>
          <a:p>
            <a:pPr>
              <a:spcAft>
                <a:spcPts val="200"/>
              </a:spcAft>
              <a:defRPr sz="1400" b="1">
                <a:solidFill>
                  <a:srgbClr val="0F172A"/>
                </a:solidFill>
              </a:defRPr>
            </a:pPr>
            <a:r>
              <a:t>Course 28: Entrepreneurship</a:t>
            </a:r>
          </a:p>
          <a:p>
            <a:pPr>
              <a:spcAft>
                <a:spcPts val="400"/>
              </a:spcAft>
              <a:defRPr sz="1050">
                <a:solidFill>
                  <a:srgbClr val="7E22CE"/>
                </a:solidFill>
              </a:defRPr>
            </a:pPr>
            <a:r>
              <a:t>Cap Tables &amp; Venture Creation</a:t>
            </a:r>
          </a:p>
          <a:p>
            <a:pPr>
              <a:spcAft>
                <a:spcPts val="300"/>
              </a:spcAft>
              <a:defRPr sz="1050">
                <a:solidFill>
                  <a:srgbClr val="334155"/>
                </a:solidFill>
              </a:defRPr>
            </a:pPr>
            <a:r>
              <a:t>• Business Model Canvas (BMC), burn rate runway, SAFE note conversion.</a:t>
            </a:r>
          </a:p>
          <a:p>
            <a:pPr>
              <a:spcAft>
                <a:spcPts val="300"/>
              </a:spcAft>
              <a:defRPr sz="1050">
                <a:solidFill>
                  <a:srgbClr val="334155"/>
                </a:solidFill>
              </a:defRPr>
            </a:pPr>
            <a:r>
              <a:t>• Cap table dilution and liquidation preference waterfalls.</a:t>
            </a:r>
          </a:p>
          <a:p>
            <a:pPr>
              <a:spcAft>
                <a:spcPts val="300"/>
              </a:spcAft>
              <a:defRPr sz="1050">
                <a:solidFill>
                  <a:srgbClr val="334155"/>
                </a:solidFill>
              </a:defRPr>
            </a:pPr>
            <a:r>
              <a:t>• Career: Startup Founder, Venture Analyst.</a:t>
            </a:r>
          </a:p>
        </p:txBody>
      </p:sp>
      <p:sp>
        <p:nvSpPr>
          <p:cNvPr id="16" name="Rounded Rectangle 15"/>
          <p:cNvSpPr/>
          <p:nvPr/>
        </p:nvSpPr>
        <p:spPr>
          <a:xfrm>
            <a:off x="8138160" y="4069080"/>
            <a:ext cx="329184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4233672"/>
            <a:ext cx="2926080" cy="1911096"/>
          </a:xfrm>
          <a:prstGeom prst="rect">
            <a:avLst/>
          </a:prstGeom>
          <a:noFill/>
        </p:spPr>
        <p:txBody>
          <a:bodyPr wrap="square">
            <a:spAutoFit/>
          </a:bodyPr>
          <a:lstStyle/>
          <a:p>
            <a:pPr>
              <a:spcAft>
                <a:spcPts val="200"/>
              </a:spcAft>
              <a:defRPr sz="950" b="1">
                <a:solidFill>
                  <a:srgbClr val="2563EB"/>
                </a:solidFill>
              </a:defRPr>
            </a:pPr>
            <a:r>
              <a:t>DAYS 1–5 LIVE • D6–30 IN FLIGHT</a:t>
            </a:r>
          </a:p>
          <a:p>
            <a:pPr>
              <a:spcAft>
                <a:spcPts val="200"/>
              </a:spcAft>
              <a:defRPr sz="1400" b="1">
                <a:solidFill>
                  <a:srgbClr val="0F172A"/>
                </a:solidFill>
              </a:defRPr>
            </a:pPr>
            <a:r>
              <a:t>Course 30: Supply Chain &amp; Ops</a:t>
            </a:r>
          </a:p>
          <a:p>
            <a:pPr>
              <a:spcAft>
                <a:spcPts val="400"/>
              </a:spcAft>
              <a:defRPr sz="1050">
                <a:solidFill>
                  <a:srgbClr val="2563EB"/>
                </a:solidFill>
              </a:defRPr>
            </a:pPr>
            <a:r>
              <a:t>Process Flow &amp; Inventory Control</a:t>
            </a:r>
          </a:p>
          <a:p>
            <a:pPr>
              <a:spcAft>
                <a:spcPts val="300"/>
              </a:spcAft>
              <a:defRPr sz="1050">
                <a:solidFill>
                  <a:srgbClr val="334155"/>
                </a:solidFill>
              </a:defRPr>
            </a:pPr>
            <a:r>
              <a:t>• Little's Law (WIP = Throughput * Cycle Time), EOQ inventory curves.</a:t>
            </a:r>
          </a:p>
          <a:p>
            <a:pPr>
              <a:spcAft>
                <a:spcPts val="300"/>
              </a:spcAft>
              <a:defRPr sz="1050">
                <a:solidFill>
                  <a:srgbClr val="334155"/>
                </a:solidFill>
              </a:defRPr>
            </a:pPr>
            <a:r>
              <a:t>• Bullwhip effect reduction, Six Sigma Cpk quality control.</a:t>
            </a:r>
          </a:p>
          <a:p>
            <a:pPr>
              <a:spcAft>
                <a:spcPts val="300"/>
              </a:spcAft>
              <a:defRPr sz="1050">
                <a:solidFill>
                  <a:srgbClr val="334155"/>
                </a:solidFill>
              </a:defRPr>
            </a:pPr>
            <a:r>
              <a:t>• Career: Operations Director (Rs 10–22 LPA).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REVENUE &amp; COMMERCIAL GROWTH SYSTEMS</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09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Marketing, Sales, E-Commerce &amp; AI Transformation (Courses 25, 26, 27, 29, 31)</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Training Revenue-Generating Leaders: From Digital Attribution to Enterprise AI Automation</a:t>
            </a:r>
          </a:p>
        </p:txBody>
      </p:sp>
      <p:sp>
        <p:nvSpPr>
          <p:cNvPr id="8" name="Rounded Rectangle 7"/>
          <p:cNvSpPr/>
          <p:nvPr/>
        </p:nvSpPr>
        <p:spPr>
          <a:xfrm>
            <a:off x="731520" y="1645920"/>
            <a:ext cx="512064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4754880" cy="1911096"/>
          </a:xfrm>
          <a:prstGeom prst="rect">
            <a:avLst/>
          </a:prstGeom>
          <a:noFill/>
        </p:spPr>
        <p:txBody>
          <a:bodyPr wrap="square">
            <a:spAutoFit/>
          </a:bodyPr>
          <a:lstStyle/>
          <a:p>
            <a:pPr>
              <a:spcAft>
                <a:spcPts val="200"/>
              </a:spcAft>
              <a:defRPr sz="950" b="1">
                <a:solidFill>
                  <a:srgbClr val="2563EB"/>
                </a:solidFill>
              </a:defRPr>
            </a:pPr>
            <a:r>
              <a:t>DAYS 1–5 LIVE • DAYS 6–30 IN FLIGHT</a:t>
            </a:r>
          </a:p>
          <a:p>
            <a:pPr>
              <a:spcAft>
                <a:spcPts val="200"/>
              </a:spcAft>
              <a:defRPr sz="1400" b="1">
                <a:solidFill>
                  <a:srgbClr val="0F172A"/>
                </a:solidFill>
              </a:defRPr>
            </a:pPr>
            <a:r>
              <a:t>Course 25 &amp; 26: Marketing &amp; Growth</a:t>
            </a:r>
          </a:p>
          <a:p>
            <a:pPr>
              <a:spcAft>
                <a:spcPts val="400"/>
              </a:spcAft>
              <a:defRPr sz="1050">
                <a:solidFill>
                  <a:srgbClr val="2563EB"/>
                </a:solidFill>
              </a:defRPr>
            </a:pPr>
            <a:r>
              <a:t>Attribution Modeling &amp; Brand Strategy</a:t>
            </a:r>
          </a:p>
          <a:p>
            <a:pPr>
              <a:spcAft>
                <a:spcPts val="300"/>
              </a:spcAft>
              <a:defRPr sz="1050">
                <a:solidFill>
                  <a:srgbClr val="334155"/>
                </a:solidFill>
              </a:defRPr>
            </a:pPr>
            <a:r>
              <a:t>• Course 25: Marketing &amp; Brand Strategy: PESTLE, Porter's Five Forces, STP segmentation.</a:t>
            </a:r>
          </a:p>
          <a:p>
            <a:pPr>
              <a:spcAft>
                <a:spcPts val="300"/>
              </a:spcAft>
              <a:defRPr sz="1050">
                <a:solidFill>
                  <a:srgbClr val="334155"/>
                </a:solidFill>
              </a:defRPr>
            </a:pPr>
            <a:r>
              <a:t>• Course 26: Digital Marketing Analytics: Programmatic ad auctions, multi-touch attribution.</a:t>
            </a:r>
          </a:p>
          <a:p>
            <a:pPr>
              <a:spcAft>
                <a:spcPts val="300"/>
              </a:spcAft>
              <a:defRPr sz="1050">
                <a:solidFill>
                  <a:srgbClr val="334155"/>
                </a:solidFill>
              </a:defRPr>
            </a:pPr>
            <a:r>
              <a:t>• Funnel Simulator: Visualizes CAC payback periods and conversion drop-offs.</a:t>
            </a:r>
          </a:p>
          <a:p>
            <a:pPr>
              <a:spcAft>
                <a:spcPts val="300"/>
              </a:spcAft>
              <a:defRPr sz="1050">
                <a:solidFill>
                  <a:srgbClr val="334155"/>
                </a:solidFill>
              </a:defRPr>
            </a:pPr>
            <a:r>
              <a:t>• Career: Growth Marketing Lead, Performance Marketer (Rs 9–20 LPA).</a:t>
            </a:r>
          </a:p>
        </p:txBody>
      </p:sp>
      <p:sp>
        <p:nvSpPr>
          <p:cNvPr id="10" name="Rounded Rectangle 9"/>
          <p:cNvSpPr/>
          <p:nvPr/>
        </p:nvSpPr>
        <p:spPr>
          <a:xfrm>
            <a:off x="6217920" y="1645920"/>
            <a:ext cx="5212080" cy="2240280"/>
          </a:xfrm>
          <a:prstGeom prst="roundRect">
            <a:avLst/>
          </a:prstGeom>
          <a:solidFill>
            <a:srgbClr val="FFFFFF"/>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10512"/>
            <a:ext cx="4846320" cy="1911096"/>
          </a:xfrm>
          <a:prstGeom prst="rect">
            <a:avLst/>
          </a:prstGeom>
          <a:noFill/>
        </p:spPr>
        <p:txBody>
          <a:bodyPr wrap="square">
            <a:spAutoFit/>
          </a:bodyPr>
          <a:lstStyle/>
          <a:p>
            <a:pPr>
              <a:spcAft>
                <a:spcPts val="200"/>
              </a:spcAft>
              <a:defRPr sz="950" b="1">
                <a:solidFill>
                  <a:srgbClr val="10B981"/>
                </a:solidFill>
              </a:defRPr>
            </a:pPr>
            <a:r>
              <a:t>DAYS 1–5 LIVE • DAYS 6–30 IN FLIGHT</a:t>
            </a:r>
          </a:p>
          <a:p>
            <a:pPr>
              <a:spcAft>
                <a:spcPts val="200"/>
              </a:spcAft>
              <a:defRPr sz="1400" b="1">
                <a:solidFill>
                  <a:srgbClr val="0F172A"/>
                </a:solidFill>
              </a:defRPr>
            </a:pPr>
            <a:r>
              <a:t>Course 27: E-Commerce &amp; Digital Business</a:t>
            </a:r>
          </a:p>
          <a:p>
            <a:pPr>
              <a:spcAft>
                <a:spcPts val="400"/>
              </a:spcAft>
              <a:defRPr sz="1050">
                <a:solidFill>
                  <a:srgbClr val="10B981"/>
                </a:solidFill>
              </a:defRPr>
            </a:pPr>
            <a:r>
              <a:t>Marketplace Economics &amp; Store UX</a:t>
            </a:r>
          </a:p>
          <a:p>
            <a:pPr>
              <a:spcAft>
                <a:spcPts val="300"/>
              </a:spcAft>
              <a:defRPr sz="1050">
                <a:solidFill>
                  <a:srgbClr val="334155"/>
                </a:solidFill>
              </a:defRPr>
            </a:pPr>
            <a:r>
              <a:t>• Two-sided marketplace economics, take rate commission modeling, dynamic pricing.</a:t>
            </a:r>
          </a:p>
          <a:p>
            <a:pPr>
              <a:spcAft>
                <a:spcPts val="300"/>
              </a:spcAft>
              <a:defRPr sz="1050">
                <a:solidFill>
                  <a:srgbClr val="334155"/>
                </a:solidFill>
              </a:defRPr>
            </a:pPr>
            <a:r>
              <a:t>• Cart abandonment funnels, payment gateway APIs, and reverse logistics margins.</a:t>
            </a:r>
          </a:p>
          <a:p>
            <a:pPr>
              <a:spcAft>
                <a:spcPts val="300"/>
              </a:spcAft>
              <a:defRPr sz="1050">
                <a:solidFill>
                  <a:srgbClr val="334155"/>
                </a:solidFill>
              </a:defRPr>
            </a:pPr>
            <a:r>
              <a:t>• Funnel Simulator: Optimizes 1-click checkout and warehouse SLA routing.</a:t>
            </a:r>
          </a:p>
          <a:p>
            <a:pPr>
              <a:spcAft>
                <a:spcPts val="300"/>
              </a:spcAft>
              <a:defRPr sz="1050">
                <a:solidFill>
                  <a:srgbClr val="334155"/>
                </a:solidFill>
              </a:defRPr>
            </a:pPr>
            <a:r>
              <a:t>• Career: E-Commerce Category Manager, Marketplace Operations (Rs 10–22 LPA).</a:t>
            </a:r>
          </a:p>
        </p:txBody>
      </p:sp>
      <p:sp>
        <p:nvSpPr>
          <p:cNvPr id="12" name="Rounded Rectangle 11"/>
          <p:cNvSpPr/>
          <p:nvPr/>
        </p:nvSpPr>
        <p:spPr>
          <a:xfrm>
            <a:off x="731520" y="4069080"/>
            <a:ext cx="5120640" cy="2240280"/>
          </a:xfrm>
          <a:prstGeom prst="roundRect">
            <a:avLst/>
          </a:prstGeom>
          <a:solidFill>
            <a:srgbClr val="FFFFFF"/>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233672"/>
            <a:ext cx="4754880" cy="1911096"/>
          </a:xfrm>
          <a:prstGeom prst="rect">
            <a:avLst/>
          </a:prstGeom>
          <a:noFill/>
        </p:spPr>
        <p:txBody>
          <a:bodyPr wrap="square">
            <a:spAutoFit/>
          </a:bodyPr>
          <a:lstStyle/>
          <a:p>
            <a:pPr>
              <a:spcAft>
                <a:spcPts val="200"/>
              </a:spcAft>
              <a:defRPr sz="950" b="1">
                <a:solidFill>
                  <a:srgbClr val="D97706"/>
                </a:solidFill>
              </a:defRPr>
            </a:pPr>
            <a:r>
              <a:t>DAYS 1–5 LIVE • DAYS 6–30 IN FLIGHT</a:t>
            </a:r>
          </a:p>
          <a:p>
            <a:pPr>
              <a:spcAft>
                <a:spcPts val="200"/>
              </a:spcAft>
              <a:defRPr sz="1400" b="1">
                <a:solidFill>
                  <a:srgbClr val="0F172A"/>
                </a:solidFill>
              </a:defRPr>
            </a:pPr>
            <a:r>
              <a:t>Course 29: Enterprise B2B Sales &amp; CRM</a:t>
            </a:r>
          </a:p>
          <a:p>
            <a:pPr>
              <a:spcAft>
                <a:spcPts val="400"/>
              </a:spcAft>
              <a:defRPr sz="1050">
                <a:solidFill>
                  <a:srgbClr val="D97706"/>
                </a:solidFill>
              </a:defRPr>
            </a:pPr>
            <a:r>
              <a:t>B2B Pipeline Velocity &amp; Deal Defense</a:t>
            </a:r>
          </a:p>
          <a:p>
            <a:pPr>
              <a:spcAft>
                <a:spcPts val="300"/>
              </a:spcAft>
              <a:defRPr sz="1050">
                <a:solidFill>
                  <a:srgbClr val="334155"/>
                </a:solidFill>
              </a:defRPr>
            </a:pPr>
            <a:r>
              <a:t>• B2B pipeline velocity math, BANT qualification, MEDDPICC deal defense.</a:t>
            </a:r>
          </a:p>
          <a:p>
            <a:pPr>
              <a:spcAft>
                <a:spcPts val="300"/>
              </a:spcAft>
              <a:defRPr sz="1050">
                <a:solidFill>
                  <a:srgbClr val="334155"/>
                </a:solidFill>
              </a:defRPr>
            </a:pPr>
            <a:r>
              <a:t>• LTV:CAC unit economics, proactive churn intervention playbooks, CPQ guardrails.</a:t>
            </a:r>
          </a:p>
          <a:p>
            <a:pPr>
              <a:spcAft>
                <a:spcPts val="300"/>
              </a:spcAft>
              <a:defRPr sz="1050">
                <a:solidFill>
                  <a:srgbClr val="334155"/>
                </a:solidFill>
              </a:defRPr>
            </a:pPr>
            <a:r>
              <a:t>• Career: Enterprise Account Executive, Customer Success Director (Rs 12–25 LPA).</a:t>
            </a:r>
          </a:p>
        </p:txBody>
      </p:sp>
      <p:sp>
        <p:nvSpPr>
          <p:cNvPr id="14" name="Rounded Rectangle 13"/>
          <p:cNvSpPr/>
          <p:nvPr/>
        </p:nvSpPr>
        <p:spPr>
          <a:xfrm>
            <a:off x="6217920" y="4069080"/>
            <a:ext cx="52120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233672"/>
            <a:ext cx="4846320" cy="1911096"/>
          </a:xfrm>
          <a:prstGeom prst="rect">
            <a:avLst/>
          </a:prstGeom>
          <a:noFill/>
        </p:spPr>
        <p:txBody>
          <a:bodyPr wrap="square">
            <a:spAutoFit/>
          </a:bodyPr>
          <a:lstStyle/>
          <a:p>
            <a:pPr>
              <a:spcAft>
                <a:spcPts val="200"/>
              </a:spcAft>
              <a:defRPr sz="950" b="1">
                <a:solidFill>
                  <a:srgbClr val="7E22CE"/>
                </a:solidFill>
              </a:defRPr>
            </a:pPr>
            <a:r>
              <a:t>DAYS 1–5 LIVE • DAYS 6–30 IN FLIGHT</a:t>
            </a:r>
          </a:p>
          <a:p>
            <a:pPr>
              <a:spcAft>
                <a:spcPts val="200"/>
              </a:spcAft>
              <a:defRPr sz="1400" b="1">
                <a:solidFill>
                  <a:srgbClr val="0F172A"/>
                </a:solidFill>
              </a:defRPr>
            </a:pPr>
            <a:r>
              <a:t>Course 31: AI &amp; Digital Transformation</a:t>
            </a:r>
          </a:p>
          <a:p>
            <a:pPr>
              <a:spcAft>
                <a:spcPts val="400"/>
              </a:spcAft>
              <a:defRPr sz="1050">
                <a:solidFill>
                  <a:srgbClr val="7E22CE"/>
                </a:solidFill>
              </a:defRPr>
            </a:pPr>
            <a:r>
              <a:t>Enterprise AI Adoption &amp; Process Mining</a:t>
            </a:r>
          </a:p>
          <a:p>
            <a:pPr>
              <a:spcAft>
                <a:spcPts val="300"/>
              </a:spcAft>
              <a:defRPr sz="1050">
                <a:solidFill>
                  <a:srgbClr val="334155"/>
                </a:solidFill>
              </a:defRPr>
            </a:pPr>
            <a:r>
              <a:t>• Hyperautomation: Deterministic RPA bots vs probabilistic cognitive AI agents.</a:t>
            </a:r>
          </a:p>
          <a:p>
            <a:pPr>
              <a:spcAft>
                <a:spcPts val="300"/>
              </a:spcAft>
              <a:defRPr sz="1050">
                <a:solidFill>
                  <a:srgbClr val="334155"/>
                </a:solidFill>
              </a:defRPr>
            </a:pPr>
            <a:r>
              <a:t>• Process mining on ERP event logs, automation economics (FTE labor savings).</a:t>
            </a:r>
          </a:p>
          <a:p>
            <a:pPr>
              <a:spcAft>
                <a:spcPts val="300"/>
              </a:spcAft>
              <a:defRPr sz="1050">
                <a:solidFill>
                  <a:srgbClr val="334155"/>
                </a:solidFill>
              </a:defRPr>
            </a:pPr>
            <a:r>
              <a:t>• Career: Management Consultant, Chief Digital Officer Staff (Rs 14–28 LPA).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320040"/>
            <a:ext cx="3291840" cy="292608"/>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UNIVERSAL CAMPUS ADOPTION &amp; THE ROAD AHEAD</a:t>
            </a:r>
          </a:p>
        </p:txBody>
      </p:sp>
      <p:sp>
        <p:nvSpPr>
          <p:cNvPr id="5" name="TextBox 4"/>
          <p:cNvSpPr txBox="1"/>
          <p:nvPr/>
        </p:nvSpPr>
        <p:spPr>
          <a:xfrm>
            <a:off x="10241280" y="320040"/>
            <a:ext cx="1216152" cy="320040"/>
          </a:xfrm>
          <a:prstGeom prst="rect">
            <a:avLst/>
          </a:prstGeom>
          <a:noFill/>
        </p:spPr>
        <p:txBody>
          <a:bodyPr wrap="none">
            <a:spAutoFit/>
          </a:bodyPr>
          <a:lstStyle/>
          <a:p>
            <a:pPr algn="r">
              <a:defRPr sz="1100" b="1">
                <a:solidFill>
                  <a:srgbClr val="64748B"/>
                </a:solidFill>
              </a:defRPr>
            </a:pPr>
            <a:r>
              <a:t>SLIDE 10 / 10</a:t>
            </a:r>
          </a:p>
        </p:txBody>
      </p:sp>
      <p:sp>
        <p:nvSpPr>
          <p:cNvPr id="6" name="TextBox 5"/>
          <p:cNvSpPr txBox="1"/>
          <p:nvPr/>
        </p:nvSpPr>
        <p:spPr>
          <a:xfrm>
            <a:off x="731520" y="658368"/>
            <a:ext cx="10698480" cy="502920"/>
          </a:xfrm>
          <a:prstGeom prst="rect">
            <a:avLst/>
          </a:prstGeom>
          <a:noFill/>
        </p:spPr>
        <p:txBody>
          <a:bodyPr wrap="none">
            <a:spAutoFit/>
          </a:bodyPr>
          <a:lstStyle/>
          <a:p>
            <a:pPr>
              <a:defRPr sz="2100" b="1">
                <a:solidFill>
                  <a:srgbClr val="0F172A"/>
                </a:solidFill>
              </a:defRPr>
            </a:pPr>
            <a:r>
              <a:t>Freshman Launchpads (Courses 32–36) &amp; The Scaled 3-Branch Roadmap</a:t>
            </a:r>
          </a:p>
        </p:txBody>
      </p:sp>
      <p:sp>
        <p:nvSpPr>
          <p:cNvPr id="7" name="TextBox 6"/>
          <p:cNvSpPr txBox="1"/>
          <p:nvPr/>
        </p:nvSpPr>
        <p:spPr>
          <a:xfrm>
            <a:off x="731520" y="1170432"/>
            <a:ext cx="10698480" cy="347472"/>
          </a:xfrm>
          <a:prstGeom prst="rect">
            <a:avLst/>
          </a:prstGeom>
          <a:noFill/>
        </p:spPr>
        <p:txBody>
          <a:bodyPr wrap="none">
            <a:spAutoFit/>
          </a:bodyPr>
          <a:lstStyle/>
          <a:p>
            <a:pPr>
              <a:defRPr sz="1200">
                <a:solidFill>
                  <a:srgbClr val="64748B"/>
                </a:solidFill>
              </a:defRPr>
            </a:pPr>
            <a:r>
              <a:t>Level 0 Campus Readiness for Every Incoming Student + The Parallel Execution Engine to 100% Completion</a:t>
            </a:r>
          </a:p>
        </p:txBody>
      </p:sp>
      <p:sp>
        <p:nvSpPr>
          <p:cNvPr id="8" name="Rounded Rectangle 7"/>
          <p:cNvSpPr/>
          <p:nvPr/>
        </p:nvSpPr>
        <p:spPr>
          <a:xfrm>
            <a:off x="731520" y="1645920"/>
            <a:ext cx="1920240" cy="24688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1554480" cy="2139696"/>
          </a:xfrm>
          <a:prstGeom prst="rect">
            <a:avLst/>
          </a:prstGeom>
          <a:noFill/>
        </p:spPr>
        <p:txBody>
          <a:bodyPr wrap="square">
            <a:spAutoFit/>
          </a:bodyPr>
          <a:lstStyle/>
          <a:p>
            <a:pPr>
              <a:spcAft>
                <a:spcPts val="200"/>
              </a:spcAft>
              <a:defRPr sz="950" b="1">
                <a:solidFill>
                  <a:srgbClr val="2563EB"/>
                </a:solidFill>
              </a:defRPr>
            </a:pPr>
            <a:r>
              <a:t>D1-5 LIVE</a:t>
            </a:r>
          </a:p>
          <a:p>
            <a:pPr>
              <a:spcAft>
                <a:spcPts val="200"/>
              </a:spcAft>
              <a:defRPr sz="1400" b="1">
                <a:solidFill>
                  <a:srgbClr val="0F172A"/>
                </a:solidFill>
              </a:defRPr>
            </a:pPr>
            <a:r>
              <a:t>Course 32: OS Basics</a:t>
            </a:r>
          </a:p>
          <a:p>
            <a:pPr>
              <a:spcAft>
                <a:spcPts val="400"/>
              </a:spcAft>
              <a:defRPr sz="1050">
                <a:solidFill>
                  <a:srgbClr val="2563EB"/>
                </a:solidFill>
              </a:defRPr>
            </a:pPr>
            <a:r>
              <a:t>Computer Literacy</a:t>
            </a:r>
          </a:p>
          <a:p>
            <a:pPr>
              <a:spcAft>
                <a:spcPts val="300"/>
              </a:spcAft>
              <a:defRPr sz="1050">
                <a:solidFill>
                  <a:srgbClr val="334155"/>
                </a:solidFill>
              </a:defRPr>
            </a:pPr>
            <a:r>
              <a:t>• Linux POSIX commands.</a:t>
            </a:r>
          </a:p>
          <a:p>
            <a:pPr>
              <a:spcAft>
                <a:spcPts val="300"/>
              </a:spcAft>
              <a:defRPr sz="1050">
                <a:solidFill>
                  <a:srgbClr val="334155"/>
                </a:solidFill>
              </a:defRPr>
            </a:pPr>
            <a:r>
              <a:t>• File tree navigation.</a:t>
            </a:r>
          </a:p>
          <a:p>
            <a:pPr>
              <a:spcAft>
                <a:spcPts val="300"/>
              </a:spcAft>
              <a:defRPr sz="1050">
                <a:solidFill>
                  <a:srgbClr val="334155"/>
                </a:solidFill>
              </a:defRPr>
            </a:pPr>
            <a:r>
              <a:t>• Piping &amp; terminal CLI.</a:t>
            </a:r>
          </a:p>
        </p:txBody>
      </p:sp>
      <p:sp>
        <p:nvSpPr>
          <p:cNvPr id="10" name="Rounded Rectangle 9"/>
          <p:cNvSpPr/>
          <p:nvPr/>
        </p:nvSpPr>
        <p:spPr>
          <a:xfrm>
            <a:off x="2834640" y="1645920"/>
            <a:ext cx="1920240" cy="24688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0" y="1810512"/>
            <a:ext cx="1554480" cy="2139696"/>
          </a:xfrm>
          <a:prstGeom prst="rect">
            <a:avLst/>
          </a:prstGeom>
          <a:noFill/>
        </p:spPr>
        <p:txBody>
          <a:bodyPr wrap="square">
            <a:spAutoFit/>
          </a:bodyPr>
          <a:lstStyle/>
          <a:p>
            <a:pPr>
              <a:spcAft>
                <a:spcPts val="200"/>
              </a:spcAft>
              <a:defRPr sz="950" b="1">
                <a:solidFill>
                  <a:srgbClr val="7E22CE"/>
                </a:solidFill>
              </a:defRPr>
            </a:pPr>
            <a:r>
              <a:t>100% LIVE (30D)</a:t>
            </a:r>
          </a:p>
          <a:p>
            <a:pPr>
              <a:spcAft>
                <a:spcPts val="200"/>
              </a:spcAft>
              <a:defRPr sz="1400" b="1">
                <a:solidFill>
                  <a:srgbClr val="0F172A"/>
                </a:solidFill>
              </a:defRPr>
            </a:pPr>
            <a:r>
              <a:t>Course 33: AI Prompt</a:t>
            </a:r>
          </a:p>
          <a:p>
            <a:pPr>
              <a:spcAft>
                <a:spcPts val="400"/>
              </a:spcAft>
              <a:defRPr sz="1050">
                <a:solidFill>
                  <a:srgbClr val="7E22CE"/>
                </a:solidFill>
              </a:defRPr>
            </a:pPr>
            <a:r>
              <a:t>Everyday AI Tools</a:t>
            </a:r>
          </a:p>
          <a:p>
            <a:pPr>
              <a:spcAft>
                <a:spcPts val="300"/>
              </a:spcAft>
              <a:defRPr sz="1050">
                <a:solidFill>
                  <a:srgbClr val="334155"/>
                </a:solidFill>
              </a:defRPr>
            </a:pPr>
            <a:r>
              <a:t>• Everyday AI literacy.</a:t>
            </a:r>
          </a:p>
          <a:p>
            <a:pPr>
              <a:spcAft>
                <a:spcPts val="300"/>
              </a:spcAft>
              <a:defRPr sz="1050">
                <a:solidFill>
                  <a:srgbClr val="334155"/>
                </a:solidFill>
              </a:defRPr>
            </a:pPr>
            <a:r>
              <a:t>• Chain-of-thought prompts.</a:t>
            </a:r>
          </a:p>
          <a:p>
            <a:pPr>
              <a:spcAft>
                <a:spcPts val="300"/>
              </a:spcAft>
              <a:defRPr sz="1050">
                <a:solidFill>
                  <a:srgbClr val="334155"/>
                </a:solidFill>
              </a:defRPr>
            </a:pPr>
            <a:r>
              <a:t>• Automated workflows.</a:t>
            </a:r>
          </a:p>
        </p:txBody>
      </p:sp>
      <p:sp>
        <p:nvSpPr>
          <p:cNvPr id="12" name="Rounded Rectangle 11"/>
          <p:cNvSpPr/>
          <p:nvPr/>
        </p:nvSpPr>
        <p:spPr>
          <a:xfrm>
            <a:off x="4937760" y="1645920"/>
            <a:ext cx="2194560" cy="2468880"/>
          </a:xfrm>
          <a:prstGeom prst="roundRect">
            <a:avLst/>
          </a:prstGeom>
          <a:solidFill>
            <a:srgbClr val="FFFFFF"/>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1810512"/>
            <a:ext cx="1828800" cy="2139696"/>
          </a:xfrm>
          <a:prstGeom prst="rect">
            <a:avLst/>
          </a:prstGeom>
          <a:noFill/>
        </p:spPr>
        <p:txBody>
          <a:bodyPr wrap="square">
            <a:spAutoFit/>
          </a:bodyPr>
          <a:lstStyle/>
          <a:p>
            <a:pPr>
              <a:spcAft>
                <a:spcPts val="200"/>
              </a:spcAft>
              <a:defRPr sz="950" b="1">
                <a:solidFill>
                  <a:srgbClr val="10B981"/>
                </a:solidFill>
              </a:defRPr>
            </a:pPr>
            <a:r>
              <a:t>D1-10 LIVE</a:t>
            </a:r>
          </a:p>
          <a:p>
            <a:pPr>
              <a:spcAft>
                <a:spcPts val="200"/>
              </a:spcAft>
              <a:defRPr sz="1400" b="1">
                <a:solidFill>
                  <a:srgbClr val="0F172A"/>
                </a:solidFill>
              </a:defRPr>
            </a:pPr>
            <a:r>
              <a:t>Course 34: Excel Viz</a:t>
            </a:r>
          </a:p>
          <a:p>
            <a:pPr>
              <a:spcAft>
                <a:spcPts val="400"/>
              </a:spcAft>
              <a:defRPr sz="1050">
                <a:solidFill>
                  <a:srgbClr val="10B981"/>
                </a:solidFill>
              </a:defRPr>
            </a:pPr>
            <a:r>
              <a:t>Data Modeling</a:t>
            </a:r>
          </a:p>
          <a:p>
            <a:pPr>
              <a:spcAft>
                <a:spcPts val="300"/>
              </a:spcAft>
              <a:defRPr sz="1050">
                <a:solidFill>
                  <a:srgbClr val="334155"/>
                </a:solidFill>
              </a:defRPr>
            </a:pPr>
            <a:r>
              <a:t>• Power Query &amp; Star Schema.</a:t>
            </a:r>
          </a:p>
          <a:p>
            <a:pPr>
              <a:spcAft>
                <a:spcPts val="300"/>
              </a:spcAft>
              <a:defRPr sz="1050">
                <a:solidFill>
                  <a:srgbClr val="334155"/>
                </a:solidFill>
              </a:defRPr>
            </a:pPr>
            <a:r>
              <a:t>• DAX Time Intelligence.</a:t>
            </a:r>
          </a:p>
          <a:p>
            <a:pPr>
              <a:spcAft>
                <a:spcPts val="300"/>
              </a:spcAft>
              <a:defRPr sz="1050">
                <a:solidFill>
                  <a:srgbClr val="334155"/>
                </a:solidFill>
              </a:defRPr>
            </a:pPr>
            <a:r>
              <a:t>• Financial Amortization.</a:t>
            </a:r>
          </a:p>
        </p:txBody>
      </p:sp>
      <p:sp>
        <p:nvSpPr>
          <p:cNvPr id="14" name="Rounded Rectangle 13"/>
          <p:cNvSpPr/>
          <p:nvPr/>
        </p:nvSpPr>
        <p:spPr>
          <a:xfrm>
            <a:off x="7315200" y="1645920"/>
            <a:ext cx="1920240" cy="24688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0" y="1810512"/>
            <a:ext cx="1554480" cy="2139696"/>
          </a:xfrm>
          <a:prstGeom prst="rect">
            <a:avLst/>
          </a:prstGeom>
          <a:noFill/>
        </p:spPr>
        <p:txBody>
          <a:bodyPr wrap="square">
            <a:spAutoFit/>
          </a:bodyPr>
          <a:lstStyle/>
          <a:p>
            <a:pPr>
              <a:spcAft>
                <a:spcPts val="200"/>
              </a:spcAft>
              <a:defRPr sz="950" b="1">
                <a:solidFill>
                  <a:srgbClr val="2563EB"/>
                </a:solidFill>
              </a:defRPr>
            </a:pPr>
            <a:r>
              <a:t>D1-5 LIVE</a:t>
            </a:r>
          </a:p>
          <a:p>
            <a:pPr>
              <a:spcAft>
                <a:spcPts val="200"/>
              </a:spcAft>
              <a:defRPr sz="1400" b="1">
                <a:solidFill>
                  <a:srgbClr val="0F172A"/>
                </a:solidFill>
              </a:defRPr>
            </a:pPr>
            <a:r>
              <a:t>Course 35: Git VCS</a:t>
            </a:r>
          </a:p>
          <a:p>
            <a:pPr>
              <a:spcAft>
                <a:spcPts val="400"/>
              </a:spcAft>
              <a:defRPr sz="1050">
                <a:solidFill>
                  <a:srgbClr val="2563EB"/>
                </a:solidFill>
              </a:defRPr>
            </a:pPr>
            <a:r>
              <a:t>Version Control</a:t>
            </a:r>
          </a:p>
          <a:p>
            <a:pPr>
              <a:spcAft>
                <a:spcPts val="300"/>
              </a:spcAft>
              <a:defRPr sz="1050">
                <a:solidFill>
                  <a:srgbClr val="334155"/>
                </a:solidFill>
              </a:defRPr>
            </a:pPr>
            <a:r>
              <a:t>• Distributed Git states.</a:t>
            </a:r>
          </a:p>
          <a:p>
            <a:pPr>
              <a:spcAft>
                <a:spcPts val="300"/>
              </a:spcAft>
              <a:defRPr sz="1050">
                <a:solidFill>
                  <a:srgbClr val="334155"/>
                </a:solidFill>
              </a:defRPr>
            </a:pPr>
            <a:r>
              <a:t>• Branching &amp; merge conflicts.</a:t>
            </a:r>
          </a:p>
          <a:p>
            <a:pPr>
              <a:spcAft>
                <a:spcPts val="300"/>
              </a:spcAft>
              <a:defRPr sz="1050">
                <a:solidFill>
                  <a:srgbClr val="334155"/>
                </a:solidFill>
              </a:defRPr>
            </a:pPr>
            <a:r>
              <a:t>• GitHub team workflows.</a:t>
            </a:r>
          </a:p>
        </p:txBody>
      </p:sp>
      <p:sp>
        <p:nvSpPr>
          <p:cNvPr id="16" name="Rounded Rectangle 15"/>
          <p:cNvSpPr/>
          <p:nvPr/>
        </p:nvSpPr>
        <p:spPr>
          <a:xfrm>
            <a:off x="9418320" y="1645920"/>
            <a:ext cx="2039112" cy="24688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1810512"/>
            <a:ext cx="1673352" cy="2139696"/>
          </a:xfrm>
          <a:prstGeom prst="rect">
            <a:avLst/>
          </a:prstGeom>
          <a:noFill/>
        </p:spPr>
        <p:txBody>
          <a:bodyPr wrap="square">
            <a:spAutoFit/>
          </a:bodyPr>
          <a:lstStyle/>
          <a:p>
            <a:pPr>
              <a:spcAft>
                <a:spcPts val="200"/>
              </a:spcAft>
              <a:defRPr sz="950" b="1">
                <a:solidFill>
                  <a:srgbClr val="D97706"/>
                </a:solidFill>
              </a:defRPr>
            </a:pPr>
            <a:r>
              <a:t>D1-5 LIVE</a:t>
            </a:r>
          </a:p>
          <a:p>
            <a:pPr>
              <a:spcAft>
                <a:spcPts val="200"/>
              </a:spcAft>
              <a:defRPr sz="1400" b="1">
                <a:solidFill>
                  <a:srgbClr val="0F172A"/>
                </a:solidFill>
              </a:defRPr>
            </a:pPr>
            <a:r>
              <a:t>Course 36: Soft Skills</a:t>
            </a:r>
          </a:p>
          <a:p>
            <a:pPr>
              <a:spcAft>
                <a:spcPts val="400"/>
              </a:spcAft>
              <a:defRPr sz="1050">
                <a:solidFill>
                  <a:srgbClr val="D97706"/>
                </a:solidFill>
              </a:defRPr>
            </a:pPr>
            <a:r>
              <a:t>Interview Mastery</a:t>
            </a:r>
          </a:p>
          <a:p>
            <a:pPr>
              <a:spcAft>
                <a:spcPts val="300"/>
              </a:spcAft>
              <a:defRPr sz="1050">
                <a:solidFill>
                  <a:srgbClr val="334155"/>
                </a:solidFill>
              </a:defRPr>
            </a:pPr>
            <a:r>
              <a:t>• Socratic STAR interviews.</a:t>
            </a:r>
          </a:p>
          <a:p>
            <a:pPr>
              <a:spcAft>
                <a:spcPts val="300"/>
              </a:spcAft>
              <a:defRPr sz="1050">
                <a:solidFill>
                  <a:srgbClr val="334155"/>
                </a:solidFill>
              </a:defRPr>
            </a:pPr>
            <a:r>
              <a:t>• Executive communication.</a:t>
            </a:r>
          </a:p>
          <a:p>
            <a:pPr>
              <a:spcAft>
                <a:spcPts val="300"/>
              </a:spcAft>
              <a:defRPr sz="1050">
                <a:solidFill>
                  <a:srgbClr val="334155"/>
                </a:solidFill>
              </a:defRPr>
            </a:pPr>
            <a:r>
              <a:t>• Compensation negotiation.</a:t>
            </a:r>
          </a:p>
        </p:txBody>
      </p:sp>
      <p:sp>
        <p:nvSpPr>
          <p:cNvPr id="18" name="Rounded Rectangle 17"/>
          <p:cNvSpPr/>
          <p:nvPr/>
        </p:nvSpPr>
        <p:spPr>
          <a:xfrm>
            <a:off x="731520" y="4297680"/>
            <a:ext cx="10725912" cy="201168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462272"/>
            <a:ext cx="10360152" cy="1682496"/>
          </a:xfrm>
          <a:prstGeom prst="rect">
            <a:avLst/>
          </a:prstGeom>
          <a:noFill/>
        </p:spPr>
        <p:txBody>
          <a:bodyPr wrap="square">
            <a:spAutoFit/>
          </a:bodyPr>
          <a:lstStyle/>
          <a:p>
            <a:pPr>
              <a:spcAft>
                <a:spcPts val="200"/>
              </a:spcAft>
              <a:defRPr sz="950" b="1">
                <a:solidFill>
                  <a:srgbClr val="2563EB"/>
                </a:solidFill>
              </a:defRPr>
            </a:pPr>
            <a:r>
              <a:t>THE ROAD TO 100% COMPLETION</a:t>
            </a:r>
          </a:p>
          <a:p>
            <a:pPr>
              <a:spcAft>
                <a:spcPts val="200"/>
              </a:spcAft>
              <a:defRPr sz="1400" b="1">
                <a:solidFill>
                  <a:srgbClr val="0F172A"/>
                </a:solidFill>
              </a:defRPr>
            </a:pPr>
            <a:r>
              <a:t>The 3-Branch Parallel Scaling Roadmap: Finishing the Remaining 34%</a:t>
            </a:r>
          </a:p>
          <a:p>
            <a:pPr>
              <a:spcAft>
                <a:spcPts val="400"/>
              </a:spcAft>
              <a:defRPr sz="1050">
                <a:solidFill>
                  <a:srgbClr val="2563EB"/>
                </a:solidFill>
              </a:defRPr>
            </a:pPr>
            <a:r>
              <a:t>1,045 Days Live Today -&gt; 1,590 Days Complete Platform Target</a:t>
            </a:r>
          </a:p>
          <a:p>
            <a:pPr>
              <a:spcAft>
                <a:spcPts val="300"/>
              </a:spcAft>
              <a:defRPr sz="1050">
                <a:solidFill>
                  <a:srgbClr val="334155"/>
                </a:solidFill>
              </a:defRPr>
            </a:pPr>
            <a:r>
              <a:t>• Branch A (Current Stream): Finalizing Tech Launchpads (Excel, Git, OS, Soft Skills to Day 30 = 95 Days).</a:t>
            </a:r>
          </a:p>
          <a:p>
            <a:pPr>
              <a:spcAft>
                <a:spcPts val="300"/>
              </a:spcAft>
              <a:defRPr sz="1050">
                <a:solidFill>
                  <a:srgbClr val="334155"/>
                </a:solidFill>
              </a:defRPr>
            </a:pPr>
            <a:r>
              <a:t>• Branch B (Sub-Agent Stream): Completing 14 Commerce Tracks &amp; 4 IoT Tracks from Day 6 to Day 30 (450 Days) with zero file collisions.</a:t>
            </a:r>
          </a:p>
          <a:p>
            <a:pPr>
              <a:spcAft>
                <a:spcPts val="300"/>
              </a:spcAft>
              <a:defRPr sz="1050">
                <a:solidFill>
                  <a:srgbClr val="334155"/>
                </a:solidFill>
              </a:defRPr>
            </a:pPr>
            <a:r>
              <a:t>• Branch C (Platform Stream): Delivering Campus Admin Portal, Faculty Grading Rubrics, and University Multi-Tenant Isolation.</a:t>
            </a:r>
          </a:p>
          <a:p>
            <a:pPr>
              <a:spcAft>
                <a:spcPts val="300"/>
              </a:spcAft>
              <a:defRPr sz="1050">
                <a:solidFill>
                  <a:srgbClr val="334155"/>
                </a:solidFill>
              </a:defRPr>
            </a:pPr>
            <a:r>
              <a:t>• Commercial Goal: Licensing the complete 37-course OS to universities at $50k-$200k/year recurring B2B enterprise contracts.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