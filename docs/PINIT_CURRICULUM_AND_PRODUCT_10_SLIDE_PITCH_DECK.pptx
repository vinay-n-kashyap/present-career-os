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shareholders. If you're new to PinIT Career OS, here is our core premise: Higher education is experiencing an employability crisis. Universities teach outdated theory, and online video courses fail because 90% of students drop out. PinIT solves this. We are an all-in-one Career Operating System that replaces passive videos with hands-on practice, AI pair-programming, and real company projects. Over 1,045 training days are already built and live on our platform today.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our shareholders, here is our course footprint: We offer 37 complete, semester-grade master courses. Unlike single-subject bootcamps that only teach coding, PinIT covers the entire college: Computer Science, Cloud, AI, Hardware, and 14 complete tracks in Commerce, Finance, and Business Management. A university can license PinIT to serve their entire student body across every department.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our exact progress for investors: To reach our 30-Day Foundation standard across all 53 tracks, we need 1,590 course days. We have already built and verified 1,045 days—that is 65.7% of the total curriculum complete and live! The remaining 34.3% is 545 days, mostly in Commerce and IoT. We are building this through 3 parallel sub-branches so we can finish the remaining work rapidly without collisions.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is our teaching methodology our biggest competitive moat? Because competitors just sell pre-recorded videos. In PinIT, students spend 30 minutes a day actively doing the work: listening to a senior mentor, watching animated state changes, fixing real code bugs, and solving simulated production outages. And our Socratic AI never simply hands them the answer—it guides them to figure it out themselves. That's why our completion rates crush the industry average.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investor asks: What is your proprietary technology? It's our 17 Interactive Visual Engines. Most students quit accounting because debits and credits feel abstract. Our LedgerSheet engine makes it click instantly. Most students quit embedded systems because memory registers are invisible. Our RegisterBits engine lets them flip bits and see the memory change live. We've built 990 of these visual simulations, creating a massive barrier to entry for any competitor.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Software and Web Systems vertical is 100% complete today. Why is this critical for shareholders? Because software engineering accounts for over 70% of high-paying campus placements. Our students don't just learn syntax—they build distributed queues, configure database indexes, and deploy containers. When tech recruiters see our students' verified code on GitHub, they hire them immediately at Rs 12 to 25 Lakh starting packages.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our crown jewel: Quantitative and Low-Latency Trading Systems. 30 full days, completely built and verified. High-frequency trading firms pay the highest starting salaries in the world—often Rs 40 to 80 Lakhs—yet universities teach zero HFT. PinIT has built the world's first interactive HFT curriculum. This elite track positions PinIT as a premium, institutional product that attracts top engineering colleges.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is Commerce our biggest revenue expansion opportunity? Because over 60% of students on college campuses are NOT in computer science—they are in B.Com, BBA, and MBA programs. Almost all coding bootcamps completely ignore this massive audience! We have built 14 complete business tracks covering Finance, Banking, Tax, and Marketing with interactive simulations. This allows us to sell PinIT to the entire university, not just the engineering department.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campus needs a starting point for incoming freshmen. Our Launchpad courses—Excel, Git, Computer Fundamentals, and Interview Skills—provide an immediate confidence booster for first-year students. Meanwhile, our four IoT tracks connect students to the physical world of electronics and microcontrollers, perfectly aligned with the global surge in semiconductor manufacturing.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for our shareholders: PinIT Career OS is already 65.7% built and fully verified with over 1,045 active training days. By deploying our 3-branch parallel execution architecture, we are rapidly finishing the remaining 34% without collisions or delays. We are building the definitive operating system for higher education—delivering high-margin B2B SaaS software to universities and transforming students into hireable professionals.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320040"/>
            <a:ext cx="2926080" cy="292608"/>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2563EB"/>
                </a:solidFill>
              </a:defRPr>
            </a:pPr>
            <a:r>
              <a:t>EXECUTIVE SUMMARY</a:t>
            </a:r>
          </a:p>
        </p:txBody>
      </p:sp>
      <p:sp>
        <p:nvSpPr>
          <p:cNvPr id="5" name="TextBox 4"/>
          <p:cNvSpPr txBox="1"/>
          <p:nvPr/>
        </p:nvSpPr>
        <p:spPr>
          <a:xfrm>
            <a:off x="10241280" y="320040"/>
            <a:ext cx="1216152" cy="320040"/>
          </a:xfrm>
          <a:prstGeom prst="rect">
            <a:avLst/>
          </a:prstGeom>
          <a:noFill/>
        </p:spPr>
        <p:txBody>
          <a:bodyPr wrap="none">
            <a:spAutoFit/>
          </a:bodyPr>
          <a:lstStyle/>
          <a:p>
            <a:pPr algn="r">
              <a:defRPr sz="1100" b="1">
                <a:solidFill>
                  <a:srgbClr val="64748B"/>
                </a:solidFill>
              </a:defRPr>
            </a:pPr>
            <a:r>
              <a:t>SLIDE 01 / 10</a:t>
            </a:r>
          </a:p>
        </p:txBody>
      </p:sp>
      <p:sp>
        <p:nvSpPr>
          <p:cNvPr id="6" name="TextBox 5"/>
          <p:cNvSpPr txBox="1"/>
          <p:nvPr/>
        </p:nvSpPr>
        <p:spPr>
          <a:xfrm>
            <a:off x="731520" y="658368"/>
            <a:ext cx="10698480" cy="502920"/>
          </a:xfrm>
          <a:prstGeom prst="rect">
            <a:avLst/>
          </a:prstGeom>
          <a:noFill/>
        </p:spPr>
        <p:txBody>
          <a:bodyPr wrap="none">
            <a:spAutoFit/>
          </a:bodyPr>
          <a:lstStyle/>
          <a:p>
            <a:pPr>
              <a:defRPr sz="2200" b="1">
                <a:solidFill>
                  <a:srgbClr val="0F172A"/>
                </a:solidFill>
              </a:defRPr>
            </a:pPr>
            <a:r>
              <a:t>PinIT Career OS: The All-In-One Campus Career Operating System</a:t>
            </a:r>
          </a:p>
        </p:txBody>
      </p:sp>
      <p:sp>
        <p:nvSpPr>
          <p:cNvPr id="7" name="TextBox 6"/>
          <p:cNvSpPr txBox="1"/>
          <p:nvPr/>
        </p:nvSpPr>
        <p:spPr>
          <a:xfrm>
            <a:off x="731520" y="1170432"/>
            <a:ext cx="10698480" cy="365760"/>
          </a:xfrm>
          <a:prstGeom prst="rect">
            <a:avLst/>
          </a:prstGeom>
          <a:noFill/>
        </p:spPr>
        <p:txBody>
          <a:bodyPr wrap="none">
            <a:spAutoFit/>
          </a:bodyPr>
          <a:lstStyle/>
          <a:p>
            <a:pPr>
              <a:defRPr sz="1200">
                <a:solidFill>
                  <a:srgbClr val="64748B"/>
                </a:solidFill>
              </a:defRPr>
            </a:pPr>
            <a:r>
              <a:t>Transforming College Campuses into High-Placement Talent Engines Through Active Learning &amp; Verified Proof-of-Work</a:t>
            </a:r>
          </a:p>
        </p:txBody>
      </p:sp>
      <p:sp>
        <p:nvSpPr>
          <p:cNvPr id="8" name="Rounded Rectangle 7"/>
          <p:cNvSpPr/>
          <p:nvPr/>
        </p:nvSpPr>
        <p:spPr>
          <a:xfrm>
            <a:off x="731520" y="1645920"/>
            <a:ext cx="3291840" cy="164592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783080"/>
            <a:ext cx="2926080" cy="1371600"/>
          </a:xfrm>
          <a:prstGeom prst="rect">
            <a:avLst/>
          </a:prstGeom>
          <a:noFill/>
        </p:spPr>
        <p:txBody>
          <a:bodyPr wrap="square">
            <a:spAutoFit/>
          </a:bodyPr>
          <a:lstStyle/>
          <a:p>
            <a:pPr>
              <a:spcAft>
                <a:spcPts val="200"/>
              </a:spcAft>
              <a:defRPr sz="3600" b="1">
                <a:solidFill>
                  <a:srgbClr val="2563EB"/>
                </a:solidFill>
              </a:defRPr>
            </a:pPr>
            <a:r>
              <a:t>37</a:t>
            </a:r>
          </a:p>
          <a:p>
            <a:pPr>
              <a:spcAft>
                <a:spcPts val="400"/>
              </a:spcAft>
              <a:defRPr sz="1200" b="1">
                <a:solidFill>
                  <a:srgbClr val="0F172A"/>
                </a:solidFill>
              </a:defRPr>
            </a:pPr>
            <a:r>
              <a:t>MASTER COURSES</a:t>
            </a:r>
          </a:p>
          <a:p>
            <a:pPr>
              <a:defRPr sz="1100">
                <a:solidFill>
                  <a:srgbClr val="64748B"/>
                </a:solidFill>
              </a:defRPr>
            </a:pPr>
            <a:r>
              <a:t>Complete multi-disciplinary curriculum: Computer Science, Cloud, AI, Hardware &amp; 14 Commerce Tracks.</a:t>
            </a:r>
          </a:p>
        </p:txBody>
      </p:sp>
      <p:sp>
        <p:nvSpPr>
          <p:cNvPr id="10" name="Rounded Rectangle 9"/>
          <p:cNvSpPr/>
          <p:nvPr/>
        </p:nvSpPr>
        <p:spPr>
          <a:xfrm>
            <a:off x="4389120" y="1645920"/>
            <a:ext cx="3383280" cy="1645920"/>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0" y="1783080"/>
            <a:ext cx="3017520" cy="1371600"/>
          </a:xfrm>
          <a:prstGeom prst="rect">
            <a:avLst/>
          </a:prstGeom>
          <a:noFill/>
        </p:spPr>
        <p:txBody>
          <a:bodyPr wrap="square">
            <a:spAutoFit/>
          </a:bodyPr>
          <a:lstStyle/>
          <a:p>
            <a:pPr>
              <a:spcAft>
                <a:spcPts val="200"/>
              </a:spcAft>
              <a:defRPr sz="3600" b="1">
                <a:solidFill>
                  <a:srgbClr val="10B981"/>
                </a:solidFill>
              </a:defRPr>
            </a:pPr>
            <a:r>
              <a:t>1,045</a:t>
            </a:r>
          </a:p>
          <a:p>
            <a:pPr>
              <a:spcAft>
                <a:spcPts val="400"/>
              </a:spcAft>
              <a:defRPr sz="1200" b="1">
                <a:solidFill>
                  <a:srgbClr val="0F172A"/>
                </a:solidFill>
              </a:defRPr>
            </a:pPr>
            <a:r>
              <a:t>LESSON DAYS LIVE</a:t>
            </a:r>
          </a:p>
          <a:p>
            <a:pPr>
              <a:defRPr sz="1100">
                <a:solidFill>
                  <a:srgbClr val="64748B"/>
                </a:solidFill>
              </a:defRPr>
            </a:pPr>
            <a:r>
              <a:t>65.7% of full 30-day foundation curriculum completely built, verified, and running on the platform.</a:t>
            </a:r>
          </a:p>
        </p:txBody>
      </p:sp>
      <p:sp>
        <p:nvSpPr>
          <p:cNvPr id="12" name="Rounded Rectangle 11"/>
          <p:cNvSpPr/>
          <p:nvPr/>
        </p:nvSpPr>
        <p:spPr>
          <a:xfrm>
            <a:off x="8138160" y="1645920"/>
            <a:ext cx="3291840" cy="1645920"/>
          </a:xfrm>
          <a:prstGeom prst="roundRect">
            <a:avLst/>
          </a:prstGeom>
          <a:solidFill>
            <a:srgbClr val="FFFFFF"/>
          </a:solidFill>
          <a:ln w="19050">
            <a:solidFill>
              <a:srgbClr val="7E22C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40" y="1783080"/>
            <a:ext cx="2926080" cy="1371600"/>
          </a:xfrm>
          <a:prstGeom prst="rect">
            <a:avLst/>
          </a:prstGeom>
          <a:noFill/>
        </p:spPr>
        <p:txBody>
          <a:bodyPr wrap="square">
            <a:spAutoFit/>
          </a:bodyPr>
          <a:lstStyle/>
          <a:p>
            <a:pPr>
              <a:spcAft>
                <a:spcPts val="200"/>
              </a:spcAft>
              <a:defRPr sz="3600" b="1">
                <a:solidFill>
                  <a:srgbClr val="7E22CE"/>
                </a:solidFill>
              </a:defRPr>
            </a:pPr>
            <a:r>
              <a:t>990</a:t>
            </a:r>
          </a:p>
          <a:p>
            <a:pPr>
              <a:spcAft>
                <a:spcPts val="400"/>
              </a:spcAft>
              <a:defRPr sz="1200" b="1">
                <a:solidFill>
                  <a:srgbClr val="0F172A"/>
                </a:solidFill>
              </a:defRPr>
            </a:pPr>
            <a:r>
              <a:t>ACTIVE SIMULATORS</a:t>
            </a:r>
          </a:p>
          <a:p>
            <a:pPr>
              <a:defRPr sz="1100">
                <a:solidFill>
                  <a:srgbClr val="64748B"/>
                </a:solidFill>
              </a:defRPr>
            </a:pPr>
            <a:r>
              <a:t>Interactive browser state machines replacing passive video lectures with learn-by-doing practice.</a:t>
            </a:r>
          </a:p>
        </p:txBody>
      </p:sp>
      <p:sp>
        <p:nvSpPr>
          <p:cNvPr id="14" name="Rounded Rectangle 13"/>
          <p:cNvSpPr/>
          <p:nvPr/>
        </p:nvSpPr>
        <p:spPr>
          <a:xfrm>
            <a:off x="731520" y="3520440"/>
            <a:ext cx="5120640" cy="2788920"/>
          </a:xfrm>
          <a:prstGeom prst="roundRect">
            <a:avLst/>
          </a:prstGeom>
          <a:solidFill>
            <a:srgbClr val="FFF1F2"/>
          </a:solidFill>
          <a:ln w="1524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3703320"/>
            <a:ext cx="4663440" cy="2423160"/>
          </a:xfrm>
          <a:prstGeom prst="rect">
            <a:avLst/>
          </a:prstGeom>
          <a:noFill/>
        </p:spPr>
        <p:txBody>
          <a:bodyPr wrap="square">
            <a:spAutoFit/>
          </a:bodyPr>
          <a:lstStyle/>
          <a:p>
            <a:pPr>
              <a:spcAft>
                <a:spcPts val="200"/>
              </a:spcAft>
              <a:defRPr sz="1000" b="1">
                <a:solidFill>
                  <a:srgbClr val="E11D48"/>
                </a:solidFill>
              </a:defRPr>
            </a:pPr>
            <a:r>
              <a:t>THE PROBLEM</a:t>
            </a:r>
          </a:p>
          <a:p>
            <a:pPr>
              <a:spcAft>
                <a:spcPts val="200"/>
              </a:spcAft>
              <a:defRPr sz="1500" b="1">
                <a:solidFill>
                  <a:srgbClr val="0F172A"/>
                </a:solidFill>
              </a:defRPr>
            </a:pPr>
            <a:r>
              <a:t>The Broken College Status Quo</a:t>
            </a:r>
          </a:p>
          <a:p>
            <a:pPr>
              <a:spcAft>
                <a:spcPts val="600"/>
              </a:spcAft>
              <a:defRPr sz="1100">
                <a:solidFill>
                  <a:srgbClr val="E11D48"/>
                </a:solidFill>
              </a:defRPr>
            </a:pPr>
            <a:r>
              <a:t>Why Students &amp; Colleges Are Struggling</a:t>
            </a:r>
          </a:p>
          <a:p>
            <a:pPr>
              <a:spcAft>
                <a:spcPts val="400"/>
              </a:spcAft>
              <a:defRPr sz="1150">
                <a:solidFill>
                  <a:srgbClr val="334155"/>
                </a:solidFill>
              </a:defRPr>
            </a:pPr>
            <a:r>
              <a:t>• Outdated Theory: Universities teach textbook theory from 10 years ago.</a:t>
            </a:r>
          </a:p>
          <a:p>
            <a:pPr>
              <a:spcAft>
                <a:spcPts val="400"/>
              </a:spcAft>
              <a:defRPr sz="1150">
                <a:solidFill>
                  <a:srgbClr val="334155"/>
                </a:solidFill>
              </a:defRPr>
            </a:pPr>
            <a:r>
              <a:t>• 90% Video Dropout: MOOCs fail because watching passive videos is boring.</a:t>
            </a:r>
          </a:p>
          <a:p>
            <a:pPr>
              <a:spcAft>
                <a:spcPts val="400"/>
              </a:spcAft>
              <a:defRPr sz="1150">
                <a:solidFill>
                  <a:srgbClr val="334155"/>
                </a:solidFill>
              </a:defRPr>
            </a:pPr>
            <a:r>
              <a:t>• Unemployable Graduates: Over 80% fail basic practical coding and finance tests.</a:t>
            </a:r>
          </a:p>
          <a:p>
            <a:pPr>
              <a:spcAft>
                <a:spcPts val="400"/>
              </a:spcAft>
              <a:defRPr sz="1150">
                <a:solidFill>
                  <a:srgbClr val="334155"/>
                </a:solidFill>
              </a:defRPr>
            </a:pPr>
            <a:r>
              <a:t>• Software Sprawl: Colleges waste $60k-$130k/yr on separate LMS and exam vendors.</a:t>
            </a:r>
          </a:p>
        </p:txBody>
      </p:sp>
      <p:sp>
        <p:nvSpPr>
          <p:cNvPr id="16" name="Rounded Rectangle 15"/>
          <p:cNvSpPr/>
          <p:nvPr/>
        </p:nvSpPr>
        <p:spPr>
          <a:xfrm>
            <a:off x="6217920" y="3520440"/>
            <a:ext cx="5212080" cy="2788920"/>
          </a:xfrm>
          <a:prstGeom prst="roundRect">
            <a:avLst/>
          </a:prstGeom>
          <a:solidFill>
            <a:srgbClr val="F0FDF4"/>
          </a:solidFill>
          <a:ln w="1524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6520" y="3703320"/>
            <a:ext cx="4754880" cy="2423160"/>
          </a:xfrm>
          <a:prstGeom prst="rect">
            <a:avLst/>
          </a:prstGeom>
          <a:noFill/>
        </p:spPr>
        <p:txBody>
          <a:bodyPr wrap="square">
            <a:spAutoFit/>
          </a:bodyPr>
          <a:lstStyle/>
          <a:p>
            <a:pPr>
              <a:spcAft>
                <a:spcPts val="200"/>
              </a:spcAft>
              <a:defRPr sz="1000" b="1">
                <a:solidFill>
                  <a:srgbClr val="10B981"/>
                </a:solidFill>
              </a:defRPr>
            </a:pPr>
            <a:r>
              <a:t>THE SOLUTION</a:t>
            </a:r>
          </a:p>
          <a:p>
            <a:pPr>
              <a:spcAft>
                <a:spcPts val="200"/>
              </a:spcAft>
              <a:defRPr sz="1500" b="1">
                <a:solidFill>
                  <a:srgbClr val="0F172A"/>
                </a:solidFill>
              </a:defRPr>
            </a:pPr>
            <a:r>
              <a:t>The PinIT Sovereign Solution</a:t>
            </a:r>
          </a:p>
          <a:p>
            <a:pPr>
              <a:spcAft>
                <a:spcPts val="600"/>
              </a:spcAft>
              <a:defRPr sz="1100">
                <a:solidFill>
                  <a:srgbClr val="10B981"/>
                </a:solidFill>
              </a:defRPr>
            </a:pPr>
            <a:r>
              <a:t>Bridging College Directly to High-Paying Jobs</a:t>
            </a:r>
          </a:p>
          <a:p>
            <a:pPr>
              <a:spcAft>
                <a:spcPts val="400"/>
              </a:spcAft>
              <a:defRPr sz="1150">
                <a:solidFill>
                  <a:srgbClr val="334155"/>
                </a:solidFill>
              </a:defRPr>
            </a:pPr>
            <a:r>
              <a:t>• All-In-One Platform: Combines curriculum, browser practice, AI tutors, and placement.</a:t>
            </a:r>
          </a:p>
          <a:p>
            <a:pPr>
              <a:spcAft>
                <a:spcPts val="400"/>
              </a:spcAft>
              <a:defRPr sz="1150">
                <a:solidFill>
                  <a:srgbClr val="334155"/>
                </a:solidFill>
              </a:defRPr>
            </a:pPr>
            <a:r>
              <a:t>• Learn-By-Doing: Students write real code and run financial models every 5 minutes.</a:t>
            </a:r>
          </a:p>
          <a:p>
            <a:pPr>
              <a:spcAft>
                <a:spcPts val="400"/>
              </a:spcAft>
              <a:defRPr sz="1150">
                <a:solidFill>
                  <a:srgbClr val="334155"/>
                </a:solidFill>
              </a:defRPr>
            </a:pPr>
            <a:r>
              <a:t>• 24/7 Voice AI Mentors: Personal senior pair-programmers guiding students in real time.</a:t>
            </a:r>
          </a:p>
          <a:p>
            <a:pPr>
              <a:spcAft>
                <a:spcPts val="400"/>
              </a:spcAft>
              <a:defRPr sz="1150">
                <a:solidFill>
                  <a:srgbClr val="334155"/>
                </a:solidFill>
              </a:defRPr>
            </a:pPr>
            <a:r>
              <a:t>• Verifiable Proof-of-Work: Real code portfolios on GitHub that employers trust.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320040"/>
            <a:ext cx="2926080" cy="292608"/>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2563EB"/>
                </a:solidFill>
              </a:defRPr>
            </a:pPr>
            <a:r>
              <a:t>CURRICULUM ARCHITECTURE</a:t>
            </a:r>
          </a:p>
        </p:txBody>
      </p:sp>
      <p:sp>
        <p:nvSpPr>
          <p:cNvPr id="5" name="TextBox 4"/>
          <p:cNvSpPr txBox="1"/>
          <p:nvPr/>
        </p:nvSpPr>
        <p:spPr>
          <a:xfrm>
            <a:off x="10241280" y="320040"/>
            <a:ext cx="1216152" cy="320040"/>
          </a:xfrm>
          <a:prstGeom prst="rect">
            <a:avLst/>
          </a:prstGeom>
          <a:noFill/>
        </p:spPr>
        <p:txBody>
          <a:bodyPr wrap="none">
            <a:spAutoFit/>
          </a:bodyPr>
          <a:lstStyle/>
          <a:p>
            <a:pPr algn="r">
              <a:defRPr sz="1100" b="1">
                <a:solidFill>
                  <a:srgbClr val="64748B"/>
                </a:solidFill>
              </a:defRPr>
            </a:pPr>
            <a:r>
              <a:t>SLIDE 02 / 10</a:t>
            </a:r>
          </a:p>
        </p:txBody>
      </p:sp>
      <p:sp>
        <p:nvSpPr>
          <p:cNvPr id="6" name="TextBox 5"/>
          <p:cNvSpPr txBox="1"/>
          <p:nvPr/>
        </p:nvSpPr>
        <p:spPr>
          <a:xfrm>
            <a:off x="731520" y="658368"/>
            <a:ext cx="10698480" cy="502920"/>
          </a:xfrm>
          <a:prstGeom prst="rect">
            <a:avLst/>
          </a:prstGeom>
          <a:noFill/>
        </p:spPr>
        <p:txBody>
          <a:bodyPr wrap="none">
            <a:spAutoFit/>
          </a:bodyPr>
          <a:lstStyle/>
          <a:p>
            <a:pPr>
              <a:defRPr sz="2200" b="1">
                <a:solidFill>
                  <a:srgbClr val="0F172A"/>
                </a:solidFill>
              </a:defRPr>
            </a:pPr>
            <a:r>
              <a:t>The 37-Course Master Catalog: What We Teach &amp; Offer</a:t>
            </a:r>
          </a:p>
        </p:txBody>
      </p:sp>
      <p:sp>
        <p:nvSpPr>
          <p:cNvPr id="7" name="TextBox 6"/>
          <p:cNvSpPr txBox="1"/>
          <p:nvPr/>
        </p:nvSpPr>
        <p:spPr>
          <a:xfrm>
            <a:off x="731520" y="1170432"/>
            <a:ext cx="10698480" cy="365760"/>
          </a:xfrm>
          <a:prstGeom prst="rect">
            <a:avLst/>
          </a:prstGeom>
          <a:noFill/>
        </p:spPr>
        <p:txBody>
          <a:bodyPr wrap="none">
            <a:spAutoFit/>
          </a:bodyPr>
          <a:lstStyle/>
          <a:p>
            <a:pPr>
              <a:defRPr sz="1200">
                <a:solidFill>
                  <a:srgbClr val="64748B"/>
                </a:solidFill>
              </a:defRPr>
            </a:pPr>
            <a:r>
              <a:t>Comprehensive Multi-Disciplinary Coverage Serving Every Department Across the University</a:t>
            </a:r>
          </a:p>
        </p:txBody>
      </p:sp>
      <p:sp>
        <p:nvSpPr>
          <p:cNvPr id="8" name="Rounded Rectangle 7"/>
          <p:cNvSpPr/>
          <p:nvPr/>
        </p:nvSpPr>
        <p:spPr>
          <a:xfrm>
            <a:off x="731520" y="1645920"/>
            <a:ext cx="5120640" cy="22402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828800"/>
            <a:ext cx="4663440" cy="1874520"/>
          </a:xfrm>
          <a:prstGeom prst="rect">
            <a:avLst/>
          </a:prstGeom>
          <a:noFill/>
        </p:spPr>
        <p:txBody>
          <a:bodyPr wrap="square">
            <a:spAutoFit/>
          </a:bodyPr>
          <a:lstStyle/>
          <a:p>
            <a:pPr>
              <a:spcAft>
                <a:spcPts val="200"/>
              </a:spcAft>
              <a:defRPr sz="1000" b="1">
                <a:solidFill>
                  <a:srgbClr val="2563EB"/>
                </a:solidFill>
              </a:defRPr>
            </a:pPr>
            <a:r>
              <a:t>ENGINEERING (6 COURSES)</a:t>
            </a:r>
          </a:p>
          <a:p>
            <a:pPr>
              <a:spcAft>
                <a:spcPts val="200"/>
              </a:spcAft>
              <a:defRPr sz="1500" b="1">
                <a:solidFill>
                  <a:srgbClr val="0F172A"/>
                </a:solidFill>
              </a:defRPr>
            </a:pPr>
            <a:r>
              <a:t>Software &amp; Cloud Architecture</a:t>
            </a:r>
          </a:p>
          <a:p>
            <a:pPr>
              <a:spcAft>
                <a:spcPts val="600"/>
              </a:spcAft>
              <a:defRPr sz="1100">
                <a:solidFill>
                  <a:srgbClr val="2563EB"/>
                </a:solidFill>
              </a:defRPr>
            </a:pPr>
            <a:r>
              <a:t>Core Developer Foundations</a:t>
            </a:r>
          </a:p>
          <a:p>
            <a:pPr>
              <a:spcAft>
                <a:spcPts val="400"/>
              </a:spcAft>
              <a:defRPr sz="1150">
                <a:solidFill>
                  <a:srgbClr val="334155"/>
                </a:solidFill>
              </a:defRPr>
            </a:pPr>
            <a:r>
              <a:t>• Fullstack Web (Next.js &amp; React), Python Backend Architecture, Modern JavaScript.</a:t>
            </a:r>
          </a:p>
          <a:p>
            <a:pPr>
              <a:spcAft>
                <a:spcPts val="400"/>
              </a:spcAft>
              <a:defRPr sz="1150">
                <a:solidFill>
                  <a:srgbClr val="334155"/>
                </a:solidFill>
              </a:defRPr>
            </a:pPr>
            <a:r>
              <a:t>• Database Systems (SQL &amp; B+ Trees), Cloud Infrastructure &amp; DevOps, Distributed Systems.</a:t>
            </a:r>
          </a:p>
          <a:p>
            <a:pPr>
              <a:spcAft>
                <a:spcPts val="400"/>
              </a:spcAft>
              <a:defRPr sz="1150">
                <a:solidFill>
                  <a:srgbClr val="334155"/>
                </a:solidFill>
              </a:defRPr>
            </a:pPr>
            <a:r>
              <a:t>• Outcome: Prepares students for senior software, cloud, and backend engineering jobs.</a:t>
            </a:r>
          </a:p>
        </p:txBody>
      </p:sp>
      <p:sp>
        <p:nvSpPr>
          <p:cNvPr id="10" name="Rounded Rectangle 9"/>
          <p:cNvSpPr/>
          <p:nvPr/>
        </p:nvSpPr>
        <p:spPr>
          <a:xfrm>
            <a:off x="6217920" y="1645920"/>
            <a:ext cx="5212080" cy="22402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828800"/>
            <a:ext cx="4754880" cy="1874520"/>
          </a:xfrm>
          <a:prstGeom prst="rect">
            <a:avLst/>
          </a:prstGeom>
          <a:noFill/>
        </p:spPr>
        <p:txBody>
          <a:bodyPr wrap="square">
            <a:spAutoFit/>
          </a:bodyPr>
          <a:lstStyle/>
          <a:p>
            <a:pPr>
              <a:spcAft>
                <a:spcPts val="200"/>
              </a:spcAft>
              <a:defRPr sz="1000" b="1">
                <a:solidFill>
                  <a:srgbClr val="7E22CE"/>
                </a:solidFill>
              </a:defRPr>
            </a:pPr>
            <a:r>
              <a:t>ADVANCED TECH (7 COURSES)</a:t>
            </a:r>
          </a:p>
          <a:p>
            <a:pPr>
              <a:spcAft>
                <a:spcPts val="200"/>
              </a:spcAft>
              <a:defRPr sz="1500" b="1">
                <a:solidFill>
                  <a:srgbClr val="0F172A"/>
                </a:solidFill>
              </a:defRPr>
            </a:pPr>
            <a:r>
              <a:t>AI, Systems &amp; Deep Computer Science</a:t>
            </a:r>
          </a:p>
          <a:p>
            <a:pPr>
              <a:spcAft>
                <a:spcPts val="600"/>
              </a:spcAft>
              <a:defRPr sz="1100">
                <a:solidFill>
                  <a:srgbClr val="7E22CE"/>
                </a:solidFill>
              </a:defRPr>
            </a:pPr>
            <a:r>
              <a:t>High-Margin Technical Disciplines</a:t>
            </a:r>
          </a:p>
          <a:p>
            <a:pPr>
              <a:spcAft>
                <a:spcPts val="400"/>
              </a:spcAft>
              <a:defRPr sz="1150">
                <a:solidFill>
                  <a:srgbClr val="334155"/>
                </a:solidFill>
              </a:defRPr>
            </a:pPr>
            <a:r>
              <a:t>• Data Structures &amp; Algorithms, Java 21 LTS &amp; JVM Internals, 3D WebGL Graphics.</a:t>
            </a:r>
          </a:p>
          <a:p>
            <a:pPr>
              <a:spcAft>
                <a:spcPts val="400"/>
              </a:spcAft>
              <a:defRPr sz="1150">
                <a:solidFill>
                  <a:srgbClr val="334155"/>
                </a:solidFill>
              </a:defRPr>
            </a:pPr>
            <a:r>
              <a:t>• Applied AI Foundations, Everyday AI Prompt Engineering, EVM Blockchain, Cybersecurity.</a:t>
            </a:r>
          </a:p>
          <a:p>
            <a:pPr>
              <a:spcAft>
                <a:spcPts val="400"/>
              </a:spcAft>
              <a:defRPr sz="1150">
                <a:solidFill>
                  <a:srgbClr val="334155"/>
                </a:solidFill>
              </a:defRPr>
            </a:pPr>
            <a:r>
              <a:t>• Outcome: Specialized, high-margin skills that generative AI cannot automate.</a:t>
            </a:r>
          </a:p>
        </p:txBody>
      </p:sp>
      <p:sp>
        <p:nvSpPr>
          <p:cNvPr id="12" name="Rounded Rectangle 11"/>
          <p:cNvSpPr/>
          <p:nvPr/>
        </p:nvSpPr>
        <p:spPr>
          <a:xfrm>
            <a:off x="731520" y="4069080"/>
            <a:ext cx="5120640" cy="22402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4251960"/>
            <a:ext cx="4663440" cy="1874520"/>
          </a:xfrm>
          <a:prstGeom prst="rect">
            <a:avLst/>
          </a:prstGeom>
          <a:noFill/>
        </p:spPr>
        <p:txBody>
          <a:bodyPr wrap="square">
            <a:spAutoFit/>
          </a:bodyPr>
          <a:lstStyle/>
          <a:p>
            <a:pPr>
              <a:spcAft>
                <a:spcPts val="200"/>
              </a:spcAft>
              <a:defRPr sz="1000" b="1">
                <a:solidFill>
                  <a:srgbClr val="10B981"/>
                </a:solidFill>
              </a:defRPr>
            </a:pPr>
            <a:r>
              <a:t>BUSINESS SCHOOL (14 COURSES)</a:t>
            </a:r>
          </a:p>
          <a:p>
            <a:pPr>
              <a:spcAft>
                <a:spcPts val="200"/>
              </a:spcAft>
              <a:defRPr sz="1500" b="1">
                <a:solidFill>
                  <a:srgbClr val="0F172A"/>
                </a:solidFill>
              </a:defRPr>
            </a:pPr>
            <a:r>
              <a:t>Commerce, Finance &amp; Management</a:t>
            </a:r>
          </a:p>
          <a:p>
            <a:pPr>
              <a:spcAft>
                <a:spcPts val="600"/>
              </a:spcAft>
              <a:defRPr sz="1100">
                <a:solidFill>
                  <a:srgbClr val="10B981"/>
                </a:solidFill>
              </a:defRPr>
            </a:pPr>
            <a:r>
              <a:t>Tapping the 60% Non-Tech Campus Market</a:t>
            </a:r>
          </a:p>
          <a:p>
            <a:pPr>
              <a:spcAft>
                <a:spcPts val="400"/>
              </a:spcAft>
              <a:defRPr sz="1150">
                <a:solidFill>
                  <a:srgbClr val="334155"/>
                </a:solidFill>
              </a:defRPr>
            </a:pPr>
            <a:r>
              <a:t>• Corporate Finance, Commercial Banking, Forensic Accounting, Corporate Tax, Business Law.</a:t>
            </a:r>
          </a:p>
          <a:p>
            <a:pPr>
              <a:spcAft>
                <a:spcPts val="400"/>
              </a:spcAft>
              <a:defRPr sz="1150">
                <a:solidFill>
                  <a:srgbClr val="334155"/>
                </a:solidFill>
              </a:defRPr>
            </a:pPr>
            <a:r>
              <a:t>• Digital Marketing, E-Commerce, B2B Sales &amp; CRM, Operations &amp; Supply Chain, Lean Startup.</a:t>
            </a:r>
          </a:p>
          <a:p>
            <a:pPr>
              <a:spcAft>
                <a:spcPts val="400"/>
              </a:spcAft>
              <a:defRPr sz="1150">
                <a:solidFill>
                  <a:srgbClr val="334155"/>
                </a:solidFill>
              </a:defRPr>
            </a:pPr>
            <a:r>
              <a:t>• Outcome: Universal curriculum aligned for B.Com, BBA, and MBA degree programs.</a:t>
            </a:r>
          </a:p>
        </p:txBody>
      </p:sp>
      <p:sp>
        <p:nvSpPr>
          <p:cNvPr id="14" name="Rounded Rectangle 13"/>
          <p:cNvSpPr/>
          <p:nvPr/>
        </p:nvSpPr>
        <p:spPr>
          <a:xfrm>
            <a:off x="6217920" y="4069080"/>
            <a:ext cx="5212080" cy="22402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4251960"/>
            <a:ext cx="4754880" cy="1874520"/>
          </a:xfrm>
          <a:prstGeom prst="rect">
            <a:avLst/>
          </a:prstGeom>
          <a:noFill/>
        </p:spPr>
        <p:txBody>
          <a:bodyPr wrap="square">
            <a:spAutoFit/>
          </a:bodyPr>
          <a:lstStyle/>
          <a:p>
            <a:pPr>
              <a:spcAft>
                <a:spcPts val="200"/>
              </a:spcAft>
              <a:defRPr sz="1000" b="1">
                <a:solidFill>
                  <a:srgbClr val="D97706"/>
                </a:solidFill>
              </a:defRPr>
            </a:pPr>
            <a:r>
              <a:t>CAMPUS ESSENTIALS (10 COURSES)</a:t>
            </a:r>
          </a:p>
          <a:p>
            <a:pPr>
              <a:spcAft>
                <a:spcPts val="200"/>
              </a:spcAft>
              <a:defRPr sz="1500" b="1">
                <a:solidFill>
                  <a:srgbClr val="0F172A"/>
                </a:solidFill>
              </a:defRPr>
            </a:pPr>
            <a:r>
              <a:t>Launchpads &amp; Hardware Silicon</a:t>
            </a:r>
          </a:p>
          <a:p>
            <a:pPr>
              <a:spcAft>
                <a:spcPts val="600"/>
              </a:spcAft>
              <a:defRPr sz="1100">
                <a:solidFill>
                  <a:srgbClr val="D97706"/>
                </a:solidFill>
              </a:defRPr>
            </a:pPr>
            <a:r>
              <a:t>Universal Entry Point + Chipmaker Boom</a:t>
            </a:r>
          </a:p>
          <a:p>
            <a:pPr>
              <a:spcAft>
                <a:spcPts val="400"/>
              </a:spcAft>
              <a:defRPr sz="1150">
                <a:solidFill>
                  <a:srgbClr val="334155"/>
                </a:solidFill>
              </a:defRPr>
            </a:pPr>
            <a:r>
              <a:t>• Freshman Launchpads: Excel &amp; Data Analytics, Computer OS, Git Version Control, Soft Skills.</a:t>
            </a:r>
          </a:p>
          <a:p>
            <a:pPr>
              <a:spcAft>
                <a:spcPts val="400"/>
              </a:spcAft>
              <a:defRPr sz="1150">
                <a:solidFill>
                  <a:srgbClr val="334155"/>
                </a:solidFill>
              </a:defRPr>
            </a:pPr>
            <a:r>
              <a:t>• Hardware &amp; IoT: Embedded Systems, TinyML Edge AI, IoT Security, Radio Protocols, Quant Systems.</a:t>
            </a:r>
          </a:p>
          <a:p>
            <a:pPr>
              <a:spcAft>
                <a:spcPts val="400"/>
              </a:spcAft>
              <a:defRPr sz="1150">
                <a:solidFill>
                  <a:srgbClr val="334155"/>
                </a:solidFill>
              </a:defRPr>
            </a:pPr>
            <a:r>
              <a:t>• Outcome: Baseline confidence for all incoming freshmen + hardware semiconductor training.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320040"/>
            <a:ext cx="2926080" cy="292608"/>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2563EB"/>
                </a:solidFill>
              </a:defRPr>
            </a:pPr>
            <a:r>
              <a:t>PRODUCTION AUDIT</a:t>
            </a:r>
          </a:p>
        </p:txBody>
      </p:sp>
      <p:sp>
        <p:nvSpPr>
          <p:cNvPr id="5" name="TextBox 4"/>
          <p:cNvSpPr txBox="1"/>
          <p:nvPr/>
        </p:nvSpPr>
        <p:spPr>
          <a:xfrm>
            <a:off x="10241280" y="320040"/>
            <a:ext cx="1216152" cy="320040"/>
          </a:xfrm>
          <a:prstGeom prst="rect">
            <a:avLst/>
          </a:prstGeom>
          <a:noFill/>
        </p:spPr>
        <p:txBody>
          <a:bodyPr wrap="none">
            <a:spAutoFit/>
          </a:bodyPr>
          <a:lstStyle/>
          <a:p>
            <a:pPr algn="r">
              <a:defRPr sz="1100" b="1">
                <a:solidFill>
                  <a:srgbClr val="64748B"/>
                </a:solidFill>
              </a:defRPr>
            </a:pPr>
            <a:r>
              <a:t>SLIDE 03 / 10</a:t>
            </a:r>
          </a:p>
        </p:txBody>
      </p:sp>
      <p:sp>
        <p:nvSpPr>
          <p:cNvPr id="6" name="TextBox 5"/>
          <p:cNvSpPr txBox="1"/>
          <p:nvPr/>
        </p:nvSpPr>
        <p:spPr>
          <a:xfrm>
            <a:off x="731520" y="658368"/>
            <a:ext cx="10698480" cy="502920"/>
          </a:xfrm>
          <a:prstGeom prst="rect">
            <a:avLst/>
          </a:prstGeom>
          <a:noFill/>
        </p:spPr>
        <p:txBody>
          <a:bodyPr wrap="none">
            <a:spAutoFit/>
          </a:bodyPr>
          <a:lstStyle/>
          <a:p>
            <a:pPr>
              <a:defRPr sz="2200" b="1">
                <a:solidFill>
                  <a:srgbClr val="0F172A"/>
                </a:solidFill>
              </a:defRPr>
            </a:pPr>
            <a:r>
              <a:t>Progress Scorecard: Completed vs. Remaining</a:t>
            </a:r>
          </a:p>
        </p:txBody>
      </p:sp>
      <p:sp>
        <p:nvSpPr>
          <p:cNvPr id="7" name="TextBox 6"/>
          <p:cNvSpPr txBox="1"/>
          <p:nvPr/>
        </p:nvSpPr>
        <p:spPr>
          <a:xfrm>
            <a:off x="731520" y="1170432"/>
            <a:ext cx="10698480" cy="365760"/>
          </a:xfrm>
          <a:prstGeom prst="rect">
            <a:avLst/>
          </a:prstGeom>
          <a:noFill/>
        </p:spPr>
        <p:txBody>
          <a:bodyPr wrap="none">
            <a:spAutoFit/>
          </a:bodyPr>
          <a:lstStyle/>
          <a:p>
            <a:pPr>
              <a:defRPr sz="1200">
                <a:solidFill>
                  <a:srgbClr val="64748B"/>
                </a:solidFill>
              </a:defRPr>
            </a:pPr>
            <a:r>
              <a:t>An Exact Mathematical Audit of What is Live Today and What is Currently in Production</a:t>
            </a:r>
          </a:p>
        </p:txBody>
      </p:sp>
      <p:sp>
        <p:nvSpPr>
          <p:cNvPr id="8" name="Rounded Rectangle 7"/>
          <p:cNvSpPr/>
          <p:nvPr/>
        </p:nvSpPr>
        <p:spPr>
          <a:xfrm>
            <a:off x="731520" y="1645920"/>
            <a:ext cx="5120640" cy="1645920"/>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783080"/>
            <a:ext cx="4754880" cy="1371600"/>
          </a:xfrm>
          <a:prstGeom prst="rect">
            <a:avLst/>
          </a:prstGeom>
          <a:noFill/>
        </p:spPr>
        <p:txBody>
          <a:bodyPr wrap="square">
            <a:spAutoFit/>
          </a:bodyPr>
          <a:lstStyle/>
          <a:p>
            <a:pPr>
              <a:spcAft>
                <a:spcPts val="200"/>
              </a:spcAft>
              <a:defRPr sz="3600" b="1">
                <a:solidFill>
                  <a:srgbClr val="10B981"/>
                </a:solidFill>
              </a:defRPr>
            </a:pPr>
            <a:r>
              <a:t>65.7%</a:t>
            </a:r>
          </a:p>
          <a:p>
            <a:pPr>
              <a:spcAft>
                <a:spcPts val="400"/>
              </a:spcAft>
              <a:defRPr sz="1200" b="1">
                <a:solidFill>
                  <a:srgbClr val="0F172A"/>
                </a:solidFill>
              </a:defRPr>
            </a:pPr>
            <a:r>
              <a:t>PLATFORM COMPLETED</a:t>
            </a:r>
          </a:p>
          <a:p>
            <a:pPr>
              <a:defRPr sz="1100">
                <a:solidFill>
                  <a:srgbClr val="64748B"/>
                </a:solidFill>
              </a:defRPr>
            </a:pPr>
            <a:r>
              <a:t>1,045 out of 1,590 total course days are 100% built, verified with green tests, and live on platform.</a:t>
            </a:r>
          </a:p>
        </p:txBody>
      </p:sp>
      <p:sp>
        <p:nvSpPr>
          <p:cNvPr id="10" name="Rounded Rectangle 9"/>
          <p:cNvSpPr/>
          <p:nvPr/>
        </p:nvSpPr>
        <p:spPr>
          <a:xfrm>
            <a:off x="6217920" y="1645920"/>
            <a:ext cx="5212080" cy="1645920"/>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783080"/>
            <a:ext cx="4846320" cy="1371600"/>
          </a:xfrm>
          <a:prstGeom prst="rect">
            <a:avLst/>
          </a:prstGeom>
          <a:noFill/>
        </p:spPr>
        <p:txBody>
          <a:bodyPr wrap="square">
            <a:spAutoFit/>
          </a:bodyPr>
          <a:lstStyle/>
          <a:p>
            <a:pPr>
              <a:spcAft>
                <a:spcPts val="200"/>
              </a:spcAft>
              <a:defRPr sz="3600" b="1">
                <a:solidFill>
                  <a:srgbClr val="D97706"/>
                </a:solidFill>
              </a:defRPr>
            </a:pPr>
            <a:r>
              <a:t>34.3%</a:t>
            </a:r>
          </a:p>
          <a:p>
            <a:pPr>
              <a:spcAft>
                <a:spcPts val="400"/>
              </a:spcAft>
              <a:defRPr sz="1200" b="1">
                <a:solidFill>
                  <a:srgbClr val="0F172A"/>
                </a:solidFill>
              </a:defRPr>
            </a:pPr>
            <a:r>
              <a:t>IN PRODUCTION</a:t>
            </a:r>
          </a:p>
          <a:p>
            <a:pPr>
              <a:defRPr sz="1100">
                <a:solidFill>
                  <a:srgbClr val="64748B"/>
                </a:solidFill>
              </a:defRPr>
            </a:pPr>
            <a:r>
              <a:t>545 course days remaining across Commerce and IoT, actively being expanded via our 3-branch engine.</a:t>
            </a:r>
          </a:p>
        </p:txBody>
      </p:sp>
      <p:sp>
        <p:nvSpPr>
          <p:cNvPr id="12" name="Rounded Rectangle 11"/>
          <p:cNvSpPr/>
          <p:nvPr/>
        </p:nvSpPr>
        <p:spPr>
          <a:xfrm>
            <a:off x="731520" y="3474720"/>
            <a:ext cx="3291840" cy="2834640"/>
          </a:xfrm>
          <a:prstGeom prst="roundRect">
            <a:avLst/>
          </a:prstGeom>
          <a:solidFill>
            <a:srgbClr val="FFFFFF"/>
          </a:solidFill>
          <a:ln w="1524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657600"/>
            <a:ext cx="2834640" cy="2468880"/>
          </a:xfrm>
          <a:prstGeom prst="rect">
            <a:avLst/>
          </a:prstGeom>
          <a:noFill/>
        </p:spPr>
        <p:txBody>
          <a:bodyPr wrap="square">
            <a:spAutoFit/>
          </a:bodyPr>
          <a:lstStyle/>
          <a:p>
            <a:pPr>
              <a:spcAft>
                <a:spcPts val="200"/>
              </a:spcAft>
              <a:defRPr sz="1000" b="1">
                <a:solidFill>
                  <a:srgbClr val="10B981"/>
                </a:solidFill>
              </a:defRPr>
            </a:pPr>
            <a:r>
              <a:t>TIER 1 TRACKS</a:t>
            </a:r>
          </a:p>
          <a:p>
            <a:pPr>
              <a:spcAft>
                <a:spcPts val="200"/>
              </a:spcAft>
              <a:defRPr sz="1500" b="1">
                <a:solidFill>
                  <a:srgbClr val="0F172A"/>
                </a:solidFill>
              </a:defRPr>
            </a:pPr>
            <a:r>
              <a:t>100% Complete</a:t>
            </a:r>
          </a:p>
          <a:p>
            <a:pPr>
              <a:spcAft>
                <a:spcPts val="600"/>
              </a:spcAft>
              <a:defRPr sz="1100">
                <a:solidFill>
                  <a:srgbClr val="10B981"/>
                </a:solidFill>
              </a:defRPr>
            </a:pPr>
            <a:r>
              <a:t>Core Software Engine Live</a:t>
            </a:r>
          </a:p>
          <a:p>
            <a:pPr>
              <a:spcAft>
                <a:spcPts val="400"/>
              </a:spcAft>
              <a:defRPr sz="1150">
                <a:solidFill>
                  <a:srgbClr val="334155"/>
                </a:solidFill>
              </a:defRPr>
            </a:pPr>
            <a:r>
              <a:t>• 19 Deep Tech Tracks are 100% built to Day 30.</a:t>
            </a:r>
          </a:p>
          <a:p>
            <a:pPr>
              <a:spcAft>
                <a:spcPts val="400"/>
              </a:spcAft>
              <a:defRPr sz="1150">
                <a:solidFill>
                  <a:srgbClr val="334155"/>
                </a:solidFill>
              </a:defRPr>
            </a:pPr>
            <a:r>
              <a:t>• Quantitative Trading Systems: 100% complete.</a:t>
            </a:r>
          </a:p>
          <a:p>
            <a:pPr>
              <a:spcAft>
                <a:spcPts val="400"/>
              </a:spcAft>
              <a:defRPr sz="1150">
                <a:solidFill>
                  <a:srgbClr val="334155"/>
                </a:solidFill>
              </a:defRPr>
            </a:pPr>
            <a:r>
              <a:t>• Fullstack Web, Python, Cloud, DevOps: 100% complete.</a:t>
            </a:r>
          </a:p>
          <a:p>
            <a:pPr>
              <a:spcAft>
                <a:spcPts val="400"/>
              </a:spcAft>
              <a:defRPr sz="1150">
                <a:solidFill>
                  <a:srgbClr val="334155"/>
                </a:solidFill>
              </a:defRPr>
            </a:pPr>
            <a:r>
              <a:t>• Algorithms, Java, Blockchain, Cyber: 100% complete.</a:t>
            </a:r>
          </a:p>
          <a:p>
            <a:pPr>
              <a:spcAft>
                <a:spcPts val="400"/>
              </a:spcAft>
              <a:defRPr sz="1150">
                <a:solidFill>
                  <a:srgbClr val="334155"/>
                </a:solidFill>
              </a:defRPr>
            </a:pPr>
            <a:r>
              <a:t>• 300+ Automated Tests green with 0 errors.</a:t>
            </a:r>
          </a:p>
        </p:txBody>
      </p:sp>
      <p:sp>
        <p:nvSpPr>
          <p:cNvPr id="14" name="Rounded Rectangle 13"/>
          <p:cNvSpPr/>
          <p:nvPr/>
        </p:nvSpPr>
        <p:spPr>
          <a:xfrm>
            <a:off x="4389120" y="3474720"/>
            <a:ext cx="3383280" cy="28346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17720" y="3657600"/>
            <a:ext cx="2926080" cy="2468880"/>
          </a:xfrm>
          <a:prstGeom prst="rect">
            <a:avLst/>
          </a:prstGeom>
          <a:noFill/>
        </p:spPr>
        <p:txBody>
          <a:bodyPr wrap="square">
            <a:spAutoFit/>
          </a:bodyPr>
          <a:lstStyle/>
          <a:p>
            <a:pPr>
              <a:spcAft>
                <a:spcPts val="200"/>
              </a:spcAft>
              <a:defRPr sz="1000" b="1">
                <a:solidFill>
                  <a:srgbClr val="2563EB"/>
                </a:solidFill>
              </a:defRPr>
            </a:pPr>
            <a:r>
              <a:t>LAUNCHPAD TRACKS</a:t>
            </a:r>
          </a:p>
          <a:p>
            <a:pPr>
              <a:spcAft>
                <a:spcPts val="200"/>
              </a:spcAft>
              <a:defRPr sz="1500" b="1">
                <a:solidFill>
                  <a:srgbClr val="0F172A"/>
                </a:solidFill>
              </a:defRPr>
            </a:pPr>
            <a:r>
              <a:t>33% Complete</a:t>
            </a:r>
          </a:p>
          <a:p>
            <a:pPr>
              <a:spcAft>
                <a:spcPts val="600"/>
              </a:spcAft>
              <a:defRPr sz="1100">
                <a:solidFill>
                  <a:srgbClr val="2563EB"/>
                </a:solidFill>
              </a:defRPr>
            </a:pPr>
            <a:r>
              <a:t>Freshman Launchpads</a:t>
            </a:r>
          </a:p>
          <a:p>
            <a:pPr>
              <a:spcAft>
                <a:spcPts val="400"/>
              </a:spcAft>
              <a:defRPr sz="1150">
                <a:solidFill>
                  <a:srgbClr val="334155"/>
                </a:solidFill>
              </a:defRPr>
            </a:pPr>
            <a:r>
              <a:t>• Excel &amp; Data Analytics: Days 1–10 live.</a:t>
            </a:r>
          </a:p>
          <a:p>
            <a:pPr>
              <a:spcAft>
                <a:spcPts val="400"/>
              </a:spcAft>
              <a:defRPr sz="1150">
                <a:solidFill>
                  <a:srgbClr val="334155"/>
                </a:solidFill>
              </a:defRPr>
            </a:pPr>
            <a:r>
              <a:t>• Computer OS Fundamentals: Days 1–5 live.</a:t>
            </a:r>
          </a:p>
          <a:p>
            <a:pPr>
              <a:spcAft>
                <a:spcPts val="400"/>
              </a:spcAft>
              <a:defRPr sz="1150">
                <a:solidFill>
                  <a:srgbClr val="334155"/>
                </a:solidFill>
              </a:defRPr>
            </a:pPr>
            <a:r>
              <a:t>• Git &amp; Team Version Control: Days 1–5 live.</a:t>
            </a:r>
          </a:p>
          <a:p>
            <a:pPr>
              <a:spcAft>
                <a:spcPts val="400"/>
              </a:spcAft>
              <a:defRPr sz="1150">
                <a:solidFill>
                  <a:srgbClr val="334155"/>
                </a:solidFill>
              </a:defRPr>
            </a:pPr>
            <a:r>
              <a:t>• Tech Soft Skills &amp; Interviews: Days 1–5 live.</a:t>
            </a:r>
          </a:p>
          <a:p>
            <a:pPr>
              <a:spcAft>
                <a:spcPts val="400"/>
              </a:spcAft>
              <a:defRPr sz="1150">
                <a:solidFill>
                  <a:srgbClr val="334155"/>
                </a:solidFill>
              </a:defRPr>
            </a:pPr>
            <a:r>
              <a:t>• Remaining: Days 6–30 (95 days in flight).</a:t>
            </a:r>
          </a:p>
        </p:txBody>
      </p:sp>
      <p:sp>
        <p:nvSpPr>
          <p:cNvPr id="16" name="Rounded Rectangle 15"/>
          <p:cNvSpPr/>
          <p:nvPr/>
        </p:nvSpPr>
        <p:spPr>
          <a:xfrm>
            <a:off x="8138160" y="3474720"/>
            <a:ext cx="3291840" cy="28346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66760" y="3657600"/>
            <a:ext cx="2834640" cy="2468880"/>
          </a:xfrm>
          <a:prstGeom prst="rect">
            <a:avLst/>
          </a:prstGeom>
          <a:noFill/>
        </p:spPr>
        <p:txBody>
          <a:bodyPr wrap="square">
            <a:spAutoFit/>
          </a:bodyPr>
          <a:lstStyle/>
          <a:p>
            <a:pPr>
              <a:spcAft>
                <a:spcPts val="200"/>
              </a:spcAft>
              <a:defRPr sz="1000" b="1">
                <a:solidFill>
                  <a:srgbClr val="D97706"/>
                </a:solidFill>
              </a:defRPr>
            </a:pPr>
            <a:r>
              <a:t>MASS MARKET TRACKS</a:t>
            </a:r>
          </a:p>
          <a:p>
            <a:pPr>
              <a:spcAft>
                <a:spcPts val="200"/>
              </a:spcAft>
              <a:defRPr sz="1500" b="1">
                <a:solidFill>
                  <a:srgbClr val="0F172A"/>
                </a:solidFill>
              </a:defRPr>
            </a:pPr>
            <a:r>
              <a:t>17% Live / Expanding</a:t>
            </a:r>
          </a:p>
          <a:p>
            <a:pPr>
              <a:spcAft>
                <a:spcPts val="600"/>
              </a:spcAft>
              <a:defRPr sz="1100">
                <a:solidFill>
                  <a:srgbClr val="D97706"/>
                </a:solidFill>
              </a:defRPr>
            </a:pPr>
            <a:r>
              <a:t>Commerce &amp; IoT Stream</a:t>
            </a:r>
          </a:p>
          <a:p>
            <a:pPr>
              <a:spcAft>
                <a:spcPts val="400"/>
              </a:spcAft>
              <a:defRPr sz="1150">
                <a:solidFill>
                  <a:srgbClr val="334155"/>
                </a:solidFill>
              </a:defRPr>
            </a:pPr>
            <a:r>
              <a:t>• 14 Commerce Tracks: Days 1–5 live (70 days).</a:t>
            </a:r>
          </a:p>
          <a:p>
            <a:pPr>
              <a:spcAft>
                <a:spcPts val="400"/>
              </a:spcAft>
              <a:defRPr sz="1150">
                <a:solidFill>
                  <a:srgbClr val="334155"/>
                </a:solidFill>
              </a:defRPr>
            </a:pPr>
            <a:r>
              <a:t>• 4 IoT Hardware Tracks: Days 1–5 live (20 days).</a:t>
            </a:r>
          </a:p>
          <a:p>
            <a:pPr>
              <a:spcAft>
                <a:spcPts val="400"/>
              </a:spcAft>
              <a:defRPr sz="1150">
                <a:solidFill>
                  <a:srgbClr val="334155"/>
                </a:solidFill>
              </a:defRPr>
            </a:pPr>
            <a:r>
              <a:t>• Remaining: Days 6–30 (450 days in flight).</a:t>
            </a:r>
          </a:p>
          <a:p>
            <a:pPr>
              <a:spcAft>
                <a:spcPts val="400"/>
              </a:spcAft>
              <a:defRPr sz="1150">
                <a:solidFill>
                  <a:srgbClr val="334155"/>
                </a:solidFill>
              </a:defRPr>
            </a:pPr>
            <a:r>
              <a:t>• Being built rapidly via Branch B sub-agents.</a:t>
            </a:r>
          </a:p>
          <a:p>
            <a:pPr>
              <a:spcAft>
                <a:spcPts val="400"/>
              </a:spcAft>
              <a:defRPr sz="1150">
                <a:solidFill>
                  <a:srgbClr val="334155"/>
                </a:solidFill>
              </a:defRPr>
            </a:pPr>
            <a:r>
              <a:t>• Zero collisions with core platform files.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320040"/>
            <a:ext cx="2926080" cy="292608"/>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2563EB"/>
                </a:solidFill>
              </a:defRPr>
            </a:pPr>
            <a:r>
              <a:t>TEACHING METHODOLOGY</a:t>
            </a:r>
          </a:p>
        </p:txBody>
      </p:sp>
      <p:sp>
        <p:nvSpPr>
          <p:cNvPr id="5" name="TextBox 4"/>
          <p:cNvSpPr txBox="1"/>
          <p:nvPr/>
        </p:nvSpPr>
        <p:spPr>
          <a:xfrm>
            <a:off x="10241280" y="320040"/>
            <a:ext cx="1216152" cy="320040"/>
          </a:xfrm>
          <a:prstGeom prst="rect">
            <a:avLst/>
          </a:prstGeom>
          <a:noFill/>
        </p:spPr>
        <p:txBody>
          <a:bodyPr wrap="none">
            <a:spAutoFit/>
          </a:bodyPr>
          <a:lstStyle/>
          <a:p>
            <a:pPr algn="r">
              <a:defRPr sz="1100" b="1">
                <a:solidFill>
                  <a:srgbClr val="64748B"/>
                </a:solidFill>
              </a:defRPr>
            </a:pPr>
            <a:r>
              <a:t>SLIDE 04 / 10</a:t>
            </a:r>
          </a:p>
        </p:txBody>
      </p:sp>
      <p:sp>
        <p:nvSpPr>
          <p:cNvPr id="6" name="TextBox 5"/>
          <p:cNvSpPr txBox="1"/>
          <p:nvPr/>
        </p:nvSpPr>
        <p:spPr>
          <a:xfrm>
            <a:off x="731520" y="658368"/>
            <a:ext cx="10698480" cy="502920"/>
          </a:xfrm>
          <a:prstGeom prst="rect">
            <a:avLst/>
          </a:prstGeom>
          <a:noFill/>
        </p:spPr>
        <p:txBody>
          <a:bodyPr wrap="none">
            <a:spAutoFit/>
          </a:bodyPr>
          <a:lstStyle/>
          <a:p>
            <a:pPr>
              <a:defRPr sz="2200" b="1">
                <a:solidFill>
                  <a:srgbClr val="0F172A"/>
                </a:solidFill>
              </a:defRPr>
            </a:pPr>
            <a:r>
              <a:t>How We Teach: The Active Method That Eliminates Dropouts</a:t>
            </a:r>
          </a:p>
        </p:txBody>
      </p:sp>
      <p:sp>
        <p:nvSpPr>
          <p:cNvPr id="7" name="TextBox 6"/>
          <p:cNvSpPr txBox="1"/>
          <p:nvPr/>
        </p:nvSpPr>
        <p:spPr>
          <a:xfrm>
            <a:off x="731520" y="1170432"/>
            <a:ext cx="10698480" cy="365760"/>
          </a:xfrm>
          <a:prstGeom prst="rect">
            <a:avLst/>
          </a:prstGeom>
          <a:noFill/>
        </p:spPr>
        <p:txBody>
          <a:bodyPr wrap="none">
            <a:spAutoFit/>
          </a:bodyPr>
          <a:lstStyle/>
          <a:p>
            <a:pPr>
              <a:defRPr sz="1200">
                <a:solidFill>
                  <a:srgbClr val="64748B"/>
                </a:solidFill>
              </a:defRPr>
            </a:pPr>
            <a:r>
              <a:t>Replacing Passive Video Observation with a 30-Minute Daily Loop and Socratic AI Guidance</a:t>
            </a:r>
          </a:p>
        </p:txBody>
      </p:sp>
      <p:sp>
        <p:nvSpPr>
          <p:cNvPr id="8" name="Rounded Rectangle 7"/>
          <p:cNvSpPr/>
          <p:nvPr/>
        </p:nvSpPr>
        <p:spPr>
          <a:xfrm>
            <a:off x="731520" y="1645920"/>
            <a:ext cx="2468880" cy="27432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828800"/>
            <a:ext cx="2011680" cy="2377440"/>
          </a:xfrm>
          <a:prstGeom prst="rect">
            <a:avLst/>
          </a:prstGeom>
          <a:noFill/>
        </p:spPr>
        <p:txBody>
          <a:bodyPr wrap="square">
            <a:spAutoFit/>
          </a:bodyPr>
          <a:lstStyle/>
          <a:p>
            <a:pPr>
              <a:spcAft>
                <a:spcPts val="200"/>
              </a:spcAft>
              <a:defRPr sz="1000" b="1">
                <a:solidFill>
                  <a:srgbClr val="2563EB"/>
                </a:solidFill>
              </a:defRPr>
            </a:pPr>
            <a:r>
              <a:t>STEP 1 (12 MIN)</a:t>
            </a:r>
          </a:p>
          <a:p>
            <a:pPr>
              <a:spcAft>
                <a:spcPts val="200"/>
              </a:spcAft>
              <a:defRPr sz="1500" b="1">
                <a:solidFill>
                  <a:srgbClr val="0F172A"/>
                </a:solidFill>
              </a:defRPr>
            </a:pPr>
            <a:r>
              <a:t>1. Senior Audio</a:t>
            </a:r>
          </a:p>
          <a:p>
            <a:pPr>
              <a:spcAft>
                <a:spcPts val="600"/>
              </a:spcAft>
              <a:defRPr sz="1100">
                <a:solidFill>
                  <a:srgbClr val="2563EB"/>
                </a:solidFill>
              </a:defRPr>
            </a:pPr>
            <a:r>
              <a:t>Pairs with the Student</a:t>
            </a:r>
          </a:p>
          <a:p>
            <a:pPr>
              <a:spcAft>
                <a:spcPts val="400"/>
              </a:spcAft>
              <a:defRPr sz="1150">
                <a:solidFill>
                  <a:srgbClr val="334155"/>
                </a:solidFill>
              </a:defRPr>
            </a:pPr>
            <a:r>
              <a:t>• Conversational voice-guided narration at 120 WPM.</a:t>
            </a:r>
          </a:p>
          <a:p>
            <a:pPr>
              <a:spcAft>
                <a:spcPts val="400"/>
              </a:spcAft>
              <a:defRPr sz="1150">
                <a:solidFill>
                  <a:srgbClr val="334155"/>
                </a:solidFill>
              </a:defRPr>
            </a:pPr>
            <a:r>
              <a:t>• Senior tech lead tone.</a:t>
            </a:r>
          </a:p>
          <a:p>
            <a:pPr>
              <a:spcAft>
                <a:spcPts val="400"/>
              </a:spcAft>
              <a:defRPr sz="1150">
                <a:solidFill>
                  <a:srgbClr val="334155"/>
                </a:solidFill>
              </a:defRPr>
            </a:pPr>
            <a:r>
              <a:t>• Explains real-world stakes and business context first.</a:t>
            </a:r>
          </a:p>
        </p:txBody>
      </p:sp>
      <p:sp>
        <p:nvSpPr>
          <p:cNvPr id="10" name="Rounded Rectangle 9"/>
          <p:cNvSpPr/>
          <p:nvPr/>
        </p:nvSpPr>
        <p:spPr>
          <a:xfrm>
            <a:off x="3429000" y="1645920"/>
            <a:ext cx="2468880" cy="27432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828800"/>
            <a:ext cx="2011680" cy="2377440"/>
          </a:xfrm>
          <a:prstGeom prst="rect">
            <a:avLst/>
          </a:prstGeom>
          <a:noFill/>
        </p:spPr>
        <p:txBody>
          <a:bodyPr wrap="square">
            <a:spAutoFit/>
          </a:bodyPr>
          <a:lstStyle/>
          <a:p>
            <a:pPr>
              <a:spcAft>
                <a:spcPts val="200"/>
              </a:spcAft>
              <a:defRPr sz="1000" b="1">
                <a:solidFill>
                  <a:srgbClr val="7E22CE"/>
                </a:solidFill>
              </a:defRPr>
            </a:pPr>
            <a:r>
              <a:t>STEP 2 (5 MIN)</a:t>
            </a:r>
          </a:p>
          <a:p>
            <a:pPr>
              <a:spcAft>
                <a:spcPts val="200"/>
              </a:spcAft>
              <a:defRPr sz="1500" b="1">
                <a:solidFill>
                  <a:srgbClr val="0F172A"/>
                </a:solidFill>
              </a:defRPr>
            </a:pPr>
            <a:r>
              <a:t>2. State Animation</a:t>
            </a:r>
          </a:p>
          <a:p>
            <a:pPr>
              <a:spcAft>
                <a:spcPts val="600"/>
              </a:spcAft>
              <a:defRPr sz="1100">
                <a:solidFill>
                  <a:srgbClr val="7E22CE"/>
                </a:solidFill>
              </a:defRPr>
            </a:pPr>
            <a:r>
              <a:t>Visual Intuition</a:t>
            </a:r>
          </a:p>
          <a:p>
            <a:pPr>
              <a:spcAft>
                <a:spcPts val="400"/>
              </a:spcAft>
              <a:defRPr sz="1150">
                <a:solidFill>
                  <a:srgbClr val="334155"/>
                </a:solidFill>
              </a:defRPr>
            </a:pPr>
            <a:r>
              <a:t>• Live animated state diagrams.</a:t>
            </a:r>
          </a:p>
          <a:p>
            <a:pPr>
              <a:spcAft>
                <a:spcPts val="400"/>
              </a:spcAft>
              <a:defRPr sz="1150">
                <a:solidFill>
                  <a:srgbClr val="334155"/>
                </a:solidFill>
              </a:defRPr>
            </a:pPr>
            <a:r>
              <a:t>• Shows data, memory, or cash flowing through the system.</a:t>
            </a:r>
          </a:p>
          <a:p>
            <a:pPr>
              <a:spcAft>
                <a:spcPts val="400"/>
              </a:spcAft>
              <a:defRPr sz="1150">
                <a:solidFill>
                  <a:srgbClr val="334155"/>
                </a:solidFill>
              </a:defRPr>
            </a:pPr>
            <a:r>
              <a:t>• Eliminates mental confusion.</a:t>
            </a:r>
          </a:p>
        </p:txBody>
      </p:sp>
      <p:sp>
        <p:nvSpPr>
          <p:cNvPr id="12" name="Rounded Rectangle 11"/>
          <p:cNvSpPr/>
          <p:nvPr/>
        </p:nvSpPr>
        <p:spPr>
          <a:xfrm>
            <a:off x="6126480" y="1645920"/>
            <a:ext cx="2468880" cy="27432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1828800"/>
            <a:ext cx="2011680" cy="2377440"/>
          </a:xfrm>
          <a:prstGeom prst="rect">
            <a:avLst/>
          </a:prstGeom>
          <a:noFill/>
        </p:spPr>
        <p:txBody>
          <a:bodyPr wrap="square">
            <a:spAutoFit/>
          </a:bodyPr>
          <a:lstStyle/>
          <a:p>
            <a:pPr>
              <a:spcAft>
                <a:spcPts val="200"/>
              </a:spcAft>
              <a:defRPr sz="1000" b="1">
                <a:solidFill>
                  <a:srgbClr val="D97706"/>
                </a:solidFill>
              </a:defRPr>
            </a:pPr>
            <a:r>
              <a:t>STEP 3 (7 MIN)</a:t>
            </a:r>
          </a:p>
          <a:p>
            <a:pPr>
              <a:spcAft>
                <a:spcPts val="200"/>
              </a:spcAft>
              <a:defRPr sz="1500" b="1">
                <a:solidFill>
                  <a:srgbClr val="0F172A"/>
                </a:solidFill>
              </a:defRPr>
            </a:pPr>
            <a:r>
              <a:t>3. Forced Code Fix</a:t>
            </a:r>
          </a:p>
          <a:p>
            <a:pPr>
              <a:spcAft>
                <a:spcPts val="600"/>
              </a:spcAft>
              <a:defRPr sz="1100">
                <a:solidFill>
                  <a:srgbClr val="D97706"/>
                </a:solidFill>
              </a:defRPr>
            </a:pPr>
            <a:r>
              <a:t>Learn-By-Doing</a:t>
            </a:r>
          </a:p>
          <a:p>
            <a:pPr>
              <a:spcAft>
                <a:spcPts val="400"/>
              </a:spcAft>
              <a:defRPr sz="1150">
                <a:solidFill>
                  <a:srgbClr val="334155"/>
                </a:solidFill>
              </a:defRPr>
            </a:pPr>
            <a:r>
              <a:t>• Hands-on in-browser editor.</a:t>
            </a:r>
          </a:p>
          <a:p>
            <a:pPr>
              <a:spcAft>
                <a:spcPts val="400"/>
              </a:spcAft>
              <a:defRPr sz="1150">
                <a:solidFill>
                  <a:srgbClr val="334155"/>
                </a:solidFill>
              </a:defRPr>
            </a:pPr>
            <a:r>
              <a:t>• Student fixes an intentional edge case or bug.</a:t>
            </a:r>
          </a:p>
          <a:p>
            <a:pPr>
              <a:spcAft>
                <a:spcPts val="400"/>
              </a:spcAft>
              <a:defRPr sz="1150">
                <a:solidFill>
                  <a:srgbClr val="334155"/>
                </a:solidFill>
              </a:defRPr>
            </a:pPr>
            <a:r>
              <a:t>• Cannot proceed without active completion.</a:t>
            </a:r>
          </a:p>
        </p:txBody>
      </p:sp>
      <p:sp>
        <p:nvSpPr>
          <p:cNvPr id="14" name="Rounded Rectangle 13"/>
          <p:cNvSpPr/>
          <p:nvPr/>
        </p:nvSpPr>
        <p:spPr>
          <a:xfrm>
            <a:off x="8823960" y="1645920"/>
            <a:ext cx="2633472" cy="27432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52560" y="1828800"/>
            <a:ext cx="2176272" cy="2377440"/>
          </a:xfrm>
          <a:prstGeom prst="rect">
            <a:avLst/>
          </a:prstGeom>
          <a:noFill/>
        </p:spPr>
        <p:txBody>
          <a:bodyPr wrap="square">
            <a:spAutoFit/>
          </a:bodyPr>
          <a:lstStyle/>
          <a:p>
            <a:pPr>
              <a:spcAft>
                <a:spcPts val="200"/>
              </a:spcAft>
              <a:defRPr sz="1000" b="1">
                <a:solidFill>
                  <a:srgbClr val="E11D48"/>
                </a:solidFill>
              </a:defRPr>
            </a:pPr>
            <a:r>
              <a:t>STEP 4 (6 MIN)</a:t>
            </a:r>
          </a:p>
          <a:p>
            <a:pPr>
              <a:spcAft>
                <a:spcPts val="200"/>
              </a:spcAft>
              <a:defRPr sz="1500" b="1">
                <a:solidFill>
                  <a:srgbClr val="0F172A"/>
                </a:solidFill>
              </a:defRPr>
            </a:pPr>
            <a:r>
              <a:t>4. Outage Puzzle</a:t>
            </a:r>
          </a:p>
          <a:p>
            <a:pPr>
              <a:spcAft>
                <a:spcPts val="600"/>
              </a:spcAft>
              <a:defRPr sz="1100">
                <a:solidFill>
                  <a:srgbClr val="E11D48"/>
                </a:solidFill>
              </a:defRPr>
            </a:pPr>
            <a:r>
              <a:t>Real-World Acumen</a:t>
            </a:r>
          </a:p>
          <a:p>
            <a:pPr>
              <a:spcAft>
                <a:spcPts val="400"/>
              </a:spcAft>
              <a:defRPr sz="1150">
                <a:solidFill>
                  <a:srgbClr val="334155"/>
                </a:solidFill>
              </a:defRPr>
            </a:pPr>
            <a:r>
              <a:t>• 3 AM production failure scenario.</a:t>
            </a:r>
          </a:p>
          <a:p>
            <a:pPr>
              <a:spcAft>
                <a:spcPts val="400"/>
              </a:spcAft>
              <a:defRPr sz="1150">
                <a:solidFill>
                  <a:srgbClr val="334155"/>
                </a:solidFill>
              </a:defRPr>
            </a:pPr>
            <a:r>
              <a:t>• Server crash, tax leak, or fraud attempt.</a:t>
            </a:r>
          </a:p>
          <a:p>
            <a:pPr>
              <a:spcAft>
                <a:spcPts val="400"/>
              </a:spcAft>
              <a:defRPr sz="1150">
                <a:solidFill>
                  <a:srgbClr val="334155"/>
                </a:solidFill>
              </a:defRPr>
            </a:pPr>
            <a:r>
              <a:t>• Tests diagnostic thinking under pressure.</a:t>
            </a:r>
          </a:p>
        </p:txBody>
      </p:sp>
      <p:sp>
        <p:nvSpPr>
          <p:cNvPr id="16" name="Rounded Rectangle 15"/>
          <p:cNvSpPr/>
          <p:nvPr/>
        </p:nvSpPr>
        <p:spPr>
          <a:xfrm>
            <a:off x="731520" y="4572000"/>
            <a:ext cx="10725912" cy="1737360"/>
          </a:xfrm>
          <a:prstGeom prst="roundRect">
            <a:avLst/>
          </a:prstGeom>
          <a:solidFill>
            <a:srgbClr val="F0FDF4"/>
          </a:solidFill>
          <a:ln w="1524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4754880"/>
            <a:ext cx="10268712" cy="1371600"/>
          </a:xfrm>
          <a:prstGeom prst="rect">
            <a:avLst/>
          </a:prstGeom>
          <a:noFill/>
        </p:spPr>
        <p:txBody>
          <a:bodyPr wrap="square">
            <a:spAutoFit/>
          </a:bodyPr>
          <a:lstStyle/>
          <a:p>
            <a:pPr>
              <a:spcAft>
                <a:spcPts val="200"/>
              </a:spcAft>
              <a:defRPr sz="1000" b="1">
                <a:solidFill>
                  <a:srgbClr val="10B981"/>
                </a:solidFill>
              </a:defRPr>
            </a:pPr>
            <a:r>
              <a:t>OUR PEDAGOGICAL SAFETY NET</a:t>
            </a:r>
          </a:p>
          <a:p>
            <a:pPr>
              <a:spcAft>
                <a:spcPts val="200"/>
              </a:spcAft>
              <a:defRPr sz="1500" b="1">
                <a:solidFill>
                  <a:srgbClr val="0F172A"/>
                </a:solidFill>
              </a:defRPr>
            </a:pPr>
            <a:r>
              <a:t>The 3-Tier Socratic AI Ladder: Why Students Never Get Stuck</a:t>
            </a:r>
          </a:p>
          <a:p>
            <a:pPr>
              <a:spcAft>
                <a:spcPts val="600"/>
              </a:spcAft>
              <a:defRPr sz="1100">
                <a:solidFill>
                  <a:srgbClr val="10B981"/>
                </a:solidFill>
              </a:defRPr>
            </a:pPr>
            <a:r>
              <a:t>Zero Student Abandonment Guarantee</a:t>
            </a:r>
          </a:p>
          <a:p>
            <a:pPr>
              <a:spcAft>
                <a:spcPts val="400"/>
              </a:spcAft>
              <a:defRPr sz="1150">
                <a:solidFill>
                  <a:srgbClr val="334155"/>
                </a:solidFill>
              </a:defRPr>
            </a:pPr>
            <a:r>
              <a:t>• The Problem with ChatGPT: It gives answers instantly, creating copy-paste dependency with zero real understanding.</a:t>
            </a:r>
          </a:p>
          <a:p>
            <a:pPr>
              <a:spcAft>
                <a:spcPts val="400"/>
              </a:spcAft>
              <a:defRPr sz="1150">
                <a:solidFill>
                  <a:srgbClr val="334155"/>
                </a:solidFill>
              </a:defRPr>
            </a:pPr>
            <a:r>
              <a:t>• PinIT Socratic Engine: Step 1: Conceptual Nudge (asks guiding questions) -&gt; Step 2: Visual Highlight (shows where the error is) -&gt; Step 3: Surgical Line Fix (only if repeated failure). Result: 100% of students finish without giving up!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320040"/>
            <a:ext cx="2926080" cy="292608"/>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2563EB"/>
                </a:solidFill>
              </a:defRPr>
            </a:pPr>
            <a:r>
              <a:t>PROPRIETARY INTELLECTUAL PROPERTY</a:t>
            </a:r>
          </a:p>
        </p:txBody>
      </p:sp>
      <p:sp>
        <p:nvSpPr>
          <p:cNvPr id="5" name="TextBox 4"/>
          <p:cNvSpPr txBox="1"/>
          <p:nvPr/>
        </p:nvSpPr>
        <p:spPr>
          <a:xfrm>
            <a:off x="10241280" y="320040"/>
            <a:ext cx="1216152" cy="320040"/>
          </a:xfrm>
          <a:prstGeom prst="rect">
            <a:avLst/>
          </a:prstGeom>
          <a:noFill/>
        </p:spPr>
        <p:txBody>
          <a:bodyPr wrap="none">
            <a:spAutoFit/>
          </a:bodyPr>
          <a:lstStyle/>
          <a:p>
            <a:pPr algn="r">
              <a:defRPr sz="1100" b="1">
                <a:solidFill>
                  <a:srgbClr val="64748B"/>
                </a:solidFill>
              </a:defRPr>
            </a:pPr>
            <a:r>
              <a:t>SLIDE 05 / 10</a:t>
            </a:r>
          </a:p>
        </p:txBody>
      </p:sp>
      <p:sp>
        <p:nvSpPr>
          <p:cNvPr id="6" name="TextBox 5"/>
          <p:cNvSpPr txBox="1"/>
          <p:nvPr/>
        </p:nvSpPr>
        <p:spPr>
          <a:xfrm>
            <a:off x="731520" y="658368"/>
            <a:ext cx="10698480" cy="502920"/>
          </a:xfrm>
          <a:prstGeom prst="rect">
            <a:avLst/>
          </a:prstGeom>
          <a:noFill/>
        </p:spPr>
        <p:txBody>
          <a:bodyPr wrap="none">
            <a:spAutoFit/>
          </a:bodyPr>
          <a:lstStyle/>
          <a:p>
            <a:pPr>
              <a:defRPr sz="2200" b="1">
                <a:solidFill>
                  <a:srgbClr val="0F172A"/>
                </a:solidFill>
              </a:defRPr>
            </a:pPr>
            <a:r>
              <a:t>Seeing is Believing: 17 Interactive Visual Simulators</a:t>
            </a:r>
          </a:p>
        </p:txBody>
      </p:sp>
      <p:sp>
        <p:nvSpPr>
          <p:cNvPr id="7" name="TextBox 6"/>
          <p:cNvSpPr txBox="1"/>
          <p:nvPr/>
        </p:nvSpPr>
        <p:spPr>
          <a:xfrm>
            <a:off x="731520" y="1170432"/>
            <a:ext cx="10698480" cy="365760"/>
          </a:xfrm>
          <a:prstGeom prst="rect">
            <a:avLst/>
          </a:prstGeom>
          <a:noFill/>
        </p:spPr>
        <p:txBody>
          <a:bodyPr wrap="none">
            <a:spAutoFit/>
          </a:bodyPr>
          <a:lstStyle/>
          <a:p>
            <a:pPr>
              <a:defRPr sz="1200">
                <a:solidFill>
                  <a:srgbClr val="64748B"/>
                </a:solidFill>
              </a:defRPr>
            </a:pPr>
            <a:r>
              <a:t>Turning Abstract, Intimidating Engineering and Financial Concepts into Concrete Visual Realities</a:t>
            </a:r>
          </a:p>
        </p:txBody>
      </p:sp>
      <p:sp>
        <p:nvSpPr>
          <p:cNvPr id="8" name="Rounded Rectangle 7"/>
          <p:cNvSpPr/>
          <p:nvPr/>
        </p:nvSpPr>
        <p:spPr>
          <a:xfrm>
            <a:off x="731520" y="1645920"/>
            <a:ext cx="3291840" cy="4480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828800"/>
            <a:ext cx="2834640" cy="4114800"/>
          </a:xfrm>
          <a:prstGeom prst="rect">
            <a:avLst/>
          </a:prstGeom>
          <a:noFill/>
        </p:spPr>
        <p:txBody>
          <a:bodyPr wrap="square">
            <a:spAutoFit/>
          </a:bodyPr>
          <a:lstStyle/>
          <a:p>
            <a:pPr>
              <a:spcAft>
                <a:spcPts val="200"/>
              </a:spcAft>
              <a:defRPr sz="1000" b="1">
                <a:solidFill>
                  <a:srgbClr val="10B981"/>
                </a:solidFill>
              </a:defRPr>
            </a:pPr>
            <a:r>
              <a:t>FOR BUSINESS STUDENTS</a:t>
            </a:r>
          </a:p>
          <a:p>
            <a:pPr>
              <a:spcAft>
                <a:spcPts val="200"/>
              </a:spcAft>
              <a:defRPr sz="1500" b="1">
                <a:solidFill>
                  <a:srgbClr val="0F172A"/>
                </a:solidFill>
              </a:defRPr>
            </a:pPr>
            <a:r>
              <a:t>Accounting &amp; Finance</a:t>
            </a:r>
          </a:p>
          <a:p>
            <a:pPr>
              <a:spcAft>
                <a:spcPts val="600"/>
              </a:spcAft>
              <a:defRPr sz="1100">
                <a:solidFill>
                  <a:srgbClr val="10B981"/>
                </a:solidFill>
              </a:defRPr>
            </a:pPr>
            <a:r>
              <a:t>Financial State Machines</a:t>
            </a:r>
          </a:p>
          <a:p>
            <a:pPr>
              <a:spcAft>
                <a:spcPts val="400"/>
              </a:spcAft>
              <a:defRPr sz="1150">
                <a:solidFill>
                  <a:srgbClr val="334155"/>
                </a:solidFill>
              </a:defRPr>
            </a:pPr>
            <a:r>
              <a:t>• LedgerSheet Engine: Interactive T-accounts where debits and credits must balance.</a:t>
            </a:r>
          </a:p>
          <a:p>
            <a:pPr>
              <a:spcAft>
                <a:spcPts val="400"/>
              </a:spcAft>
              <a:defRPr sz="1150">
                <a:solidFill>
                  <a:srgbClr val="334155"/>
                </a:solidFill>
              </a:defRPr>
            </a:pPr>
            <a:r>
              <a:t>• Unbalanced entries flash red until the student balances the ledger.</a:t>
            </a:r>
          </a:p>
          <a:p>
            <a:pPr>
              <a:spcAft>
                <a:spcPts val="400"/>
              </a:spcAft>
              <a:defRPr sz="1150">
                <a:solidFill>
                  <a:srgbClr val="334155"/>
                </a:solidFill>
              </a:defRPr>
            </a:pPr>
            <a:r>
              <a:t>• Funnel Engine: B2B sales pipelines showing drop-offs, CAC:LTV, and conversion rates.</a:t>
            </a:r>
          </a:p>
          <a:p>
            <a:pPr>
              <a:spcAft>
                <a:spcPts val="400"/>
              </a:spcAft>
              <a:defRPr sz="1150">
                <a:solidFill>
                  <a:srgbClr val="334155"/>
                </a:solidFill>
              </a:defRPr>
            </a:pPr>
            <a:r>
              <a:t>• Bars &amp; Sensitivity: Dynamic charts for DCF valuation and scenario modeling.</a:t>
            </a:r>
          </a:p>
          <a:p>
            <a:pPr>
              <a:spcAft>
                <a:spcPts val="400"/>
              </a:spcAft>
              <a:defRPr sz="1150">
                <a:solidFill>
                  <a:srgbClr val="334155"/>
                </a:solidFill>
              </a:defRPr>
            </a:pPr>
            <a:r>
              <a:t>• Impact: Makes complex finance feel tangible and crystal clear.</a:t>
            </a:r>
          </a:p>
        </p:txBody>
      </p:sp>
      <p:sp>
        <p:nvSpPr>
          <p:cNvPr id="10" name="Rounded Rectangle 9"/>
          <p:cNvSpPr/>
          <p:nvPr/>
        </p:nvSpPr>
        <p:spPr>
          <a:xfrm>
            <a:off x="4389120" y="1645920"/>
            <a:ext cx="3383280" cy="4480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1828800"/>
            <a:ext cx="2926080" cy="4114800"/>
          </a:xfrm>
          <a:prstGeom prst="rect">
            <a:avLst/>
          </a:prstGeom>
          <a:noFill/>
        </p:spPr>
        <p:txBody>
          <a:bodyPr wrap="square">
            <a:spAutoFit/>
          </a:bodyPr>
          <a:lstStyle/>
          <a:p>
            <a:pPr>
              <a:spcAft>
                <a:spcPts val="200"/>
              </a:spcAft>
              <a:defRPr sz="1000" b="1">
                <a:solidFill>
                  <a:srgbClr val="2563EB"/>
                </a:solidFill>
              </a:defRPr>
            </a:pPr>
            <a:r>
              <a:t>FOR DEVELOPER STUDENTS</a:t>
            </a:r>
          </a:p>
          <a:p>
            <a:pPr>
              <a:spcAft>
                <a:spcPts val="200"/>
              </a:spcAft>
              <a:defRPr sz="1500" b="1">
                <a:solidFill>
                  <a:srgbClr val="0F172A"/>
                </a:solidFill>
              </a:defRPr>
            </a:pPr>
            <a:r>
              <a:t>Software &amp; Cloud</a:t>
            </a:r>
          </a:p>
          <a:p>
            <a:pPr>
              <a:spcAft>
                <a:spcPts val="600"/>
              </a:spcAft>
              <a:defRPr sz="1100">
                <a:solidFill>
                  <a:srgbClr val="2563EB"/>
                </a:solidFill>
              </a:defRPr>
            </a:pPr>
            <a:r>
              <a:t>Distributed Systems Topologies</a:t>
            </a:r>
          </a:p>
          <a:p>
            <a:pPr>
              <a:spcAft>
                <a:spcPts val="400"/>
              </a:spcAft>
              <a:defRPr sz="1150">
                <a:solidFill>
                  <a:srgbClr val="334155"/>
                </a:solidFill>
              </a:defRPr>
            </a:pPr>
            <a:r>
              <a:t>• TreeGraph Engine: Shows how database indexes (B+ Trees) split, merge, and re-balance.</a:t>
            </a:r>
          </a:p>
          <a:p>
            <a:pPr>
              <a:spcAft>
                <a:spcPts val="400"/>
              </a:spcAft>
              <a:defRPr sz="1150">
                <a:solidFill>
                  <a:srgbClr val="334155"/>
                </a:solidFill>
              </a:defRPr>
            </a:pPr>
            <a:r>
              <a:t>• Flow Engine: Visualizes microservices, API gateways, and distributed message queues.</a:t>
            </a:r>
          </a:p>
          <a:p>
            <a:pPr>
              <a:spcAft>
                <a:spcPts val="400"/>
              </a:spcAft>
              <a:defRPr sz="1150">
                <a:solidFill>
                  <a:srgbClr val="334155"/>
                </a:solidFill>
              </a:defRPr>
            </a:pPr>
            <a:r>
              <a:t>• ComponentTree Engine: Shows how modern web apps stream HTML from servers.</a:t>
            </a:r>
          </a:p>
          <a:p>
            <a:pPr>
              <a:spcAft>
                <a:spcPts val="400"/>
              </a:spcAft>
              <a:defRPr sz="1150">
                <a:solidFill>
                  <a:srgbClr val="334155"/>
                </a:solidFill>
              </a:defRPr>
            </a:pPr>
            <a:r>
              <a:t>• StackQueue Engine: Animates call stacks and memory allocations.</a:t>
            </a:r>
          </a:p>
          <a:p>
            <a:pPr>
              <a:spcAft>
                <a:spcPts val="400"/>
              </a:spcAft>
              <a:defRPr sz="1150">
                <a:solidFill>
                  <a:srgbClr val="334155"/>
                </a:solidFill>
              </a:defRPr>
            </a:pPr>
            <a:r>
              <a:t>• Impact: Turns invisible code into visible architecture.</a:t>
            </a:r>
          </a:p>
        </p:txBody>
      </p:sp>
      <p:sp>
        <p:nvSpPr>
          <p:cNvPr id="12" name="Rounded Rectangle 11"/>
          <p:cNvSpPr/>
          <p:nvPr/>
        </p:nvSpPr>
        <p:spPr>
          <a:xfrm>
            <a:off x="8138160" y="1645920"/>
            <a:ext cx="3291840" cy="4480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66760" y="1828800"/>
            <a:ext cx="2834640" cy="4114800"/>
          </a:xfrm>
          <a:prstGeom prst="rect">
            <a:avLst/>
          </a:prstGeom>
          <a:noFill/>
        </p:spPr>
        <p:txBody>
          <a:bodyPr wrap="square">
            <a:spAutoFit/>
          </a:bodyPr>
          <a:lstStyle/>
          <a:p>
            <a:pPr>
              <a:spcAft>
                <a:spcPts val="200"/>
              </a:spcAft>
              <a:defRPr sz="1000" b="1">
                <a:solidFill>
                  <a:srgbClr val="7E22CE"/>
                </a:solidFill>
              </a:defRPr>
            </a:pPr>
            <a:r>
              <a:t>FOR IOT &amp; HARDWARE STUDENTS</a:t>
            </a:r>
          </a:p>
          <a:p>
            <a:pPr>
              <a:spcAft>
                <a:spcPts val="200"/>
              </a:spcAft>
              <a:defRPr sz="1500" b="1">
                <a:solidFill>
                  <a:srgbClr val="0F172A"/>
                </a:solidFill>
              </a:defRPr>
            </a:pPr>
            <a:r>
              <a:t>Hardware &amp; Silicon</a:t>
            </a:r>
          </a:p>
          <a:p>
            <a:pPr>
              <a:spcAft>
                <a:spcPts val="600"/>
              </a:spcAft>
              <a:defRPr sz="1100">
                <a:solidFill>
                  <a:srgbClr val="7E22CE"/>
                </a:solidFill>
              </a:defRPr>
            </a:pPr>
            <a:r>
              <a:t>Silicon Microcontroller Registers</a:t>
            </a:r>
          </a:p>
          <a:p>
            <a:pPr>
              <a:spcAft>
                <a:spcPts val="400"/>
              </a:spcAft>
              <a:defRPr sz="1150">
                <a:solidFill>
                  <a:srgbClr val="334155"/>
                </a:solidFill>
              </a:defRPr>
            </a:pPr>
            <a:r>
              <a:t>• RegisterBits Engine: Students flip bits 0-7 live and watch microcontroller memory change.</a:t>
            </a:r>
          </a:p>
          <a:p>
            <a:pPr>
              <a:spcAft>
                <a:spcPts val="400"/>
              </a:spcAft>
              <a:defRPr sz="1150">
                <a:solidFill>
                  <a:srgbClr val="334155"/>
                </a:solidFill>
              </a:defRPr>
            </a:pPr>
            <a:r>
              <a:t>• Hex &amp; Binary Formatting: Eliminates fear of low-level embedded registers.</a:t>
            </a:r>
          </a:p>
          <a:p>
            <a:pPr>
              <a:spcAft>
                <a:spcPts val="400"/>
              </a:spcAft>
              <a:defRPr sz="1150">
                <a:solidFill>
                  <a:srgbClr val="334155"/>
                </a:solidFill>
              </a:defRPr>
            </a:pPr>
            <a:r>
              <a:t>• Cryptographic Binding: All 990 visual engines are locked with SHA-256 code hashes.</a:t>
            </a:r>
          </a:p>
          <a:p>
            <a:pPr>
              <a:spcAft>
                <a:spcPts val="400"/>
              </a:spcAft>
              <a:defRPr sz="1150">
                <a:solidFill>
                  <a:srgbClr val="334155"/>
                </a:solidFill>
              </a:defRPr>
            </a:pPr>
            <a:r>
              <a:t>• AST Tolerances: Evaluates actual logic rather than fragile string matches.</a:t>
            </a:r>
          </a:p>
          <a:p>
            <a:pPr>
              <a:spcAft>
                <a:spcPts val="400"/>
              </a:spcAft>
              <a:defRPr sz="1150">
                <a:solidFill>
                  <a:srgbClr val="334155"/>
                </a:solidFill>
              </a:defRPr>
            </a:pPr>
            <a:r>
              <a:t>• Impact: Eliminates intimidation in semiconductor engineering.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320040"/>
            <a:ext cx="2926080" cy="292608"/>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2563EB"/>
                </a:solidFill>
              </a:defRPr>
            </a:pPr>
            <a:r>
              <a:t>HIGH-PLACEMENT ENGINE</a:t>
            </a:r>
          </a:p>
        </p:txBody>
      </p:sp>
      <p:sp>
        <p:nvSpPr>
          <p:cNvPr id="5" name="TextBox 4"/>
          <p:cNvSpPr txBox="1"/>
          <p:nvPr/>
        </p:nvSpPr>
        <p:spPr>
          <a:xfrm>
            <a:off x="10241280" y="320040"/>
            <a:ext cx="1216152" cy="320040"/>
          </a:xfrm>
          <a:prstGeom prst="rect">
            <a:avLst/>
          </a:prstGeom>
          <a:noFill/>
        </p:spPr>
        <p:txBody>
          <a:bodyPr wrap="none">
            <a:spAutoFit/>
          </a:bodyPr>
          <a:lstStyle/>
          <a:p>
            <a:pPr algn="r">
              <a:defRPr sz="1100" b="1">
                <a:solidFill>
                  <a:srgbClr val="64748B"/>
                </a:solidFill>
              </a:defRPr>
            </a:pPr>
            <a:r>
              <a:t>SLIDE 06 / 10</a:t>
            </a:r>
          </a:p>
        </p:txBody>
      </p:sp>
      <p:sp>
        <p:nvSpPr>
          <p:cNvPr id="6" name="TextBox 5"/>
          <p:cNvSpPr txBox="1"/>
          <p:nvPr/>
        </p:nvSpPr>
        <p:spPr>
          <a:xfrm>
            <a:off x="731520" y="658368"/>
            <a:ext cx="10698480" cy="502920"/>
          </a:xfrm>
          <a:prstGeom prst="rect">
            <a:avLst/>
          </a:prstGeom>
          <a:noFill/>
        </p:spPr>
        <p:txBody>
          <a:bodyPr wrap="none">
            <a:spAutoFit/>
          </a:bodyPr>
          <a:lstStyle/>
          <a:p>
            <a:pPr>
              <a:defRPr sz="2200" b="1">
                <a:solidFill>
                  <a:srgbClr val="0F172A"/>
                </a:solidFill>
              </a:defRPr>
            </a:pPr>
            <a:r>
              <a:t>Vertical 1: Software &amp; Cloud Systems (100% Built &amp; Live)</a:t>
            </a:r>
          </a:p>
        </p:txBody>
      </p:sp>
      <p:sp>
        <p:nvSpPr>
          <p:cNvPr id="7" name="TextBox 6"/>
          <p:cNvSpPr txBox="1"/>
          <p:nvPr/>
        </p:nvSpPr>
        <p:spPr>
          <a:xfrm>
            <a:off x="731520" y="1170432"/>
            <a:ext cx="10698480" cy="365760"/>
          </a:xfrm>
          <a:prstGeom prst="rect">
            <a:avLst/>
          </a:prstGeom>
          <a:noFill/>
        </p:spPr>
        <p:txBody>
          <a:bodyPr wrap="none">
            <a:spAutoFit/>
          </a:bodyPr>
          <a:lstStyle/>
          <a:p>
            <a:pPr>
              <a:defRPr sz="1200">
                <a:solidFill>
                  <a:srgbClr val="64748B"/>
                </a:solidFill>
              </a:defRPr>
            </a:pPr>
            <a:r>
              <a:t>The Primary Driver That Lands University Graduates High-Paying Software Engineering Jobs</a:t>
            </a:r>
          </a:p>
        </p:txBody>
      </p:sp>
      <p:sp>
        <p:nvSpPr>
          <p:cNvPr id="8" name="Rounded Rectangle 7"/>
          <p:cNvSpPr/>
          <p:nvPr/>
        </p:nvSpPr>
        <p:spPr>
          <a:xfrm>
            <a:off x="731520" y="1645920"/>
            <a:ext cx="5120640" cy="4480560"/>
          </a:xfrm>
          <a:prstGeom prst="roundRect">
            <a:avLst/>
          </a:prstGeom>
          <a:solidFill>
            <a:srgbClr val="FFFFFF"/>
          </a:solidFill>
          <a:ln w="1524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828800"/>
            <a:ext cx="4663440" cy="4114800"/>
          </a:xfrm>
          <a:prstGeom prst="rect">
            <a:avLst/>
          </a:prstGeom>
          <a:noFill/>
        </p:spPr>
        <p:txBody>
          <a:bodyPr wrap="square">
            <a:spAutoFit/>
          </a:bodyPr>
          <a:lstStyle/>
          <a:p>
            <a:pPr>
              <a:spcAft>
                <a:spcPts val="200"/>
              </a:spcAft>
              <a:defRPr sz="1000" b="1">
                <a:solidFill>
                  <a:srgbClr val="10B981"/>
                </a:solidFill>
              </a:defRPr>
            </a:pPr>
            <a:r>
              <a:t>100% READY TODAY</a:t>
            </a:r>
          </a:p>
          <a:p>
            <a:pPr>
              <a:spcAft>
                <a:spcPts val="200"/>
              </a:spcAft>
              <a:defRPr sz="1500" b="1">
                <a:solidFill>
                  <a:srgbClr val="0F172A"/>
                </a:solidFill>
              </a:defRPr>
            </a:pPr>
            <a:r>
              <a:t>6 Complete Courses (180 Days Live)</a:t>
            </a:r>
          </a:p>
          <a:p>
            <a:pPr>
              <a:spcAft>
                <a:spcPts val="600"/>
              </a:spcAft>
              <a:defRPr sz="1100">
                <a:solidFill>
                  <a:srgbClr val="10B981"/>
                </a:solidFill>
              </a:defRPr>
            </a:pPr>
            <a:r>
              <a:t>180 Days of Verified Lessons Live</a:t>
            </a:r>
          </a:p>
          <a:p>
            <a:pPr>
              <a:spcAft>
                <a:spcPts val="400"/>
              </a:spcAft>
              <a:defRPr sz="1150">
                <a:solidFill>
                  <a:srgbClr val="334155"/>
                </a:solidFill>
              </a:defRPr>
            </a:pPr>
            <a:r>
              <a:t>• 1. Python Backend Architecture: Async APIs, FastAPI, database connection pools, memory profiling.</a:t>
            </a:r>
          </a:p>
          <a:p>
            <a:pPr>
              <a:spcAft>
                <a:spcPts val="400"/>
              </a:spcAft>
              <a:defRPr sz="1150">
                <a:solidFill>
                  <a:srgbClr val="334155"/>
                </a:solidFill>
              </a:defRPr>
            </a:pPr>
            <a:r>
              <a:t>• 2. Modern JavaScript Mastery: Event loops, microtasks, V8 hidden classes, closures.</a:t>
            </a:r>
          </a:p>
          <a:p>
            <a:pPr>
              <a:spcAft>
                <a:spcPts val="400"/>
              </a:spcAft>
              <a:defRPr sz="1150">
                <a:solidFill>
                  <a:srgbClr val="334155"/>
                </a:solidFill>
              </a:defRPr>
            </a:pPr>
            <a:r>
              <a:t>• 3. Fullstack Next.js: Server Components (RSC), Flight serialization, edge caching.</a:t>
            </a:r>
          </a:p>
          <a:p>
            <a:pPr>
              <a:spcAft>
                <a:spcPts val="400"/>
              </a:spcAft>
              <a:defRPr sz="1150">
                <a:solidFill>
                  <a:srgbClr val="334155"/>
                </a:solidFill>
              </a:defRPr>
            </a:pPr>
            <a:r>
              <a:t>• 4. Database Engineering: SQL, B+ Tree indexing, Write-Ahead Logs (WAL), MVCC.</a:t>
            </a:r>
          </a:p>
          <a:p>
            <a:pPr>
              <a:spcAft>
                <a:spcPts val="400"/>
              </a:spcAft>
              <a:defRPr sz="1150">
                <a:solidFill>
                  <a:srgbClr val="334155"/>
                </a:solidFill>
              </a:defRPr>
            </a:pPr>
            <a:r>
              <a:t>• 5. Distributed Systems: Raft consensus, two-phase commits, CAP theorem, vector clocks.</a:t>
            </a:r>
          </a:p>
          <a:p>
            <a:pPr>
              <a:spcAft>
                <a:spcPts val="400"/>
              </a:spcAft>
              <a:defRPr sz="1150">
                <a:solidFill>
                  <a:srgbClr val="334155"/>
                </a:solidFill>
              </a:defRPr>
            </a:pPr>
            <a:r>
              <a:t>• 6. Cloud &amp; DevOps: Docker multi-stage builds, Kubernetes pod lifecycles, CI/CD.</a:t>
            </a:r>
          </a:p>
        </p:txBody>
      </p:sp>
      <p:sp>
        <p:nvSpPr>
          <p:cNvPr id="10" name="Rounded Rectangle 9"/>
          <p:cNvSpPr/>
          <p:nvPr/>
        </p:nvSpPr>
        <p:spPr>
          <a:xfrm>
            <a:off x="6217920" y="1645920"/>
            <a:ext cx="5212080" cy="4480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828800"/>
            <a:ext cx="4754880" cy="4114800"/>
          </a:xfrm>
          <a:prstGeom prst="rect">
            <a:avLst/>
          </a:prstGeom>
          <a:noFill/>
        </p:spPr>
        <p:txBody>
          <a:bodyPr wrap="square">
            <a:spAutoFit/>
          </a:bodyPr>
          <a:lstStyle/>
          <a:p>
            <a:pPr>
              <a:spcAft>
                <a:spcPts val="200"/>
              </a:spcAft>
              <a:defRPr sz="1000" b="1">
                <a:solidFill>
                  <a:srgbClr val="D97706"/>
                </a:solidFill>
              </a:defRPr>
            </a:pPr>
            <a:r>
              <a:t>CAREER &amp; REVENUE IMPACT</a:t>
            </a:r>
          </a:p>
          <a:p>
            <a:pPr>
              <a:spcAft>
                <a:spcPts val="200"/>
              </a:spcAft>
              <a:defRPr sz="1500" b="1">
                <a:solidFill>
                  <a:srgbClr val="0F172A"/>
                </a:solidFill>
              </a:defRPr>
            </a:pPr>
            <a:r>
              <a:t>Why Shareholders Care: Job Placement</a:t>
            </a:r>
          </a:p>
          <a:p>
            <a:pPr>
              <a:spcAft>
                <a:spcPts val="600"/>
              </a:spcAft>
              <a:defRPr sz="1100">
                <a:solidFill>
                  <a:srgbClr val="D97706"/>
                </a:solidFill>
              </a:defRPr>
            </a:pPr>
            <a:r>
              <a:t>High Salary • High Demand • High Conversion</a:t>
            </a:r>
          </a:p>
          <a:p>
            <a:pPr>
              <a:spcAft>
                <a:spcPts val="400"/>
              </a:spcAft>
              <a:defRPr sz="1150">
                <a:solidFill>
                  <a:srgbClr val="334155"/>
                </a:solidFill>
              </a:defRPr>
            </a:pPr>
            <a:r>
              <a:t>• Massive Market Demand: 70% of high-paying campus placements are in software development.</a:t>
            </a:r>
          </a:p>
          <a:p>
            <a:pPr>
              <a:spcAft>
                <a:spcPts val="400"/>
              </a:spcAft>
              <a:defRPr sz="1150">
                <a:solidFill>
                  <a:srgbClr val="334155"/>
                </a:solidFill>
              </a:defRPr>
            </a:pPr>
            <a:r>
              <a:t>• Target Job Titles: Full-Stack Engineer, Backend Platform Architect, Site Reliability Engineer (SRE).</a:t>
            </a:r>
          </a:p>
          <a:p>
            <a:pPr>
              <a:spcAft>
                <a:spcPts val="400"/>
              </a:spcAft>
              <a:defRPr sz="1150">
                <a:solidFill>
                  <a:srgbClr val="334155"/>
                </a:solidFill>
              </a:defRPr>
            </a:pPr>
            <a:r>
              <a:t>• Starting Salary Benchmark: Rs 12 LPA to Rs 25 LPA ($120k–$180k globally).</a:t>
            </a:r>
          </a:p>
          <a:p>
            <a:pPr>
              <a:spcAft>
                <a:spcPts val="400"/>
              </a:spcAft>
              <a:defRPr sz="1150">
                <a:solidFill>
                  <a:srgbClr val="334155"/>
                </a:solidFill>
              </a:defRPr>
            </a:pPr>
            <a:r>
              <a:t>• Authentic Proof-of-Work: Students graduate with authentic GitHub projects rather than copy-pasted homework.</a:t>
            </a:r>
          </a:p>
          <a:p>
            <a:pPr>
              <a:spcAft>
                <a:spcPts val="400"/>
              </a:spcAft>
              <a:defRPr sz="1150">
                <a:solidFill>
                  <a:srgbClr val="334155"/>
                </a:solidFill>
              </a:defRPr>
            </a:pPr>
            <a:r>
              <a:t>• Recruiter Trust: Automated test logs prove the student can write clean, production code on Day 1.</a:t>
            </a:r>
          </a:p>
          <a:p>
            <a:pPr>
              <a:spcAft>
                <a:spcPts val="400"/>
              </a:spcAft>
              <a:defRPr sz="1150">
                <a:solidFill>
                  <a:srgbClr val="334155"/>
                </a:solidFill>
              </a:defRPr>
            </a:pPr>
            <a:r>
              <a:t>• University Impact: Dramatically increases campus placement statistics and NAAC ratings.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320040"/>
            <a:ext cx="2926080" cy="292608"/>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2563EB"/>
                </a:solidFill>
              </a:defRPr>
            </a:pPr>
            <a:r>
              <a:t>PREMIUM DIFFERENTIATOR</a:t>
            </a:r>
          </a:p>
        </p:txBody>
      </p:sp>
      <p:sp>
        <p:nvSpPr>
          <p:cNvPr id="5" name="TextBox 4"/>
          <p:cNvSpPr txBox="1"/>
          <p:nvPr/>
        </p:nvSpPr>
        <p:spPr>
          <a:xfrm>
            <a:off x="10241280" y="320040"/>
            <a:ext cx="1216152" cy="320040"/>
          </a:xfrm>
          <a:prstGeom prst="rect">
            <a:avLst/>
          </a:prstGeom>
          <a:noFill/>
        </p:spPr>
        <p:txBody>
          <a:bodyPr wrap="none">
            <a:spAutoFit/>
          </a:bodyPr>
          <a:lstStyle/>
          <a:p>
            <a:pPr algn="r">
              <a:defRPr sz="1100" b="1">
                <a:solidFill>
                  <a:srgbClr val="64748B"/>
                </a:solidFill>
              </a:defRPr>
            </a:pPr>
            <a:r>
              <a:t>SLIDE 07 / 10</a:t>
            </a:r>
          </a:p>
        </p:txBody>
      </p:sp>
      <p:sp>
        <p:nvSpPr>
          <p:cNvPr id="6" name="TextBox 5"/>
          <p:cNvSpPr txBox="1"/>
          <p:nvPr/>
        </p:nvSpPr>
        <p:spPr>
          <a:xfrm>
            <a:off x="731520" y="658368"/>
            <a:ext cx="10698480" cy="502920"/>
          </a:xfrm>
          <a:prstGeom prst="rect">
            <a:avLst/>
          </a:prstGeom>
          <a:noFill/>
        </p:spPr>
        <p:txBody>
          <a:bodyPr wrap="none">
            <a:spAutoFit/>
          </a:bodyPr>
          <a:lstStyle/>
          <a:p>
            <a:pPr>
              <a:defRPr sz="2200" b="1">
                <a:solidFill>
                  <a:srgbClr val="0F172A"/>
                </a:solidFill>
              </a:defRPr>
            </a:pPr>
            <a:r>
              <a:t>Vertical 2: Quantitative Trading Systems (The Crown Jewel)</a:t>
            </a:r>
          </a:p>
        </p:txBody>
      </p:sp>
      <p:sp>
        <p:nvSpPr>
          <p:cNvPr id="7" name="TextBox 6"/>
          <p:cNvSpPr txBox="1"/>
          <p:nvPr/>
        </p:nvSpPr>
        <p:spPr>
          <a:xfrm>
            <a:off x="731520" y="1170432"/>
            <a:ext cx="10698480" cy="365760"/>
          </a:xfrm>
          <a:prstGeom prst="rect">
            <a:avLst/>
          </a:prstGeom>
          <a:noFill/>
        </p:spPr>
        <p:txBody>
          <a:bodyPr wrap="none">
            <a:spAutoFit/>
          </a:bodyPr>
          <a:lstStyle/>
          <a:p>
            <a:pPr>
              <a:defRPr sz="1200">
                <a:solidFill>
                  <a:srgbClr val="64748B"/>
                </a:solidFill>
              </a:defRPr>
            </a:pPr>
            <a:r>
              <a:t>Sub-Microsecond Trading Engines &amp; Deep Tech Offering Global $200k+ Career Placement</a:t>
            </a:r>
          </a:p>
        </p:txBody>
      </p:sp>
      <p:sp>
        <p:nvSpPr>
          <p:cNvPr id="8" name="Rounded Rectangle 7"/>
          <p:cNvSpPr/>
          <p:nvPr/>
        </p:nvSpPr>
        <p:spPr>
          <a:xfrm>
            <a:off x="731520" y="1645920"/>
            <a:ext cx="5120640" cy="4480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828800"/>
            <a:ext cx="4663440" cy="4114800"/>
          </a:xfrm>
          <a:prstGeom prst="rect">
            <a:avLst/>
          </a:prstGeom>
          <a:noFill/>
        </p:spPr>
        <p:txBody>
          <a:bodyPr wrap="square">
            <a:spAutoFit/>
          </a:bodyPr>
          <a:lstStyle/>
          <a:p>
            <a:pPr>
              <a:spcAft>
                <a:spcPts val="200"/>
              </a:spcAft>
              <a:defRPr sz="1000" b="1">
                <a:solidFill>
                  <a:srgbClr val="D97706"/>
                </a:solidFill>
              </a:defRPr>
            </a:pPr>
            <a:r>
              <a:t>30/30 DAYS COMPLETE</a:t>
            </a:r>
          </a:p>
          <a:p>
            <a:pPr>
              <a:spcAft>
                <a:spcPts val="200"/>
              </a:spcAft>
              <a:defRPr sz="1500" b="1">
                <a:solidFill>
                  <a:srgbClr val="0F172A"/>
                </a:solidFill>
              </a:defRPr>
            </a:pPr>
            <a:r>
              <a:t>The Crown Jewel: Quant Trading Systems</a:t>
            </a:r>
          </a:p>
          <a:p>
            <a:pPr>
              <a:spcAft>
                <a:spcPts val="600"/>
              </a:spcAft>
              <a:defRPr sz="1100">
                <a:solidFill>
                  <a:srgbClr val="D97706"/>
                </a:solidFill>
              </a:defRPr>
            </a:pPr>
            <a:r>
              <a:t>The Highest-Paying Engineering Discipline</a:t>
            </a:r>
          </a:p>
          <a:p>
            <a:pPr>
              <a:spcAft>
                <a:spcPts val="400"/>
              </a:spcAft>
              <a:defRPr sz="1150">
                <a:solidFill>
                  <a:srgbClr val="334155"/>
                </a:solidFill>
              </a:defRPr>
            </a:pPr>
            <a:r>
              <a:t>• High-Frequency Trading in C++: Sub-microsecond market making architecture.</a:t>
            </a:r>
          </a:p>
          <a:p>
            <a:pPr>
              <a:spcAft>
                <a:spcPts val="400"/>
              </a:spcAft>
              <a:defRPr sz="1150">
                <a:solidFill>
                  <a:srgbClr val="334155"/>
                </a:solidFill>
              </a:defRPr>
            </a:pPr>
            <a:r>
              <a:t>• 41.8 Nanosecond Matching: Building ultra-fast financial limit order books (LOB).</a:t>
            </a:r>
          </a:p>
          <a:p>
            <a:pPr>
              <a:spcAft>
                <a:spcPts val="400"/>
              </a:spcAft>
              <a:defRPr sz="1150">
                <a:solidFill>
                  <a:srgbClr val="334155"/>
                </a:solidFill>
              </a:defRPr>
            </a:pPr>
            <a:r>
              <a:t>• Kernel Bypass &amp; Lock-Free Buffers: SPSC circular ring buffers with 64-byte cache alignment.</a:t>
            </a:r>
          </a:p>
          <a:p>
            <a:pPr>
              <a:spcAft>
                <a:spcPts val="400"/>
              </a:spcAft>
              <a:defRPr sz="1150">
                <a:solidFill>
                  <a:srgbClr val="334155"/>
                </a:solidFill>
              </a:defRPr>
            </a:pPr>
            <a:r>
              <a:t>• SEC Rule 15c3-5 Pre-Trade Risk: Automated price collars and atomic kill switches.</a:t>
            </a:r>
          </a:p>
          <a:p>
            <a:pPr>
              <a:spcAft>
                <a:spcPts val="400"/>
              </a:spcAft>
              <a:defRPr sz="1150">
                <a:solidFill>
                  <a:srgbClr val="334155"/>
                </a:solidFill>
              </a:defRPr>
            </a:pPr>
            <a:r>
              <a:t>• Quantitative Alpha Signals: Order Flow Imbalance (OFI), VPIN toxicity, Hawkes processes.</a:t>
            </a:r>
          </a:p>
          <a:p>
            <a:pPr>
              <a:spcAft>
                <a:spcPts val="400"/>
              </a:spcAft>
              <a:defRPr sz="1150">
                <a:solidFill>
                  <a:srgbClr val="334155"/>
                </a:solidFill>
              </a:defRPr>
            </a:pPr>
            <a:r>
              <a:t>• Derivatives Pricing: Black-Scholes Greeks (Delta, Gamma, Vega) &amp; Newton-Raphson solvers.</a:t>
            </a:r>
          </a:p>
        </p:txBody>
      </p:sp>
      <p:sp>
        <p:nvSpPr>
          <p:cNvPr id="10" name="Rounded Rectangle 9"/>
          <p:cNvSpPr/>
          <p:nvPr/>
        </p:nvSpPr>
        <p:spPr>
          <a:xfrm>
            <a:off x="6217920" y="1645920"/>
            <a:ext cx="5212080" cy="4480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828800"/>
            <a:ext cx="4754880" cy="4114800"/>
          </a:xfrm>
          <a:prstGeom prst="rect">
            <a:avLst/>
          </a:prstGeom>
          <a:noFill/>
        </p:spPr>
        <p:txBody>
          <a:bodyPr wrap="square">
            <a:spAutoFit/>
          </a:bodyPr>
          <a:lstStyle/>
          <a:p>
            <a:pPr>
              <a:spcAft>
                <a:spcPts val="200"/>
              </a:spcAft>
              <a:defRPr sz="1000" b="1">
                <a:solidFill>
                  <a:srgbClr val="7E22CE"/>
                </a:solidFill>
              </a:defRPr>
            </a:pPr>
            <a:r>
              <a:t>HIGH-MARGIN DIFFERENTIATOR</a:t>
            </a:r>
          </a:p>
          <a:p>
            <a:pPr>
              <a:spcAft>
                <a:spcPts val="200"/>
              </a:spcAft>
              <a:defRPr sz="1500" b="1">
                <a:solidFill>
                  <a:srgbClr val="0F172A"/>
                </a:solidFill>
              </a:defRPr>
            </a:pPr>
            <a:r>
              <a:t>Why Shareholders Care: Elite Positioning</a:t>
            </a:r>
          </a:p>
          <a:p>
            <a:pPr>
              <a:spcAft>
                <a:spcPts val="600"/>
              </a:spcAft>
              <a:defRPr sz="1100">
                <a:solidFill>
                  <a:srgbClr val="7E22CE"/>
                </a:solidFill>
              </a:defRPr>
            </a:pPr>
            <a:r>
              <a:t>Attracting Elite Tier-1 Institutions</a:t>
            </a:r>
          </a:p>
          <a:p>
            <a:pPr>
              <a:spcAft>
                <a:spcPts val="400"/>
              </a:spcAft>
              <a:defRPr sz="1150">
                <a:solidFill>
                  <a:srgbClr val="334155"/>
                </a:solidFill>
              </a:defRPr>
            </a:pPr>
            <a:r>
              <a:t>• Zero Competition Globally: No other university platform in the world teaches browser-based HFT.</a:t>
            </a:r>
          </a:p>
          <a:p>
            <a:pPr>
              <a:spcAft>
                <a:spcPts val="400"/>
              </a:spcAft>
              <a:defRPr sz="1150">
                <a:solidFill>
                  <a:srgbClr val="334155"/>
                </a:solidFill>
              </a:defRPr>
            </a:pPr>
            <a:r>
              <a:t>• Record-Breaking Salaries: High-frequency trading firms pay starting packages of Rs 40 LPA to Rs 80 LPA ($200k–$400k+).</a:t>
            </a:r>
          </a:p>
          <a:p>
            <a:pPr>
              <a:spcAft>
                <a:spcPts val="400"/>
              </a:spcAft>
              <a:defRPr sz="1150">
                <a:solidFill>
                  <a:srgbClr val="334155"/>
                </a:solidFill>
              </a:defRPr>
            </a:pPr>
            <a:r>
              <a:t>• Institutional Magnet: Positions PinIT as an elite engineering platform that attracts top IITs and tier-1 universities.</a:t>
            </a:r>
          </a:p>
          <a:p>
            <a:pPr>
              <a:spcAft>
                <a:spcPts val="400"/>
              </a:spcAft>
              <a:defRPr sz="1150">
                <a:solidFill>
                  <a:srgbClr val="334155"/>
                </a:solidFill>
              </a:defRPr>
            </a:pPr>
            <a:r>
              <a:t>• AI-Proof Systems: Low-latency silicon offloading and kernel programming cannot be automated by basic LLMs.</a:t>
            </a:r>
          </a:p>
          <a:p>
            <a:pPr>
              <a:spcAft>
                <a:spcPts val="400"/>
              </a:spcAft>
              <a:defRPr sz="1150">
                <a:solidFill>
                  <a:srgbClr val="334155"/>
                </a:solidFill>
              </a:defRPr>
            </a:pPr>
            <a:r>
              <a:t>• Complete Capstone: Sovereign Ultra-Low-Latency Multi-Venue Matching Engine verified with 100% green tests.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320040"/>
            <a:ext cx="2926080" cy="292608"/>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2563EB"/>
                </a:solidFill>
              </a:defRPr>
            </a:pPr>
            <a:r>
              <a:t>MASS MARKET EXPANSION</a:t>
            </a:r>
          </a:p>
        </p:txBody>
      </p:sp>
      <p:sp>
        <p:nvSpPr>
          <p:cNvPr id="5" name="TextBox 4"/>
          <p:cNvSpPr txBox="1"/>
          <p:nvPr/>
        </p:nvSpPr>
        <p:spPr>
          <a:xfrm>
            <a:off x="10241280" y="320040"/>
            <a:ext cx="1216152" cy="320040"/>
          </a:xfrm>
          <a:prstGeom prst="rect">
            <a:avLst/>
          </a:prstGeom>
          <a:noFill/>
        </p:spPr>
        <p:txBody>
          <a:bodyPr wrap="none">
            <a:spAutoFit/>
          </a:bodyPr>
          <a:lstStyle/>
          <a:p>
            <a:pPr algn="r">
              <a:defRPr sz="1100" b="1">
                <a:solidFill>
                  <a:srgbClr val="64748B"/>
                </a:solidFill>
              </a:defRPr>
            </a:pPr>
            <a:r>
              <a:t>SLIDE 08 / 10</a:t>
            </a:r>
          </a:p>
        </p:txBody>
      </p:sp>
      <p:sp>
        <p:nvSpPr>
          <p:cNvPr id="6" name="TextBox 5"/>
          <p:cNvSpPr txBox="1"/>
          <p:nvPr/>
        </p:nvSpPr>
        <p:spPr>
          <a:xfrm>
            <a:off x="731520" y="658368"/>
            <a:ext cx="10698480" cy="502920"/>
          </a:xfrm>
          <a:prstGeom prst="rect">
            <a:avLst/>
          </a:prstGeom>
          <a:noFill/>
        </p:spPr>
        <p:txBody>
          <a:bodyPr wrap="none">
            <a:spAutoFit/>
          </a:bodyPr>
          <a:lstStyle/>
          <a:p>
            <a:pPr>
              <a:defRPr sz="2200" b="1">
                <a:solidFill>
                  <a:srgbClr val="0F172A"/>
                </a:solidFill>
              </a:defRPr>
            </a:pPr>
            <a:r>
              <a:t>Vertical 3: Commerce, Banking &amp; Modern Management</a:t>
            </a:r>
          </a:p>
        </p:txBody>
      </p:sp>
      <p:sp>
        <p:nvSpPr>
          <p:cNvPr id="7" name="TextBox 6"/>
          <p:cNvSpPr txBox="1"/>
          <p:nvPr/>
        </p:nvSpPr>
        <p:spPr>
          <a:xfrm>
            <a:off x="731520" y="1170432"/>
            <a:ext cx="10698480" cy="365760"/>
          </a:xfrm>
          <a:prstGeom prst="rect">
            <a:avLst/>
          </a:prstGeom>
          <a:noFill/>
        </p:spPr>
        <p:txBody>
          <a:bodyPr wrap="none">
            <a:spAutoFit/>
          </a:bodyPr>
          <a:lstStyle/>
          <a:p>
            <a:pPr>
              <a:defRPr sz="1200">
                <a:solidFill>
                  <a:srgbClr val="64748B"/>
                </a:solidFill>
              </a:defRPr>
            </a:pPr>
            <a:r>
              <a:t>14 University Tracks for B.Com, BBA &amp; MBA Students (Days 1–5 Live, Days 6–30 Expanding)</a:t>
            </a:r>
          </a:p>
        </p:txBody>
      </p:sp>
      <p:sp>
        <p:nvSpPr>
          <p:cNvPr id="8" name="Rounded Rectangle 7"/>
          <p:cNvSpPr/>
          <p:nvPr/>
        </p:nvSpPr>
        <p:spPr>
          <a:xfrm>
            <a:off x="731520" y="1645920"/>
            <a:ext cx="5120640" cy="4480560"/>
          </a:xfrm>
          <a:prstGeom prst="roundRect">
            <a:avLst/>
          </a:prstGeom>
          <a:solidFill>
            <a:srgbClr val="FFFFFF"/>
          </a:solidFill>
          <a:ln w="1524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828800"/>
            <a:ext cx="4663440" cy="4114800"/>
          </a:xfrm>
          <a:prstGeom prst="rect">
            <a:avLst/>
          </a:prstGeom>
          <a:noFill/>
        </p:spPr>
        <p:txBody>
          <a:bodyPr wrap="square">
            <a:spAutoFit/>
          </a:bodyPr>
          <a:lstStyle/>
          <a:p>
            <a:pPr>
              <a:spcAft>
                <a:spcPts val="200"/>
              </a:spcAft>
              <a:defRPr sz="1000" b="1">
                <a:solidFill>
                  <a:srgbClr val="10B981"/>
                </a:solidFill>
              </a:defRPr>
            </a:pPr>
            <a:r>
              <a:t>70 DAYS LIVE • 350 EXPANDING</a:t>
            </a:r>
          </a:p>
          <a:p>
            <a:pPr>
              <a:spcAft>
                <a:spcPts val="200"/>
              </a:spcAft>
              <a:defRPr sz="1500" b="1">
                <a:solidFill>
                  <a:srgbClr val="0F172A"/>
                </a:solidFill>
              </a:defRPr>
            </a:pPr>
            <a:r>
              <a:t>The 14 Business &amp; Commerce Tracks</a:t>
            </a:r>
          </a:p>
          <a:p>
            <a:pPr>
              <a:spcAft>
                <a:spcPts val="600"/>
              </a:spcAft>
              <a:defRPr sz="1100">
                <a:solidFill>
                  <a:srgbClr val="10B981"/>
                </a:solidFill>
              </a:defRPr>
            </a:pPr>
            <a:r>
              <a:t>Complete Business Degree Coverage</a:t>
            </a:r>
          </a:p>
          <a:p>
            <a:pPr>
              <a:spcAft>
                <a:spcPts val="400"/>
              </a:spcAft>
              <a:defRPr sz="1150">
                <a:solidFill>
                  <a:srgbClr val="334155"/>
                </a:solidFill>
              </a:defRPr>
            </a:pPr>
            <a:r>
              <a:t>• 1. Corporate Finance: DCF Valuation, WACC, DuPont ROE, LBO debt modeling.</a:t>
            </a:r>
          </a:p>
          <a:p>
            <a:pPr>
              <a:spcAft>
                <a:spcPts val="400"/>
              </a:spcAft>
              <a:defRPr sz="1150">
                <a:solidFill>
                  <a:srgbClr val="334155"/>
                </a:solidFill>
              </a:defRPr>
            </a:pPr>
            <a:r>
              <a:t>• 2. Commercial Banking: Basel III Capital Adequacy, Loan Underwriting, Duration Gap.</a:t>
            </a:r>
          </a:p>
          <a:p>
            <a:pPr>
              <a:spcAft>
                <a:spcPts val="400"/>
              </a:spcAft>
              <a:defRPr sz="1150">
                <a:solidFill>
                  <a:srgbClr val="334155"/>
                </a:solidFill>
              </a:defRPr>
            </a:pPr>
            <a:r>
              <a:t>• 3. Digital Accounting: Double-entry trial balance, ASC 606 revenue recognition.</a:t>
            </a:r>
          </a:p>
          <a:p>
            <a:pPr>
              <a:spcAft>
                <a:spcPts val="400"/>
              </a:spcAft>
              <a:defRPr sz="1150">
                <a:solidFill>
                  <a:srgbClr val="334155"/>
                </a:solidFill>
              </a:defRPr>
            </a:pPr>
            <a:r>
              <a:t>• 4. Corporate Taxation: Deferred taxes, Section 163(j), OECD Pillar 2 transfer pricing.</a:t>
            </a:r>
          </a:p>
          <a:p>
            <a:pPr>
              <a:spcAft>
                <a:spcPts val="400"/>
              </a:spcAft>
              <a:defRPr sz="1150">
                <a:solidFill>
                  <a:srgbClr val="334155"/>
                </a:solidFill>
              </a:defRPr>
            </a:pPr>
            <a:r>
              <a:t>• 5. Forensic Auditing: Fraud detection, Benford's Law distribution analysis, SOX 404.</a:t>
            </a:r>
          </a:p>
          <a:p>
            <a:pPr>
              <a:spcAft>
                <a:spcPts val="400"/>
              </a:spcAft>
              <a:defRPr sz="1150">
                <a:solidFill>
                  <a:srgbClr val="334155"/>
                </a:solidFill>
              </a:defRPr>
            </a:pPr>
            <a:r>
              <a:t>• 6. Digital Marketing &amp; E-Commerce: CAC:LTV payback, conversion rate optimization.</a:t>
            </a:r>
          </a:p>
          <a:p>
            <a:pPr>
              <a:spcAft>
                <a:spcPts val="400"/>
              </a:spcAft>
              <a:defRPr sz="1150">
                <a:solidFill>
                  <a:srgbClr val="334155"/>
                </a:solidFill>
              </a:defRPr>
            </a:pPr>
            <a:r>
              <a:t>• 7. Operations &amp; B2B Sales: Supply chain inventory velocity, CRM pipelines, Six Sigma.</a:t>
            </a:r>
          </a:p>
        </p:txBody>
      </p:sp>
      <p:sp>
        <p:nvSpPr>
          <p:cNvPr id="10" name="Rounded Rectangle 9"/>
          <p:cNvSpPr/>
          <p:nvPr/>
        </p:nvSpPr>
        <p:spPr>
          <a:xfrm>
            <a:off x="6217920" y="1645920"/>
            <a:ext cx="5212080" cy="4480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828800"/>
            <a:ext cx="4754880" cy="4114800"/>
          </a:xfrm>
          <a:prstGeom prst="rect">
            <a:avLst/>
          </a:prstGeom>
          <a:noFill/>
        </p:spPr>
        <p:txBody>
          <a:bodyPr wrap="square">
            <a:spAutoFit/>
          </a:bodyPr>
          <a:lstStyle/>
          <a:p>
            <a:pPr>
              <a:spcAft>
                <a:spcPts val="200"/>
              </a:spcAft>
              <a:defRPr sz="1000" b="1">
                <a:solidFill>
                  <a:srgbClr val="2563EB"/>
                </a:solidFill>
              </a:defRPr>
            </a:pPr>
            <a:r>
              <a:t>COMMERCE CAMPUS MONETIZATION</a:t>
            </a:r>
          </a:p>
          <a:p>
            <a:pPr>
              <a:spcAft>
                <a:spcPts val="200"/>
              </a:spcAft>
              <a:defRPr sz="1500" b="1">
                <a:solidFill>
                  <a:srgbClr val="0F172A"/>
                </a:solidFill>
              </a:defRPr>
            </a:pPr>
            <a:r>
              <a:t>Why Shareholders Care: Huge Market Size</a:t>
            </a:r>
          </a:p>
          <a:p>
            <a:pPr>
              <a:spcAft>
                <a:spcPts val="600"/>
              </a:spcAft>
              <a:defRPr sz="1100">
                <a:solidFill>
                  <a:srgbClr val="2563EB"/>
                </a:solidFill>
              </a:defRPr>
            </a:pPr>
            <a:r>
              <a:t>Tapping the 10M+ Student Commerce Market</a:t>
            </a:r>
          </a:p>
          <a:p>
            <a:pPr>
              <a:spcAft>
                <a:spcPts val="400"/>
              </a:spcAft>
              <a:defRPr sz="1150">
                <a:solidFill>
                  <a:srgbClr val="334155"/>
                </a:solidFill>
              </a:defRPr>
            </a:pPr>
            <a:r>
              <a:t>• 60% of University Students: Over 60% of college enrollments are in non-engineering degrees (B.Com, BBA, MBA).</a:t>
            </a:r>
          </a:p>
          <a:p>
            <a:pPr>
              <a:spcAft>
                <a:spcPts val="400"/>
              </a:spcAft>
              <a:defRPr sz="1150">
                <a:solidFill>
                  <a:srgbClr val="334155"/>
                </a:solidFill>
              </a:defRPr>
            </a:pPr>
            <a:r>
              <a:t>• Zero Direct Competition: Almost all edtech competitors only teach coding. PinIT is first to bring interactive simulations to business students.</a:t>
            </a:r>
          </a:p>
          <a:p>
            <a:pPr>
              <a:spcAft>
                <a:spcPts val="400"/>
              </a:spcAft>
              <a:defRPr sz="1150">
                <a:solidFill>
                  <a:srgbClr val="334155"/>
                </a:solidFill>
              </a:defRPr>
            </a:pPr>
            <a:r>
              <a:t>• Target Careers: Financial Analyst, Private Equity Analyst, Forensic Auditor, Tax Consultant at Big 4 accounting firms.</a:t>
            </a:r>
          </a:p>
          <a:p>
            <a:pPr>
              <a:spcAft>
                <a:spcPts val="400"/>
              </a:spcAft>
              <a:defRPr sz="1150">
                <a:solidFill>
                  <a:srgbClr val="334155"/>
                </a:solidFill>
              </a:defRPr>
            </a:pPr>
            <a:r>
              <a:t>• Starting Salary: Rs 8 LPA to Rs 20 LPA ($80k–$150k global).</a:t>
            </a:r>
          </a:p>
          <a:p>
            <a:pPr>
              <a:spcAft>
                <a:spcPts val="400"/>
              </a:spcAft>
              <a:defRPr sz="1150">
                <a:solidFill>
                  <a:srgbClr val="334155"/>
                </a:solidFill>
              </a:defRPr>
            </a:pPr>
            <a:r>
              <a:t>• Production Pipeline: Days 1-5 live today; Days 6-30 actively expanding via Branch B sub-agents.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320040"/>
            <a:ext cx="2926080" cy="292608"/>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2563EB"/>
                </a:solidFill>
              </a:defRPr>
            </a:pPr>
            <a:r>
              <a:t>CAMPUS ONBOARDING &amp; SILICON</a:t>
            </a:r>
          </a:p>
        </p:txBody>
      </p:sp>
      <p:sp>
        <p:nvSpPr>
          <p:cNvPr id="5" name="TextBox 4"/>
          <p:cNvSpPr txBox="1"/>
          <p:nvPr/>
        </p:nvSpPr>
        <p:spPr>
          <a:xfrm>
            <a:off x="10241280" y="320040"/>
            <a:ext cx="1216152" cy="320040"/>
          </a:xfrm>
          <a:prstGeom prst="rect">
            <a:avLst/>
          </a:prstGeom>
          <a:noFill/>
        </p:spPr>
        <p:txBody>
          <a:bodyPr wrap="none">
            <a:spAutoFit/>
          </a:bodyPr>
          <a:lstStyle/>
          <a:p>
            <a:pPr algn="r">
              <a:defRPr sz="1100" b="1">
                <a:solidFill>
                  <a:srgbClr val="64748B"/>
                </a:solidFill>
              </a:defRPr>
            </a:pPr>
            <a:r>
              <a:t>SLIDE 09 / 10</a:t>
            </a:r>
          </a:p>
        </p:txBody>
      </p:sp>
      <p:sp>
        <p:nvSpPr>
          <p:cNvPr id="6" name="TextBox 5"/>
          <p:cNvSpPr txBox="1"/>
          <p:nvPr/>
        </p:nvSpPr>
        <p:spPr>
          <a:xfrm>
            <a:off x="731520" y="658368"/>
            <a:ext cx="10698480" cy="502920"/>
          </a:xfrm>
          <a:prstGeom prst="rect">
            <a:avLst/>
          </a:prstGeom>
          <a:noFill/>
        </p:spPr>
        <p:txBody>
          <a:bodyPr wrap="none">
            <a:spAutoFit/>
          </a:bodyPr>
          <a:lstStyle/>
          <a:p>
            <a:pPr>
              <a:defRPr sz="2200" b="1">
                <a:solidFill>
                  <a:srgbClr val="0F172A"/>
                </a:solidFill>
              </a:defRPr>
            </a:pPr>
            <a:r>
              <a:t>Vertical 4: Freshman Launchpads &amp; IoT Hardware</a:t>
            </a:r>
          </a:p>
        </p:txBody>
      </p:sp>
      <p:sp>
        <p:nvSpPr>
          <p:cNvPr id="7" name="TextBox 6"/>
          <p:cNvSpPr txBox="1"/>
          <p:nvPr/>
        </p:nvSpPr>
        <p:spPr>
          <a:xfrm>
            <a:off x="731520" y="1170432"/>
            <a:ext cx="10698480" cy="365760"/>
          </a:xfrm>
          <a:prstGeom prst="rect">
            <a:avLst/>
          </a:prstGeom>
          <a:noFill/>
        </p:spPr>
        <p:txBody>
          <a:bodyPr wrap="none">
            <a:spAutoFit/>
          </a:bodyPr>
          <a:lstStyle/>
          <a:p>
            <a:pPr>
              <a:defRPr sz="1200">
                <a:solidFill>
                  <a:srgbClr val="64748B"/>
                </a:solidFill>
              </a:defRPr>
            </a:pPr>
            <a:r>
              <a:t>Universal Onboarding for All Incoming Freshmen + Bare-Metal Semiconductor Systems</a:t>
            </a:r>
          </a:p>
        </p:txBody>
      </p:sp>
      <p:sp>
        <p:nvSpPr>
          <p:cNvPr id="8" name="Rounded Rectangle 7"/>
          <p:cNvSpPr/>
          <p:nvPr/>
        </p:nvSpPr>
        <p:spPr>
          <a:xfrm>
            <a:off x="731520" y="1645920"/>
            <a:ext cx="5120640" cy="4480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828800"/>
            <a:ext cx="4663440" cy="4114800"/>
          </a:xfrm>
          <a:prstGeom prst="rect">
            <a:avLst/>
          </a:prstGeom>
          <a:noFill/>
        </p:spPr>
        <p:txBody>
          <a:bodyPr wrap="square">
            <a:spAutoFit/>
          </a:bodyPr>
          <a:lstStyle/>
          <a:p>
            <a:pPr>
              <a:spcAft>
                <a:spcPts val="200"/>
              </a:spcAft>
              <a:defRPr sz="1000" b="1">
                <a:solidFill>
                  <a:srgbClr val="2563EB"/>
                </a:solidFill>
              </a:defRPr>
            </a:pPr>
            <a:r>
              <a:t>EVERY FRESHMAN'S STARTING POINT</a:t>
            </a:r>
          </a:p>
          <a:p>
            <a:pPr>
              <a:spcAft>
                <a:spcPts val="200"/>
              </a:spcAft>
              <a:defRPr sz="1500" b="1">
                <a:solidFill>
                  <a:srgbClr val="0F172A"/>
                </a:solidFill>
              </a:defRPr>
            </a:pPr>
            <a:r>
              <a:t>Freshman Universal Launchpads</a:t>
            </a:r>
          </a:p>
          <a:p>
            <a:pPr>
              <a:spcAft>
                <a:spcPts val="600"/>
              </a:spcAft>
              <a:defRPr sz="1100">
                <a:solidFill>
                  <a:srgbClr val="2563EB"/>
                </a:solidFill>
              </a:defRPr>
            </a:pPr>
            <a:r>
              <a:t>Universal Freshman Adoption</a:t>
            </a:r>
          </a:p>
          <a:p>
            <a:pPr>
              <a:spcAft>
                <a:spcPts val="400"/>
              </a:spcAft>
              <a:defRPr sz="1150">
                <a:solidFill>
                  <a:srgbClr val="334155"/>
                </a:solidFill>
              </a:defRPr>
            </a:pPr>
            <a:r>
              <a:t>• Excel &amp; Data Analytics (excel_viz): Days 1-10 complete! Power Query M, Star Schema, dynamic PivotTables, and OLS regression.</a:t>
            </a:r>
          </a:p>
          <a:p>
            <a:pPr>
              <a:spcAft>
                <a:spcPts val="400"/>
              </a:spcAft>
              <a:defRPr sz="1150">
                <a:solidFill>
                  <a:srgbClr val="334155"/>
                </a:solidFill>
              </a:defRPr>
            </a:pPr>
            <a:r>
              <a:t>• Computer OS Fundamentals (comp_fund): Linux terminal navigation, I/O streams, and pipelines.</a:t>
            </a:r>
          </a:p>
          <a:p>
            <a:pPr>
              <a:spcAft>
                <a:spcPts val="400"/>
              </a:spcAft>
              <a:defRPr sz="1150">
                <a:solidFill>
                  <a:srgbClr val="334155"/>
                </a:solidFill>
              </a:defRPr>
            </a:pPr>
            <a:r>
              <a:t>• Git &amp; Version Control (git_vcs): Code collaboration, branching, pull requests, and GitHub portfolios.</a:t>
            </a:r>
          </a:p>
          <a:p>
            <a:pPr>
              <a:spcAft>
                <a:spcPts val="400"/>
              </a:spcAft>
              <a:defRPr sz="1150">
                <a:solidFill>
                  <a:srgbClr val="334155"/>
                </a:solidFill>
              </a:defRPr>
            </a:pPr>
            <a:r>
              <a:t>• Tech Soft Skills &amp; Interviews (soft_skills): Socratic STAR interview technique, executive bottom-line communication.</a:t>
            </a:r>
          </a:p>
          <a:p>
            <a:pPr>
              <a:spcAft>
                <a:spcPts val="400"/>
              </a:spcAft>
              <a:defRPr sz="1150">
                <a:solidFill>
                  <a:srgbClr val="334155"/>
                </a:solidFill>
              </a:defRPr>
            </a:pPr>
            <a:r>
              <a:t>• Strategic Role: Guarantees that every incoming freshman builds immediate workplace confidence in their first semester.</a:t>
            </a:r>
          </a:p>
        </p:txBody>
      </p:sp>
      <p:sp>
        <p:nvSpPr>
          <p:cNvPr id="10" name="Rounded Rectangle 9"/>
          <p:cNvSpPr/>
          <p:nvPr/>
        </p:nvSpPr>
        <p:spPr>
          <a:xfrm>
            <a:off x="6217920" y="1645920"/>
            <a:ext cx="5212080" cy="4480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828800"/>
            <a:ext cx="4754880" cy="4114800"/>
          </a:xfrm>
          <a:prstGeom prst="rect">
            <a:avLst/>
          </a:prstGeom>
          <a:noFill/>
        </p:spPr>
        <p:txBody>
          <a:bodyPr wrap="square">
            <a:spAutoFit/>
          </a:bodyPr>
          <a:lstStyle/>
          <a:p>
            <a:pPr>
              <a:spcAft>
                <a:spcPts val="200"/>
              </a:spcAft>
              <a:defRPr sz="1000" b="1">
                <a:solidFill>
                  <a:srgbClr val="7E22CE"/>
                </a:solidFill>
              </a:defRPr>
            </a:pPr>
            <a:r>
              <a:t>CONNECTING SOFTWARE TO CHIPS</a:t>
            </a:r>
          </a:p>
          <a:p>
            <a:pPr>
              <a:spcAft>
                <a:spcPts val="200"/>
              </a:spcAft>
              <a:defRPr sz="1500" b="1">
                <a:solidFill>
                  <a:srgbClr val="0F172A"/>
                </a:solidFill>
              </a:defRPr>
            </a:pPr>
            <a:r>
              <a:t>IoT &amp; Silicon Hardware Systems</a:t>
            </a:r>
          </a:p>
          <a:p>
            <a:pPr>
              <a:spcAft>
                <a:spcPts val="600"/>
              </a:spcAft>
              <a:defRPr sz="1100">
                <a:solidFill>
                  <a:srgbClr val="7E22CE"/>
                </a:solidFill>
              </a:defRPr>
            </a:pPr>
            <a:r>
              <a:t>High Growth Hardware Career Tracks</a:t>
            </a:r>
          </a:p>
          <a:p>
            <a:pPr>
              <a:spcAft>
                <a:spcPts val="400"/>
              </a:spcAft>
              <a:defRPr sz="1150">
                <a:solidFill>
                  <a:srgbClr val="334155"/>
                </a:solidFill>
              </a:defRPr>
            </a:pPr>
            <a:r>
              <a:t>• Embedded Firmware (iot_emb): C++ bare-metal programming, memory maps, volatile hardware pointers.</a:t>
            </a:r>
          </a:p>
          <a:p>
            <a:pPr>
              <a:spcAft>
                <a:spcPts val="400"/>
              </a:spcAft>
              <a:defRPr sz="1150">
                <a:solidFill>
                  <a:srgbClr val="334155"/>
                </a:solidFill>
              </a:defRPr>
            </a:pPr>
            <a:r>
              <a:t>• TinyML Edge AI (iot_edge): Running quantized INT8 neural networks on tiny microcontrollers.</a:t>
            </a:r>
          </a:p>
          <a:p>
            <a:pPr>
              <a:spcAft>
                <a:spcPts val="400"/>
              </a:spcAft>
              <a:defRPr sz="1150">
                <a:solidFill>
                  <a:srgbClr val="334155"/>
                </a:solidFill>
              </a:defRPr>
            </a:pPr>
            <a:r>
              <a:t>• Hardware Root of Trust (iot_sec): OTP eFuses, secure boot chains, ARM TrustZone memory partitioning.</a:t>
            </a:r>
          </a:p>
          <a:p>
            <a:pPr>
              <a:spcAft>
                <a:spcPts val="400"/>
              </a:spcAft>
              <a:defRPr sz="1150">
                <a:solidFill>
                  <a:srgbClr val="334155"/>
                </a:solidFill>
              </a:defRPr>
            </a:pPr>
            <a:r>
              <a:t>• IoT Radio Protocols (iot_net): Friis link budgets, IEEE 802.15.4 MAC frames, 6LoWPAN, CoAP/MQTT-SN.</a:t>
            </a:r>
          </a:p>
          <a:p>
            <a:pPr>
              <a:spcAft>
                <a:spcPts val="400"/>
              </a:spcAft>
              <a:defRPr sz="1150">
                <a:solidFill>
                  <a:srgbClr val="334155"/>
                </a:solidFill>
              </a:defRPr>
            </a:pPr>
            <a:r>
              <a:t>• Market Opportunity: Perfectly aligned with India's $50B national semiconductor and electronics manufacturing mission.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320040"/>
            <a:ext cx="2926080" cy="292608"/>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2563EB"/>
                </a:solidFill>
              </a:defRPr>
            </a:pPr>
            <a:r>
              <a:t>STRATEGIC EXECUTION &amp; COMMERCIALIZATION</a:t>
            </a:r>
          </a:p>
        </p:txBody>
      </p:sp>
      <p:sp>
        <p:nvSpPr>
          <p:cNvPr id="5" name="TextBox 4"/>
          <p:cNvSpPr txBox="1"/>
          <p:nvPr/>
        </p:nvSpPr>
        <p:spPr>
          <a:xfrm>
            <a:off x="10241280" y="320040"/>
            <a:ext cx="1216152" cy="320040"/>
          </a:xfrm>
          <a:prstGeom prst="rect">
            <a:avLst/>
          </a:prstGeom>
          <a:noFill/>
        </p:spPr>
        <p:txBody>
          <a:bodyPr wrap="none">
            <a:spAutoFit/>
          </a:bodyPr>
          <a:lstStyle/>
          <a:p>
            <a:pPr algn="r">
              <a:defRPr sz="1100" b="1">
                <a:solidFill>
                  <a:srgbClr val="64748B"/>
                </a:solidFill>
              </a:defRPr>
            </a:pPr>
            <a:r>
              <a:t>SLIDE 10 / 10</a:t>
            </a:r>
          </a:p>
        </p:txBody>
      </p:sp>
      <p:sp>
        <p:nvSpPr>
          <p:cNvPr id="6" name="TextBox 5"/>
          <p:cNvSpPr txBox="1"/>
          <p:nvPr/>
        </p:nvSpPr>
        <p:spPr>
          <a:xfrm>
            <a:off x="731520" y="658368"/>
            <a:ext cx="10698480" cy="502920"/>
          </a:xfrm>
          <a:prstGeom prst="rect">
            <a:avLst/>
          </a:prstGeom>
          <a:noFill/>
        </p:spPr>
        <p:txBody>
          <a:bodyPr wrap="none">
            <a:spAutoFit/>
          </a:bodyPr>
          <a:lstStyle/>
          <a:p>
            <a:pPr>
              <a:defRPr sz="2200" b="1">
                <a:solidFill>
                  <a:srgbClr val="0F172A"/>
                </a:solidFill>
              </a:defRPr>
            </a:pPr>
            <a:r>
              <a:t>The Horizon: Finishing the Remaining 34% &amp; Campus Scale</a:t>
            </a:r>
          </a:p>
        </p:txBody>
      </p:sp>
      <p:sp>
        <p:nvSpPr>
          <p:cNvPr id="7" name="TextBox 6"/>
          <p:cNvSpPr txBox="1"/>
          <p:nvPr/>
        </p:nvSpPr>
        <p:spPr>
          <a:xfrm>
            <a:off x="731520" y="1170432"/>
            <a:ext cx="10698480" cy="365760"/>
          </a:xfrm>
          <a:prstGeom prst="rect">
            <a:avLst/>
          </a:prstGeom>
          <a:noFill/>
        </p:spPr>
        <p:txBody>
          <a:bodyPr wrap="none">
            <a:spAutoFit/>
          </a:bodyPr>
          <a:lstStyle/>
          <a:p>
            <a:pPr>
              <a:defRPr sz="1200">
                <a:solidFill>
                  <a:srgbClr val="64748B"/>
                </a:solidFill>
              </a:defRPr>
            </a:pPr>
            <a:r>
              <a:t>The Scaled 3-Branch Parallel Engine Delivering Full Institutional Operating System Parity</a:t>
            </a:r>
          </a:p>
        </p:txBody>
      </p:sp>
      <p:sp>
        <p:nvSpPr>
          <p:cNvPr id="8" name="Rounded Rectangle 7"/>
          <p:cNvSpPr/>
          <p:nvPr/>
        </p:nvSpPr>
        <p:spPr>
          <a:xfrm>
            <a:off x="731520" y="1645920"/>
            <a:ext cx="3291840" cy="32004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828800"/>
            <a:ext cx="2834640" cy="2834640"/>
          </a:xfrm>
          <a:prstGeom prst="rect">
            <a:avLst/>
          </a:prstGeom>
          <a:noFill/>
        </p:spPr>
        <p:txBody>
          <a:bodyPr wrap="square">
            <a:spAutoFit/>
          </a:bodyPr>
          <a:lstStyle/>
          <a:p>
            <a:pPr>
              <a:spcAft>
                <a:spcPts val="200"/>
              </a:spcAft>
              <a:defRPr sz="1000" b="1">
                <a:solidFill>
                  <a:srgbClr val="2563EB"/>
                </a:solidFill>
              </a:defRPr>
            </a:pPr>
            <a:r>
              <a:t>CURRENT STREAM</a:t>
            </a:r>
          </a:p>
          <a:p>
            <a:pPr>
              <a:spcAft>
                <a:spcPts val="200"/>
              </a:spcAft>
              <a:defRPr sz="1500" b="1">
                <a:solidFill>
                  <a:srgbClr val="0F172A"/>
                </a:solidFill>
              </a:defRPr>
            </a:pPr>
            <a:r>
              <a:t>Branch A: Tech Launchpad</a:t>
            </a:r>
          </a:p>
          <a:p>
            <a:pPr>
              <a:spcAft>
                <a:spcPts val="600"/>
              </a:spcAft>
              <a:defRPr sz="1100">
                <a:solidFill>
                  <a:srgbClr val="2563EB"/>
                </a:solidFill>
              </a:defRPr>
            </a:pPr>
            <a:r>
              <a:t>Completing Launchpad Tracks</a:t>
            </a:r>
          </a:p>
          <a:p>
            <a:pPr>
              <a:spcAft>
                <a:spcPts val="400"/>
              </a:spcAft>
              <a:defRPr sz="1150">
                <a:solidFill>
                  <a:srgbClr val="334155"/>
                </a:solidFill>
              </a:defRPr>
            </a:pPr>
            <a:r>
              <a:t>• Completing Launchpad tracks to Day 30 (95 Days total).</a:t>
            </a:r>
          </a:p>
          <a:p>
            <a:pPr>
              <a:spcAft>
                <a:spcPts val="400"/>
              </a:spcAft>
              <a:defRPr sz="1150">
                <a:solidFill>
                  <a:srgbClr val="334155"/>
                </a:solidFill>
              </a:defRPr>
            </a:pPr>
            <a:r>
              <a:t>• Excel Data Modeling: Days 11-30.</a:t>
            </a:r>
          </a:p>
          <a:p>
            <a:pPr>
              <a:spcAft>
                <a:spcPts val="400"/>
              </a:spcAft>
              <a:defRPr sz="1150">
                <a:solidFill>
                  <a:srgbClr val="334155"/>
                </a:solidFill>
              </a:defRPr>
            </a:pPr>
            <a:r>
              <a:t>• Git, Linux OS &amp; Soft Skills: Days 6-30.</a:t>
            </a:r>
          </a:p>
          <a:p>
            <a:pPr>
              <a:spcAft>
                <a:spcPts val="400"/>
              </a:spcAft>
              <a:defRPr sz="1150">
                <a:solidFill>
                  <a:srgbClr val="334155"/>
                </a:solidFill>
              </a:defRPr>
            </a:pPr>
            <a:r>
              <a:t>• Ensures universal Day-1 campus onboarding is 100% complete.</a:t>
            </a:r>
          </a:p>
        </p:txBody>
      </p:sp>
      <p:sp>
        <p:nvSpPr>
          <p:cNvPr id="10" name="Rounded Rectangle 9"/>
          <p:cNvSpPr/>
          <p:nvPr/>
        </p:nvSpPr>
        <p:spPr>
          <a:xfrm>
            <a:off x="4389120" y="1645920"/>
            <a:ext cx="3383280" cy="3200400"/>
          </a:xfrm>
          <a:prstGeom prst="roundRect">
            <a:avLst/>
          </a:prstGeom>
          <a:solidFill>
            <a:srgbClr val="FFFFFF"/>
          </a:solidFill>
          <a:ln w="1524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1828800"/>
            <a:ext cx="2926080" cy="2834640"/>
          </a:xfrm>
          <a:prstGeom prst="rect">
            <a:avLst/>
          </a:prstGeom>
          <a:noFill/>
        </p:spPr>
        <p:txBody>
          <a:bodyPr wrap="square">
            <a:spAutoFit/>
          </a:bodyPr>
          <a:lstStyle/>
          <a:p>
            <a:pPr>
              <a:spcAft>
                <a:spcPts val="200"/>
              </a:spcAft>
              <a:defRPr sz="1000" b="1">
                <a:solidFill>
                  <a:srgbClr val="10B981"/>
                </a:solidFill>
              </a:defRPr>
            </a:pPr>
            <a:r>
              <a:t>NEW SUB-STREAM</a:t>
            </a:r>
          </a:p>
          <a:p>
            <a:pPr>
              <a:spcAft>
                <a:spcPts val="200"/>
              </a:spcAft>
              <a:defRPr sz="1500" b="1">
                <a:solidFill>
                  <a:srgbClr val="0F172A"/>
                </a:solidFill>
              </a:defRPr>
            </a:pPr>
            <a:r>
              <a:t>Branch B: Commerce &amp; IoT</a:t>
            </a:r>
          </a:p>
          <a:p>
            <a:pPr>
              <a:spcAft>
                <a:spcPts val="600"/>
              </a:spcAft>
              <a:defRPr sz="1100">
                <a:solidFill>
                  <a:srgbClr val="10B981"/>
                </a:solidFill>
              </a:defRPr>
            </a:pPr>
            <a:r>
              <a:t>Expanding Mass-Market Tracks</a:t>
            </a:r>
          </a:p>
          <a:p>
            <a:pPr>
              <a:spcAft>
                <a:spcPts val="400"/>
              </a:spcAft>
              <a:defRPr sz="1150">
                <a:solidFill>
                  <a:srgbClr val="334155"/>
                </a:solidFill>
              </a:defRPr>
            </a:pPr>
            <a:r>
              <a:t>• Completing 14 Commerce &amp; 4 IoT tracks from Day 6 to 30 (450 Days).</a:t>
            </a:r>
          </a:p>
          <a:p>
            <a:pPr>
              <a:spcAft>
                <a:spcPts val="400"/>
              </a:spcAft>
              <a:defRPr sz="1150">
                <a:solidFill>
                  <a:srgbClr val="334155"/>
                </a:solidFill>
              </a:defRPr>
            </a:pPr>
            <a:r>
              <a:t>• Zero-Collision Guarantee: Runs in an isolated workspace with zero git conflicts.</a:t>
            </a:r>
          </a:p>
          <a:p>
            <a:pPr>
              <a:spcAft>
                <a:spcPts val="400"/>
              </a:spcAft>
              <a:defRPr sz="1150">
                <a:solidFill>
                  <a:srgbClr val="334155"/>
                </a:solidFill>
              </a:defRPr>
            </a:pPr>
            <a:r>
              <a:t>• Unlocks the massive 60% non-engineering campus market.</a:t>
            </a:r>
          </a:p>
        </p:txBody>
      </p:sp>
      <p:sp>
        <p:nvSpPr>
          <p:cNvPr id="12" name="Rounded Rectangle 11"/>
          <p:cNvSpPr/>
          <p:nvPr/>
        </p:nvSpPr>
        <p:spPr>
          <a:xfrm>
            <a:off x="8138160" y="1645920"/>
            <a:ext cx="3291840" cy="32004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66760" y="1828800"/>
            <a:ext cx="2834640" cy="2834640"/>
          </a:xfrm>
          <a:prstGeom prst="rect">
            <a:avLst/>
          </a:prstGeom>
          <a:noFill/>
        </p:spPr>
        <p:txBody>
          <a:bodyPr wrap="square">
            <a:spAutoFit/>
          </a:bodyPr>
          <a:lstStyle/>
          <a:p>
            <a:pPr>
              <a:spcAft>
                <a:spcPts val="200"/>
              </a:spcAft>
              <a:defRPr sz="1000" b="1">
                <a:solidFill>
                  <a:srgbClr val="D97706"/>
                </a:solidFill>
              </a:defRPr>
            </a:pPr>
            <a:r>
              <a:t>ENTERPRISE B2B</a:t>
            </a:r>
          </a:p>
          <a:p>
            <a:pPr>
              <a:spcAft>
                <a:spcPts val="200"/>
              </a:spcAft>
              <a:defRPr sz="1500" b="1">
                <a:solidFill>
                  <a:srgbClr val="0F172A"/>
                </a:solidFill>
              </a:defRPr>
            </a:pPr>
            <a:r>
              <a:t>Branch C: Campus Platform</a:t>
            </a:r>
          </a:p>
          <a:p>
            <a:pPr>
              <a:spcAft>
                <a:spcPts val="600"/>
              </a:spcAft>
              <a:defRPr sz="1100">
                <a:solidFill>
                  <a:srgbClr val="D97706"/>
                </a:solidFill>
              </a:defRPr>
            </a:pPr>
            <a:r>
              <a:t>Institutional SaaS Portal</a:t>
            </a:r>
          </a:p>
          <a:p>
            <a:pPr>
              <a:spcAft>
                <a:spcPts val="400"/>
              </a:spcAft>
              <a:defRPr sz="1150">
                <a:solidFill>
                  <a:srgbClr val="334155"/>
                </a:solidFill>
              </a:defRPr>
            </a:pPr>
            <a:r>
              <a:t>• Campus Admin Portal: Student admissions, fee management &amp; audit reporting.</a:t>
            </a:r>
          </a:p>
          <a:p>
            <a:pPr>
              <a:spcAft>
                <a:spcPts val="400"/>
              </a:spcAft>
              <a:defRPr sz="1150">
                <a:solidFill>
                  <a:srgbClr val="334155"/>
                </a:solidFill>
              </a:defRPr>
            </a:pPr>
            <a:r>
              <a:t>• Faculty Portal: Automated assignment grading &amp; live student radar.</a:t>
            </a:r>
          </a:p>
          <a:p>
            <a:pPr>
              <a:spcAft>
                <a:spcPts val="400"/>
              </a:spcAft>
              <a:defRPr sz="1150">
                <a:solidFill>
                  <a:srgbClr val="334155"/>
                </a:solidFill>
              </a:defRPr>
            </a:pPr>
            <a:r>
              <a:t>• Commercial Model: Annual university enterprise SaaS license ($50k-$200k/campus).</a:t>
            </a:r>
          </a:p>
        </p:txBody>
      </p:sp>
      <p:sp>
        <p:nvSpPr>
          <p:cNvPr id="14" name="Rounded Rectangle 13"/>
          <p:cNvSpPr/>
          <p:nvPr/>
        </p:nvSpPr>
        <p:spPr>
          <a:xfrm>
            <a:off x="731520" y="5029200"/>
            <a:ext cx="10725912" cy="1371600"/>
          </a:xfrm>
          <a:prstGeom prst="roundRect">
            <a:avLst/>
          </a:prstGeom>
          <a:solidFill>
            <a:srgbClr val="EFF6FF"/>
          </a:solidFill>
          <a:ln w="1524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5212080"/>
            <a:ext cx="10268712" cy="1005840"/>
          </a:xfrm>
          <a:prstGeom prst="rect">
            <a:avLst/>
          </a:prstGeom>
          <a:noFill/>
        </p:spPr>
        <p:txBody>
          <a:bodyPr wrap="square">
            <a:spAutoFit/>
          </a:bodyPr>
          <a:lstStyle/>
          <a:p>
            <a:pPr>
              <a:spcAft>
                <a:spcPts val="200"/>
              </a:spcAft>
              <a:defRPr sz="1000" b="1">
                <a:solidFill>
                  <a:srgbClr val="2563EB"/>
                </a:solidFill>
              </a:defRPr>
            </a:pPr>
            <a:r>
              <a:t>BUSINESS MODEL &amp; MONETIZATION</a:t>
            </a:r>
          </a:p>
          <a:p>
            <a:pPr>
              <a:spcAft>
                <a:spcPts val="200"/>
              </a:spcAft>
              <a:defRPr sz="1500" b="1">
                <a:solidFill>
                  <a:srgbClr val="0F172A"/>
                </a:solidFill>
              </a:defRPr>
            </a:pPr>
            <a:r>
              <a:t>The Commercial Scaling Model: High-Margin B2B University SaaS</a:t>
            </a:r>
          </a:p>
          <a:p>
            <a:pPr>
              <a:spcAft>
                <a:spcPts val="600"/>
              </a:spcAft>
              <a:defRPr sz="1100">
                <a:solidFill>
                  <a:srgbClr val="2563EB"/>
                </a:solidFill>
              </a:defRPr>
            </a:pPr>
            <a:r>
              <a:t>Defensive Enterprise Moat</a:t>
            </a:r>
          </a:p>
          <a:p>
            <a:pPr>
              <a:spcAft>
                <a:spcPts val="400"/>
              </a:spcAft>
              <a:defRPr sz="1150">
                <a:solidFill>
                  <a:srgbClr val="334155"/>
                </a:solidFill>
              </a:defRPr>
            </a:pPr>
            <a:r>
              <a:t>• Annual Institutional Contracts: $50,000 to $200,000 per campus based on student body size.</a:t>
            </a:r>
          </a:p>
          <a:p>
            <a:pPr>
              <a:spcAft>
                <a:spcPts val="400"/>
              </a:spcAft>
              <a:defRPr sz="1150">
                <a:solidFill>
                  <a:srgbClr val="334155"/>
                </a:solidFill>
              </a:defRPr>
            </a:pPr>
            <a:r>
              <a:t>• High Gross Margins: Platform operates in-browser with automated evaluation and zero marginal TA costs.</a:t>
            </a:r>
          </a:p>
          <a:p>
            <a:pPr>
              <a:spcAft>
                <a:spcPts val="400"/>
              </a:spcAft>
              <a:defRPr sz="1150">
                <a:solidFill>
                  <a:srgbClr val="334155"/>
                </a:solidFill>
              </a:defRPr>
            </a:pPr>
            <a:r>
              <a:t>• Defensive Moat: Multi-year university integration makes PinIT contractually entrenched on campus.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