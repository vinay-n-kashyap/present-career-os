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shareholders. If you're new to PinIT Career OS, here is the big picture: Higher education is facing a massive crisis. Colleges teach outdated theory, and online video courses fail because 90% of students drop out. PinIT solves this. We are an all-in-one Career Operating System that replaces passive videos with hands-on practice, AI pair-programming, and real company projects. Over 1,045 training days are already built and live on our platform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our shareholders, here is our course footprint: We offer 37 complete, semester-grade master courses. Unlike single-subject bootcamps that only teach coding, PinIT covers the entire college: Computer Science, Cloud, AI, Hardware, and 14 complete tracks in Commerce, Finance, and Business Management. We can license our platform to an entire university campus, serving every department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exact progress for investors: To reach our 30-Day Foundation standard across all 53 tracks, we need 1,590 course days. We have already built and verified 1,045 days—that is 65.7% of the total curriculum complete and live! The remaining 34.3% is 545 days, mostly in Commerce and IoT. We are building this through 3 parallel sub-branches so we can finish the remaining work rapidly without collisions.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our teaching methodology our biggest competitive moat? Because competitors just sell pre-recorded videos. In PinIT, students spend 30 minutes a day actively doing the work. They listen to a senior mentor, watch animated state changes, fix real code bugs, and solve simulated production outages. And our Socratic AI never simply hands them the answer—it guides them to figure it out themselves. That's why our completion rates crush the industry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investor asks: What is your proprietary technology? It's our 17 Interactive Visual Engines. Most students quit accounting because debits and credits feel abstract. Our LedgerSheet engine makes it click instantly. Most students quit embedded systems because memory registers are invisible. Our RegisterBits engine lets them flip bits and see the memory change live. We've built 990 of these visual simulations, creating a massive barrier to entry for any competitor.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Software and Web Systems vertical is 100% complete today. Why is this critical for shareholders? Because software engineering accounts for over 70% of high-paying campus placements. Our students don't just learn syntax—they build distributed queues, configure database indexes, and deploy containers. When tech recruiters see our students' verified code on GitHub, they hire them immediately at Rs 12 to 25 Lakh starting packages.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crown jewel: Quantitative and Low-Latency Trading Systems. 30 full days, completely built and verified. High-frequency trading firms pay the highest starting salaries in the world—often Rs 40 to 80 Lakhs—yet universities teach zero HFT. PinIT has built the world's first interactive HFT curriculum. This elite track positions PinIT as a premium, institutional product that attracts top engineering colleges.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Commerce our biggest revenue expansion opportunity? Because over 60% of students on college campuses are NOT in computer science—they are in B.Com, BBA, and MBA programs. Almost all coding bootcamps completely ignore this massive audience! We have built 14 complete business tracks covering Finance, Banking, Tax, and Marketing with interactive simulations. This allows us to sell PinIT to the entire university, not just the engineering department.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campus needs a starting point for incoming freshmen. Our Launchpad courses—Excel, Git, Computer Fundamentals, and Interview Skills—provide an immediate confidence booster for first-year students. Meanwhile, our four IoT tracks connect students to the physical world of electronics and microcontrollers, perfectly aligned with the global surge in semiconductor manufacturing.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for our shareholders: PinIT Career OS is already 65.7% built and fully verified with over 1,045 active training days. By deploying our 3-branch parallel execution architecture, we are rapidly finishing the remaining 34% without collisions or delays. We are building the definitive operating system for higher education—delivering high-margin B2B SaaS software to universities and transforming students into hireable professionals.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01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EXECUTIVE SUMMARY &amp; PRODUCT INTRODUCTION</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PinIT Career OS: The All-In-One Campus Career Operating System</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Bridging Higher Education to High-Paying Employment Through Active Learning &amp; Verified Proof-of-Work</a:t>
            </a:r>
          </a:p>
        </p:txBody>
      </p:sp>
      <p:sp>
        <p:nvSpPr>
          <p:cNvPr id="8" name="Rounded Rectangle 7"/>
          <p:cNvSpPr/>
          <p:nvPr/>
        </p:nvSpPr>
        <p:spPr>
          <a:xfrm>
            <a:off x="731520" y="1645920"/>
            <a:ext cx="3291840" cy="46634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2834640" cy="4206240"/>
          </a:xfrm>
          <a:prstGeom prst="rect">
            <a:avLst/>
          </a:prstGeom>
          <a:noFill/>
        </p:spPr>
        <p:txBody>
          <a:bodyPr wrap="square">
            <a:spAutoFit/>
          </a:bodyPr>
          <a:lstStyle/>
          <a:p>
            <a:pPr>
              <a:spcAft>
                <a:spcPts val="200"/>
              </a:spcAft>
              <a:defRPr sz="1000" b="1">
                <a:solidFill>
                  <a:srgbClr val="F87171"/>
                </a:solidFill>
              </a:defRPr>
            </a:pPr>
            <a:r>
              <a:t>THE PROBLEM</a:t>
            </a:r>
          </a:p>
          <a:p>
            <a:pPr>
              <a:spcAft>
                <a:spcPts val="400"/>
              </a:spcAft>
              <a:defRPr sz="1500" b="1">
                <a:solidFill>
                  <a:srgbClr val="FFFFFF"/>
                </a:solidFill>
              </a:defRPr>
            </a:pPr>
            <a:r>
              <a:t>The Broken College Status Quo</a:t>
            </a:r>
          </a:p>
          <a:p>
            <a:pPr>
              <a:spcAft>
                <a:spcPts val="800"/>
              </a:spcAft>
              <a:defRPr sz="1100">
                <a:solidFill>
                  <a:srgbClr val="38BDF8"/>
                </a:solidFill>
              </a:defRPr>
            </a:pPr>
            <a:r>
              <a:t>Why Colleges &amp; Students Are Struggling</a:t>
            </a:r>
          </a:p>
          <a:p>
            <a:pPr>
              <a:spcAft>
                <a:spcPts val="500"/>
              </a:spcAft>
              <a:defRPr sz="1150">
                <a:solidFill>
                  <a:srgbClr val="CBD5E1"/>
                </a:solidFill>
              </a:defRPr>
            </a:pPr>
            <a:r>
              <a:t>• Outdated Curriculum: Universities teach theory from textbooks written 10 years ago.</a:t>
            </a:r>
          </a:p>
          <a:p>
            <a:pPr>
              <a:spcAft>
                <a:spcPts val="500"/>
              </a:spcAft>
              <a:defRPr sz="1150">
                <a:solidFill>
                  <a:srgbClr val="CBD5E1"/>
                </a:solidFill>
              </a:defRPr>
            </a:pPr>
            <a:r>
              <a:t>• The Video Lecture Failure: Coursera and Udemy have 85%-90% dropout rates because watching videos is passive.</a:t>
            </a:r>
          </a:p>
          <a:p>
            <a:pPr>
              <a:spcAft>
                <a:spcPts val="500"/>
              </a:spcAft>
              <a:defRPr sz="1150">
                <a:solidFill>
                  <a:srgbClr val="CBD5E1"/>
                </a:solidFill>
              </a:defRPr>
            </a:pPr>
            <a:r>
              <a:t>• Unemployable Graduates: Over 80% of Indian college graduates fail basic technical and financial hiring screens.</a:t>
            </a:r>
          </a:p>
          <a:p>
            <a:pPr>
              <a:spcAft>
                <a:spcPts val="500"/>
              </a:spcAft>
              <a:defRPr sz="1150">
                <a:solidFill>
                  <a:srgbClr val="CBD5E1"/>
                </a:solidFill>
              </a:defRPr>
            </a:pPr>
            <a:r>
              <a:t>• Software Chaos: Colleges waste $60k-$130k/yr on separate LMS, testing tools, and placement spreadsheets.</a:t>
            </a:r>
          </a:p>
        </p:txBody>
      </p:sp>
      <p:sp>
        <p:nvSpPr>
          <p:cNvPr id="10" name="Rounded Rectangle 9"/>
          <p:cNvSpPr/>
          <p:nvPr/>
        </p:nvSpPr>
        <p:spPr>
          <a:xfrm>
            <a:off x="4297680" y="1645920"/>
            <a:ext cx="3566160" cy="46634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874520"/>
            <a:ext cx="3108960" cy="4206240"/>
          </a:xfrm>
          <a:prstGeom prst="rect">
            <a:avLst/>
          </a:prstGeom>
          <a:noFill/>
        </p:spPr>
        <p:txBody>
          <a:bodyPr wrap="square">
            <a:spAutoFit/>
          </a:bodyPr>
          <a:lstStyle/>
          <a:p>
            <a:pPr>
              <a:spcAft>
                <a:spcPts val="200"/>
              </a:spcAft>
              <a:defRPr sz="1000" b="1">
                <a:solidFill>
                  <a:srgbClr val="34D399"/>
                </a:solidFill>
              </a:defRPr>
            </a:pPr>
            <a:r>
              <a:t>WHAT PINIT DOES</a:t>
            </a:r>
          </a:p>
          <a:p>
            <a:pPr>
              <a:spcAft>
                <a:spcPts val="400"/>
              </a:spcAft>
              <a:defRPr sz="1500" b="1">
                <a:solidFill>
                  <a:srgbClr val="FFFFFF"/>
                </a:solidFill>
              </a:defRPr>
            </a:pPr>
            <a:r>
              <a:t>The PinIT Solution</a:t>
            </a:r>
          </a:p>
          <a:p>
            <a:pPr>
              <a:spcAft>
                <a:spcPts val="800"/>
              </a:spcAft>
              <a:defRPr sz="1100">
                <a:solidFill>
                  <a:srgbClr val="38BDF8"/>
                </a:solidFill>
              </a:defRPr>
            </a:pPr>
            <a:r>
              <a:t>Transforming Campuses into Talent Hubs</a:t>
            </a:r>
          </a:p>
          <a:p>
            <a:pPr>
              <a:spcAft>
                <a:spcPts val="500"/>
              </a:spcAft>
              <a:defRPr sz="1150">
                <a:solidFill>
                  <a:srgbClr val="CBD5E1"/>
                </a:solidFill>
              </a:defRPr>
            </a:pPr>
            <a:r>
              <a:t>• Complete University System: Combines coursework, hands-on practice, AI mentoring, and placement in 1 app.</a:t>
            </a:r>
          </a:p>
          <a:p>
            <a:pPr>
              <a:spcAft>
                <a:spcPts val="500"/>
              </a:spcAft>
              <a:defRPr sz="1150">
                <a:solidFill>
                  <a:srgbClr val="CBD5E1"/>
                </a:solidFill>
              </a:defRPr>
            </a:pPr>
            <a:r>
              <a:t>• Active Learning Engine: Students write real code and run financial models in their browser every 5 minutes.</a:t>
            </a:r>
          </a:p>
          <a:p>
            <a:pPr>
              <a:spcAft>
                <a:spcPts val="500"/>
              </a:spcAft>
              <a:defRPr sz="1150">
                <a:solidFill>
                  <a:srgbClr val="CBD5E1"/>
                </a:solidFill>
              </a:defRPr>
            </a:pPr>
            <a:r>
              <a:t>• 24/7 AI Voice Mentors: Personal senior mentors that speak to students and guide them through roadblocks.</a:t>
            </a:r>
          </a:p>
          <a:p>
            <a:pPr>
              <a:spcAft>
                <a:spcPts val="500"/>
              </a:spcAft>
              <a:defRPr sz="1150">
                <a:solidFill>
                  <a:srgbClr val="CBD5E1"/>
                </a:solidFill>
              </a:defRPr>
            </a:pPr>
            <a:r>
              <a:t>• Verifiable Portfolio: Students graduate with real projects on GitHub and verified skills recruiters trust.</a:t>
            </a:r>
          </a:p>
        </p:txBody>
      </p:sp>
      <p:sp>
        <p:nvSpPr>
          <p:cNvPr id="12" name="Rounded Rectangle 11"/>
          <p:cNvSpPr/>
          <p:nvPr/>
        </p:nvSpPr>
        <p:spPr>
          <a:xfrm>
            <a:off x="8138160" y="1645920"/>
            <a:ext cx="3291840" cy="46634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874520"/>
            <a:ext cx="2834640" cy="4206240"/>
          </a:xfrm>
          <a:prstGeom prst="rect">
            <a:avLst/>
          </a:prstGeom>
          <a:noFill/>
        </p:spPr>
        <p:txBody>
          <a:bodyPr wrap="square">
            <a:spAutoFit/>
          </a:bodyPr>
          <a:lstStyle/>
          <a:p>
            <a:pPr>
              <a:spcAft>
                <a:spcPts val="200"/>
              </a:spcAft>
              <a:defRPr sz="1000" b="1">
                <a:solidFill>
                  <a:srgbClr val="FBBF24"/>
                </a:solidFill>
              </a:defRPr>
            </a:pPr>
            <a:r>
              <a:t>BUILT TO DATE</a:t>
            </a:r>
          </a:p>
          <a:p>
            <a:pPr>
              <a:spcAft>
                <a:spcPts val="400"/>
              </a:spcAft>
              <a:defRPr sz="1500" b="1">
                <a:solidFill>
                  <a:srgbClr val="FFFFFF"/>
                </a:solidFill>
              </a:defRPr>
            </a:pPr>
            <a:r>
              <a:t>The Traction &amp; Scale</a:t>
            </a:r>
          </a:p>
          <a:p>
            <a:pPr>
              <a:spcAft>
                <a:spcPts val="800"/>
              </a:spcAft>
              <a:defRPr sz="1100">
                <a:solidFill>
                  <a:srgbClr val="38BDF8"/>
                </a:solidFill>
              </a:defRPr>
            </a:pPr>
            <a:r>
              <a:t>A Fully Functional, Battle-Tested Platform</a:t>
            </a:r>
          </a:p>
          <a:p>
            <a:pPr>
              <a:spcAft>
                <a:spcPts val="500"/>
              </a:spcAft>
              <a:defRPr sz="1150">
                <a:solidFill>
                  <a:srgbClr val="CBD5E1"/>
                </a:solidFill>
              </a:defRPr>
            </a:pPr>
            <a:r>
              <a:t>• 37 Comprehensive Masterclasses covering Tech, Business, Commerce, and Hardware.</a:t>
            </a:r>
          </a:p>
          <a:p>
            <a:pPr>
              <a:spcAft>
                <a:spcPts val="500"/>
              </a:spcAft>
              <a:defRPr sz="1150">
                <a:solidFill>
                  <a:srgbClr val="CBD5E1"/>
                </a:solidFill>
              </a:defRPr>
            </a:pPr>
            <a:r>
              <a:t>• 1,045 Daily Training Lessons completely built, verified, and live on platform today.</a:t>
            </a:r>
          </a:p>
          <a:p>
            <a:pPr>
              <a:spcAft>
                <a:spcPts val="500"/>
              </a:spcAft>
              <a:defRPr sz="1150">
                <a:solidFill>
                  <a:srgbClr val="CBD5E1"/>
                </a:solidFill>
              </a:defRPr>
            </a:pPr>
            <a:r>
              <a:t>• 990 Interactive Visual Simulations running in student browsers.</a:t>
            </a:r>
          </a:p>
          <a:p>
            <a:pPr>
              <a:spcAft>
                <a:spcPts val="500"/>
              </a:spcAft>
              <a:defRPr sz="1150">
                <a:solidFill>
                  <a:srgbClr val="CBD5E1"/>
                </a:solidFill>
              </a:defRPr>
            </a:pPr>
            <a:r>
              <a:t>• 300+ Automated Tests ensuring zero crashes and 100% production reliability.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02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CURRICULUM ARCHITECTURE &amp; SCOPE</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The 37-Course Master Catalog: What We Teach &amp; Offer</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A Multi-Disciplinary Curriculum Designed for Both Engineering and Business Campuses</a:t>
            </a:r>
          </a:p>
        </p:txBody>
      </p:sp>
      <p:sp>
        <p:nvSpPr>
          <p:cNvPr id="8" name="Rounded Rectangle 7"/>
          <p:cNvSpPr/>
          <p:nvPr/>
        </p:nvSpPr>
        <p:spPr>
          <a:xfrm>
            <a:off x="731520" y="1645920"/>
            <a:ext cx="5120640"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4663440" cy="1783080"/>
          </a:xfrm>
          <a:prstGeom prst="rect">
            <a:avLst/>
          </a:prstGeom>
          <a:noFill/>
        </p:spPr>
        <p:txBody>
          <a:bodyPr wrap="square">
            <a:spAutoFit/>
          </a:bodyPr>
          <a:lstStyle/>
          <a:p>
            <a:pPr>
              <a:spcAft>
                <a:spcPts val="200"/>
              </a:spcAft>
              <a:defRPr sz="1000" b="1">
                <a:solidFill>
                  <a:srgbClr val="38BDF8"/>
                </a:solidFill>
              </a:defRPr>
            </a:pPr>
            <a:r>
              <a:t>ENGINEERING (6 COURSES)</a:t>
            </a:r>
          </a:p>
          <a:p>
            <a:pPr>
              <a:spcAft>
                <a:spcPts val="400"/>
              </a:spcAft>
              <a:defRPr sz="1500" b="1">
                <a:solidFill>
                  <a:srgbClr val="FFFFFF"/>
                </a:solidFill>
              </a:defRPr>
            </a:pPr>
            <a:r>
              <a:t>Software &amp; Distributed Systems</a:t>
            </a:r>
          </a:p>
          <a:p>
            <a:pPr>
              <a:spcAft>
                <a:spcPts val="800"/>
              </a:spcAft>
              <a:defRPr sz="1100">
                <a:solidFill>
                  <a:srgbClr val="38BDF8"/>
                </a:solidFill>
              </a:defRPr>
            </a:pPr>
            <a:r>
              <a:t>Prepares students for top-tier software and cloud engineering jobs.</a:t>
            </a:r>
          </a:p>
          <a:p>
            <a:pPr>
              <a:spcAft>
                <a:spcPts val="500"/>
              </a:spcAft>
              <a:defRPr sz="1150">
                <a:solidFill>
                  <a:srgbClr val="CBD5E1"/>
                </a:solidFill>
              </a:defRPr>
            </a:pPr>
            <a:r>
              <a:t>• Fullstack Web (Next.js &amp; React), Python Backend Architecture, Modern JavaScript.</a:t>
            </a:r>
          </a:p>
          <a:p>
            <a:pPr>
              <a:spcAft>
                <a:spcPts val="500"/>
              </a:spcAft>
              <a:defRPr sz="1150">
                <a:solidFill>
                  <a:srgbClr val="CBD5E1"/>
                </a:solidFill>
              </a:defRPr>
            </a:pPr>
            <a:r>
              <a:t>• Database Engineering (SQL &amp; B+ Trees), Cloud Infrastructure &amp; DevOps, Distributed Systems.</a:t>
            </a:r>
          </a:p>
        </p:txBody>
      </p:sp>
      <p:sp>
        <p:nvSpPr>
          <p:cNvPr id="10" name="Rounded Rectangle 9"/>
          <p:cNvSpPr/>
          <p:nvPr/>
        </p:nvSpPr>
        <p:spPr>
          <a:xfrm>
            <a:off x="6217920" y="1645920"/>
            <a:ext cx="5120640"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20"/>
            <a:ext cx="4663440" cy="1783080"/>
          </a:xfrm>
          <a:prstGeom prst="rect">
            <a:avLst/>
          </a:prstGeom>
          <a:noFill/>
        </p:spPr>
        <p:txBody>
          <a:bodyPr wrap="square">
            <a:spAutoFit/>
          </a:bodyPr>
          <a:lstStyle/>
          <a:p>
            <a:pPr>
              <a:spcAft>
                <a:spcPts val="200"/>
              </a:spcAft>
              <a:defRPr sz="1000" b="1">
                <a:solidFill>
                  <a:srgbClr val="A855F7"/>
                </a:solidFill>
              </a:defRPr>
            </a:pPr>
            <a:r>
              <a:t>AI &amp; SYSTEMS (7 COURSES)</a:t>
            </a:r>
          </a:p>
          <a:p>
            <a:pPr>
              <a:spcAft>
                <a:spcPts val="400"/>
              </a:spcAft>
              <a:defRPr sz="1500" b="1">
                <a:solidFill>
                  <a:srgbClr val="FFFFFF"/>
                </a:solidFill>
              </a:defRPr>
            </a:pPr>
            <a:r>
              <a:t>Cutting-Edge Deep Tech &amp; AI</a:t>
            </a:r>
          </a:p>
          <a:p>
            <a:pPr>
              <a:spcAft>
                <a:spcPts val="800"/>
              </a:spcAft>
              <a:defRPr sz="1100">
                <a:solidFill>
                  <a:srgbClr val="38BDF8"/>
                </a:solidFill>
              </a:defRPr>
            </a:pPr>
            <a:r>
              <a:t>High-margin, specialized skills that generative AI cannot automate.</a:t>
            </a:r>
          </a:p>
          <a:p>
            <a:pPr>
              <a:spcAft>
                <a:spcPts val="500"/>
              </a:spcAft>
              <a:defRPr sz="1150">
                <a:solidFill>
                  <a:srgbClr val="CBD5E1"/>
                </a:solidFill>
              </a:defRPr>
            </a:pPr>
            <a:r>
              <a:t>• Data Structures &amp; Algorithms, Java 21 LTS &amp; JVM Internals, 3D WebGL Graphics.</a:t>
            </a:r>
          </a:p>
          <a:p>
            <a:pPr>
              <a:spcAft>
                <a:spcPts val="500"/>
              </a:spcAft>
              <a:defRPr sz="1150">
                <a:solidFill>
                  <a:srgbClr val="CBD5E1"/>
                </a:solidFill>
              </a:defRPr>
            </a:pPr>
            <a:r>
              <a:t>• Applied AI &amp; Deep Learning, AI Prompt Engineering, EVM Blockchain, Cybersecurity.</a:t>
            </a:r>
          </a:p>
        </p:txBody>
      </p:sp>
      <p:sp>
        <p:nvSpPr>
          <p:cNvPr id="12" name="Rounded Rectangle 11"/>
          <p:cNvSpPr/>
          <p:nvPr/>
        </p:nvSpPr>
        <p:spPr>
          <a:xfrm>
            <a:off x="731520" y="4069080"/>
            <a:ext cx="5120640"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297680"/>
            <a:ext cx="4663440" cy="1783080"/>
          </a:xfrm>
          <a:prstGeom prst="rect">
            <a:avLst/>
          </a:prstGeom>
          <a:noFill/>
        </p:spPr>
        <p:txBody>
          <a:bodyPr wrap="square">
            <a:spAutoFit/>
          </a:bodyPr>
          <a:lstStyle/>
          <a:p>
            <a:pPr>
              <a:spcAft>
                <a:spcPts val="200"/>
              </a:spcAft>
              <a:defRPr sz="1000" b="1">
                <a:solidFill>
                  <a:srgbClr val="34D399"/>
                </a:solidFill>
              </a:defRPr>
            </a:pPr>
            <a:r>
              <a:t>BUSINESS SCHOOL (14 COURSES)</a:t>
            </a:r>
          </a:p>
          <a:p>
            <a:pPr>
              <a:spcAft>
                <a:spcPts val="400"/>
              </a:spcAft>
              <a:defRPr sz="1500" b="1">
                <a:solidFill>
                  <a:srgbClr val="FFFFFF"/>
                </a:solidFill>
              </a:defRPr>
            </a:pPr>
            <a:r>
              <a:t>Commerce, Finance &amp; Management</a:t>
            </a:r>
          </a:p>
          <a:p>
            <a:pPr>
              <a:spcAft>
                <a:spcPts val="800"/>
              </a:spcAft>
              <a:defRPr sz="1100">
                <a:solidFill>
                  <a:srgbClr val="38BDF8"/>
                </a:solidFill>
              </a:defRPr>
            </a:pPr>
            <a:r>
              <a:t>Universal coverage for B.Com, BBA, and MBA degree programs.</a:t>
            </a:r>
          </a:p>
          <a:p>
            <a:pPr>
              <a:spcAft>
                <a:spcPts val="500"/>
              </a:spcAft>
              <a:defRPr sz="1150">
                <a:solidFill>
                  <a:srgbClr val="CBD5E1"/>
                </a:solidFill>
              </a:defRPr>
            </a:pPr>
            <a:r>
              <a:t>• Corporate Finance, Banking Operations, Forensic Accounting, Corporate Tax, Business Law.</a:t>
            </a:r>
          </a:p>
          <a:p>
            <a:pPr>
              <a:spcAft>
                <a:spcPts val="500"/>
              </a:spcAft>
              <a:defRPr sz="1150">
                <a:solidFill>
                  <a:srgbClr val="CBD5E1"/>
                </a:solidFill>
              </a:defRPr>
            </a:pPr>
            <a:r>
              <a:t>• Digital Marketing, E-Commerce, B2B Sales &amp; CRM, Operations &amp; Supply Chain, Entrepreneurship.</a:t>
            </a:r>
          </a:p>
        </p:txBody>
      </p:sp>
      <p:sp>
        <p:nvSpPr>
          <p:cNvPr id="14" name="Rounded Rectangle 13"/>
          <p:cNvSpPr/>
          <p:nvPr/>
        </p:nvSpPr>
        <p:spPr>
          <a:xfrm>
            <a:off x="6217920" y="4069080"/>
            <a:ext cx="5120640" cy="224028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297680"/>
            <a:ext cx="4663440" cy="1783080"/>
          </a:xfrm>
          <a:prstGeom prst="rect">
            <a:avLst/>
          </a:prstGeom>
          <a:noFill/>
        </p:spPr>
        <p:txBody>
          <a:bodyPr wrap="square">
            <a:spAutoFit/>
          </a:bodyPr>
          <a:lstStyle/>
          <a:p>
            <a:pPr>
              <a:spcAft>
                <a:spcPts val="200"/>
              </a:spcAft>
              <a:defRPr sz="1000" b="1">
                <a:solidFill>
                  <a:srgbClr val="FBBF24"/>
                </a:solidFill>
              </a:defRPr>
            </a:pPr>
            <a:r>
              <a:t>CAMPUS ESSENTIALS (10 COURSES)</a:t>
            </a:r>
          </a:p>
          <a:p>
            <a:pPr>
              <a:spcAft>
                <a:spcPts val="400"/>
              </a:spcAft>
              <a:defRPr sz="1500" b="1">
                <a:solidFill>
                  <a:srgbClr val="FFFFFF"/>
                </a:solidFill>
              </a:defRPr>
            </a:pPr>
            <a:r>
              <a:t>Launchpads &amp; Hardware Silicon</a:t>
            </a:r>
          </a:p>
          <a:p>
            <a:pPr>
              <a:spcAft>
                <a:spcPts val="800"/>
              </a:spcAft>
              <a:defRPr sz="1100">
                <a:solidFill>
                  <a:srgbClr val="38BDF8"/>
                </a:solidFill>
              </a:defRPr>
            </a:pPr>
            <a:r>
              <a:t>Entry-level confidence for all freshmen + deep hardware engineering.</a:t>
            </a:r>
          </a:p>
          <a:p>
            <a:pPr>
              <a:spcAft>
                <a:spcPts val="500"/>
              </a:spcAft>
              <a:defRPr sz="1150">
                <a:solidFill>
                  <a:srgbClr val="CBD5E1"/>
                </a:solidFill>
              </a:defRPr>
            </a:pPr>
            <a:r>
              <a:t>• Freshman Launchpads: Excel &amp; Data Analytics, Computer OS, Git Version Control, Tech Soft Skills.</a:t>
            </a:r>
          </a:p>
          <a:p>
            <a:pPr>
              <a:spcAft>
                <a:spcPts val="500"/>
              </a:spcAft>
              <a:defRPr sz="1150">
                <a:solidFill>
                  <a:srgbClr val="CBD5E1"/>
                </a:solidFill>
              </a:defRPr>
            </a:pPr>
            <a:r>
              <a:t>• Hardware &amp; IoT: Embedded Systems, TinyML Edge AI, IoT Security, Radio Protocols, Quant Systems.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03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PRODUCTION AUDIT &amp; MILESTONE LEDGER</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Curriculum Progress Scorecard: Completed vs. Remaining</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An Exact Mathematical Audit of What is Live Today and What is Being Built Right Now</a:t>
            </a:r>
          </a:p>
        </p:txBody>
      </p:sp>
      <p:sp>
        <p:nvSpPr>
          <p:cNvPr id="8" name="Rounded Rectangle 7"/>
          <p:cNvSpPr/>
          <p:nvPr/>
        </p:nvSpPr>
        <p:spPr>
          <a:xfrm>
            <a:off x="731520" y="1645920"/>
            <a:ext cx="3291840" cy="46634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2834640" cy="4206240"/>
          </a:xfrm>
          <a:prstGeom prst="rect">
            <a:avLst/>
          </a:prstGeom>
          <a:noFill/>
        </p:spPr>
        <p:txBody>
          <a:bodyPr wrap="square">
            <a:spAutoFit/>
          </a:bodyPr>
          <a:lstStyle/>
          <a:p>
            <a:pPr>
              <a:spcAft>
                <a:spcPts val="200"/>
              </a:spcAft>
              <a:defRPr sz="1000" b="1">
                <a:solidFill>
                  <a:srgbClr val="34D399"/>
                </a:solidFill>
              </a:defRPr>
            </a:pPr>
            <a:r>
              <a:t>LIVE PRODUCTION METRIC</a:t>
            </a:r>
          </a:p>
          <a:p>
            <a:pPr>
              <a:spcAft>
                <a:spcPts val="400"/>
              </a:spcAft>
              <a:defRPr sz="1500" b="1">
                <a:solidFill>
                  <a:srgbClr val="FFFFFF"/>
                </a:solidFill>
              </a:defRPr>
            </a:pPr>
            <a:r>
              <a:t>65.7% Completed</a:t>
            </a:r>
          </a:p>
          <a:p>
            <a:pPr>
              <a:spcAft>
                <a:spcPts val="800"/>
              </a:spcAft>
              <a:defRPr sz="1100">
                <a:solidFill>
                  <a:srgbClr val="38BDF8"/>
                </a:solidFill>
              </a:defRPr>
            </a:pPr>
            <a:r>
              <a:t>1,045 Days Out of 1,590 Foundation Target</a:t>
            </a:r>
          </a:p>
          <a:p>
            <a:pPr>
              <a:spcAft>
                <a:spcPts val="500"/>
              </a:spcAft>
              <a:defRPr sz="1150">
                <a:solidFill>
                  <a:srgbClr val="CBD5E1"/>
                </a:solidFill>
              </a:defRPr>
            </a:pPr>
            <a:r>
              <a:t>• 1,045 Total Days Built &amp; Verified across 53 course modules.</a:t>
            </a:r>
          </a:p>
          <a:p>
            <a:pPr>
              <a:spcAft>
                <a:spcPts val="500"/>
              </a:spcAft>
              <a:defRPr sz="1150">
                <a:solidFill>
                  <a:srgbClr val="CBD5E1"/>
                </a:solidFill>
              </a:defRPr>
            </a:pPr>
            <a:r>
              <a:t>• 19 Deep Tech Tracks are 100% Complete to Day 30.</a:t>
            </a:r>
          </a:p>
          <a:p>
            <a:pPr>
              <a:spcAft>
                <a:spcPts val="500"/>
              </a:spcAft>
              <a:defRPr sz="1150">
                <a:solidFill>
                  <a:srgbClr val="CBD5E1"/>
                </a:solidFill>
              </a:defRPr>
            </a:pPr>
            <a:r>
              <a:t>• Quant Systems Engineering is 100% Complete (Crown Jewel).</a:t>
            </a:r>
          </a:p>
          <a:p>
            <a:pPr>
              <a:spcAft>
                <a:spcPts val="500"/>
              </a:spcAft>
              <a:defRPr sz="1150">
                <a:solidFill>
                  <a:srgbClr val="CBD5E1"/>
                </a:solidFill>
              </a:defRPr>
            </a:pPr>
            <a:r>
              <a:t>• Excel Data Modeling: Days 1–10 Complete with Capstones.</a:t>
            </a:r>
          </a:p>
          <a:p>
            <a:pPr>
              <a:spcAft>
                <a:spcPts val="500"/>
              </a:spcAft>
              <a:defRPr sz="1150">
                <a:solidFill>
                  <a:srgbClr val="CBD5E1"/>
                </a:solidFill>
              </a:defRPr>
            </a:pPr>
            <a:r>
              <a:t>• 990 Interactive Visual Specs generated and running on disk.</a:t>
            </a:r>
          </a:p>
        </p:txBody>
      </p:sp>
      <p:sp>
        <p:nvSpPr>
          <p:cNvPr id="10" name="Rounded Rectangle 9"/>
          <p:cNvSpPr/>
          <p:nvPr/>
        </p:nvSpPr>
        <p:spPr>
          <a:xfrm>
            <a:off x="4297680" y="1645920"/>
            <a:ext cx="3566160" cy="46634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874520"/>
            <a:ext cx="3108960" cy="4206240"/>
          </a:xfrm>
          <a:prstGeom prst="rect">
            <a:avLst/>
          </a:prstGeom>
          <a:noFill/>
        </p:spPr>
        <p:txBody>
          <a:bodyPr wrap="square">
            <a:spAutoFit/>
          </a:bodyPr>
          <a:lstStyle/>
          <a:p>
            <a:pPr>
              <a:spcAft>
                <a:spcPts val="200"/>
              </a:spcAft>
              <a:defRPr sz="1000" b="1">
                <a:solidFill>
                  <a:srgbClr val="FBBF24"/>
                </a:solidFill>
              </a:defRPr>
            </a:pPr>
            <a:r>
              <a:t>REMAINING WORKLOAD</a:t>
            </a:r>
          </a:p>
          <a:p>
            <a:pPr>
              <a:spcAft>
                <a:spcPts val="400"/>
              </a:spcAft>
              <a:defRPr sz="1500" b="1">
                <a:solidFill>
                  <a:srgbClr val="FFFFFF"/>
                </a:solidFill>
              </a:defRPr>
            </a:pPr>
            <a:r>
              <a:t>34.3% In Production</a:t>
            </a:r>
          </a:p>
          <a:p>
            <a:pPr>
              <a:spcAft>
                <a:spcPts val="800"/>
              </a:spcAft>
              <a:defRPr sz="1100">
                <a:solidFill>
                  <a:srgbClr val="38BDF8"/>
                </a:solidFill>
              </a:defRPr>
            </a:pPr>
            <a:r>
              <a:t>545 Days Remaining to Day 30 Standard</a:t>
            </a:r>
          </a:p>
          <a:p>
            <a:pPr>
              <a:spcAft>
                <a:spcPts val="500"/>
              </a:spcAft>
              <a:defRPr sz="1150">
                <a:solidFill>
                  <a:srgbClr val="CBD5E1"/>
                </a:solidFill>
              </a:defRPr>
            </a:pPr>
            <a:r>
              <a:t>• 545 Days Remaining to reach 100% across all 30-day masterclasses.</a:t>
            </a:r>
          </a:p>
          <a:p>
            <a:pPr>
              <a:spcAft>
                <a:spcPts val="500"/>
              </a:spcAft>
              <a:defRPr sz="1150">
                <a:solidFill>
                  <a:srgbClr val="CBD5E1"/>
                </a:solidFill>
              </a:defRPr>
            </a:pPr>
            <a:r>
              <a:t>• Commerce (14 Tracks): Days 1-5 built; Days 6-30 (350 days) in production.</a:t>
            </a:r>
          </a:p>
          <a:p>
            <a:pPr>
              <a:spcAft>
                <a:spcPts val="500"/>
              </a:spcAft>
              <a:defRPr sz="1150">
                <a:solidFill>
                  <a:srgbClr val="CBD5E1"/>
                </a:solidFill>
              </a:defRPr>
            </a:pPr>
            <a:r>
              <a:t>• IoT &amp; Hardware (4 Tracks): Days 1-5 built; Days 6-30 (100 days) in production.</a:t>
            </a:r>
          </a:p>
          <a:p>
            <a:pPr>
              <a:spcAft>
                <a:spcPts val="500"/>
              </a:spcAft>
              <a:defRPr sz="1150">
                <a:solidFill>
                  <a:srgbClr val="CBD5E1"/>
                </a:solidFill>
              </a:defRPr>
            </a:pPr>
            <a:r>
              <a:t>• Tech Launchpad (4 Tracks): Days 6-30 (95 days) in production.</a:t>
            </a:r>
          </a:p>
          <a:p>
            <a:pPr>
              <a:spcAft>
                <a:spcPts val="500"/>
              </a:spcAft>
              <a:defRPr sz="1150">
                <a:solidFill>
                  <a:srgbClr val="CBD5E1"/>
                </a:solidFill>
              </a:defRPr>
            </a:pPr>
            <a:r>
              <a:t>• 600 Visual Specifications remaining to be created.</a:t>
            </a:r>
          </a:p>
        </p:txBody>
      </p:sp>
      <p:sp>
        <p:nvSpPr>
          <p:cNvPr id="12" name="Rounded Rectangle 11"/>
          <p:cNvSpPr/>
          <p:nvPr/>
        </p:nvSpPr>
        <p:spPr>
          <a:xfrm>
            <a:off x="8138160" y="1645920"/>
            <a:ext cx="3291840" cy="466344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874520"/>
            <a:ext cx="2834640" cy="4206240"/>
          </a:xfrm>
          <a:prstGeom prst="rect">
            <a:avLst/>
          </a:prstGeom>
          <a:noFill/>
        </p:spPr>
        <p:txBody>
          <a:bodyPr wrap="square">
            <a:spAutoFit/>
          </a:bodyPr>
          <a:lstStyle/>
          <a:p>
            <a:pPr>
              <a:spcAft>
                <a:spcPts val="200"/>
              </a:spcAft>
              <a:defRPr sz="1000" b="1">
                <a:solidFill>
                  <a:srgbClr val="38BDF8"/>
                </a:solidFill>
              </a:defRPr>
            </a:pPr>
            <a:r>
              <a:t>WHY WE SHIP SO FAST</a:t>
            </a:r>
          </a:p>
          <a:p>
            <a:pPr>
              <a:spcAft>
                <a:spcPts val="400"/>
              </a:spcAft>
              <a:defRPr sz="1500" b="1">
                <a:solidFill>
                  <a:srgbClr val="FFFFFF"/>
                </a:solidFill>
              </a:defRPr>
            </a:pPr>
            <a:r>
              <a:t>Execution Efficiency</a:t>
            </a:r>
          </a:p>
          <a:p>
            <a:pPr>
              <a:spcAft>
                <a:spcPts val="800"/>
              </a:spcAft>
              <a:defRPr sz="1100">
                <a:solidFill>
                  <a:srgbClr val="38BDF8"/>
                </a:solidFill>
              </a:defRPr>
            </a:pPr>
            <a:r>
              <a:t>Predictable, Scalable Delivery Pipeline</a:t>
            </a:r>
          </a:p>
          <a:p>
            <a:pPr>
              <a:spcAft>
                <a:spcPts val="500"/>
              </a:spcAft>
              <a:defRPr sz="1150">
                <a:solidFill>
                  <a:srgbClr val="CBD5E1"/>
                </a:solidFill>
              </a:defRPr>
            </a:pPr>
            <a:r>
              <a:t>• Parallel Multi-Agent Architecture: 3 isolated work streams building concurrently.</a:t>
            </a:r>
          </a:p>
          <a:p>
            <a:pPr>
              <a:spcAft>
                <a:spcPts val="500"/>
              </a:spcAft>
              <a:defRPr sz="1150">
                <a:solidFill>
                  <a:srgbClr val="CBD5E1"/>
                </a:solidFill>
              </a:defRPr>
            </a:pPr>
            <a:r>
              <a:t>• Zero Merge Collisions: Each branch works on separate files without git conflicts.</a:t>
            </a:r>
          </a:p>
          <a:p>
            <a:pPr>
              <a:spcAft>
                <a:spcPts val="500"/>
              </a:spcAft>
              <a:defRPr sz="1150">
                <a:solidFill>
                  <a:srgbClr val="CBD5E1"/>
                </a:solidFill>
              </a:defRPr>
            </a:pPr>
            <a:r>
              <a:t>• Automated Test Batteries: 100% test pass rate before any commit is pushed.</a:t>
            </a:r>
          </a:p>
          <a:p>
            <a:pPr>
              <a:spcAft>
                <a:spcPts val="500"/>
              </a:spcAft>
              <a:defRPr sz="1150">
                <a:solidFill>
                  <a:srgbClr val="CBD5E1"/>
                </a:solidFill>
              </a:defRPr>
            </a:pPr>
            <a:r>
              <a:t>• High Velocity: Over 15,000 words and 5 full days delivered per daily block.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04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PEDAGOGY &amp; PROPRIETARY TEACHING METHOD</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How We Teach: The Secret Sauce That Beats Video Bootcamps</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Replacing Passive Video Observation with Forced Daily Practice, AI Audio Mentors &amp; Socratic Guidance</a:t>
            </a:r>
          </a:p>
        </p:txBody>
      </p:sp>
      <p:sp>
        <p:nvSpPr>
          <p:cNvPr id="8" name="Rounded Rectangle 7"/>
          <p:cNvSpPr/>
          <p:nvPr/>
        </p:nvSpPr>
        <p:spPr>
          <a:xfrm>
            <a:off x="7315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4663440" cy="3931920"/>
          </a:xfrm>
          <a:prstGeom prst="rect">
            <a:avLst/>
          </a:prstGeom>
          <a:noFill/>
        </p:spPr>
        <p:txBody>
          <a:bodyPr wrap="square">
            <a:spAutoFit/>
          </a:bodyPr>
          <a:lstStyle/>
          <a:p>
            <a:pPr>
              <a:spcAft>
                <a:spcPts val="200"/>
              </a:spcAft>
              <a:defRPr sz="1000" b="1">
                <a:solidFill>
                  <a:srgbClr val="38BDF8"/>
                </a:solidFill>
              </a:defRPr>
            </a:pPr>
            <a:r>
              <a:t>STUDENT DAILY ROUTINE</a:t>
            </a:r>
          </a:p>
          <a:p>
            <a:pPr>
              <a:spcAft>
                <a:spcPts val="400"/>
              </a:spcAft>
              <a:defRPr sz="1500" b="1">
                <a:solidFill>
                  <a:srgbClr val="FFFFFF"/>
                </a:solidFill>
              </a:defRPr>
            </a:pPr>
            <a:r>
              <a:t>The 30-Minute Daily Method</a:t>
            </a:r>
          </a:p>
          <a:p>
            <a:pPr>
              <a:spcAft>
                <a:spcPts val="800"/>
              </a:spcAft>
              <a:defRPr sz="1100">
                <a:solidFill>
                  <a:srgbClr val="38BDF8"/>
                </a:solidFill>
              </a:defRPr>
            </a:pPr>
            <a:r>
              <a:t>High Retention • 30 Minutes a Day</a:t>
            </a:r>
          </a:p>
          <a:p>
            <a:pPr>
              <a:spcAft>
                <a:spcPts val="500"/>
              </a:spcAft>
              <a:defRPr sz="1150">
                <a:solidFill>
                  <a:srgbClr val="CBD5E1"/>
                </a:solidFill>
              </a:defRPr>
            </a:pPr>
            <a:r>
              <a:t>• 1. Senior Audio Narration (12 mins): Engaging voice-guided pair-programming explaining the business &amp; systems intuition.</a:t>
            </a:r>
          </a:p>
          <a:p>
            <a:pPr>
              <a:spcAft>
                <a:spcPts val="500"/>
              </a:spcAft>
              <a:defRPr sz="1150">
                <a:solidFill>
                  <a:srgbClr val="CBD5E1"/>
                </a:solidFill>
              </a:defRPr>
            </a:pPr>
            <a:r>
              <a:t>• 2. Live Interactive Diagram (5 mins): Visual animation showing how data, cash, or memory moves through the system.</a:t>
            </a:r>
          </a:p>
          <a:p>
            <a:pPr>
              <a:spcAft>
                <a:spcPts val="500"/>
              </a:spcAft>
              <a:defRPr sz="1150">
                <a:solidFill>
                  <a:srgbClr val="CBD5E1"/>
                </a:solidFill>
              </a:defRPr>
            </a:pPr>
            <a:r>
              <a:t>• 3. Forced Code/Ledger Fix (7 mins): Students cannot proceed without fixing an intentional production bug in their browser.</a:t>
            </a:r>
          </a:p>
          <a:p>
            <a:pPr>
              <a:spcAft>
                <a:spcPts val="500"/>
              </a:spcAft>
              <a:defRPr sz="1150">
                <a:solidFill>
                  <a:srgbClr val="CBD5E1"/>
                </a:solidFill>
              </a:defRPr>
            </a:pPr>
            <a:r>
              <a:t>• 4. The 3 AM Outage Puzzle (6 mins): A real-world disaster scenario (server crash, tax leak, fraud attempt) to test problem-solving.</a:t>
            </a:r>
          </a:p>
        </p:txBody>
      </p:sp>
      <p:sp>
        <p:nvSpPr>
          <p:cNvPr id="10" name="Rounded Rectangle 9"/>
          <p:cNvSpPr/>
          <p:nvPr/>
        </p:nvSpPr>
        <p:spPr>
          <a:xfrm>
            <a:off x="62179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20"/>
            <a:ext cx="4663440" cy="3931920"/>
          </a:xfrm>
          <a:prstGeom prst="rect">
            <a:avLst/>
          </a:prstGeom>
          <a:noFill/>
        </p:spPr>
        <p:txBody>
          <a:bodyPr wrap="square">
            <a:spAutoFit/>
          </a:bodyPr>
          <a:lstStyle/>
          <a:p>
            <a:pPr>
              <a:spcAft>
                <a:spcPts val="200"/>
              </a:spcAft>
              <a:defRPr sz="1000" b="1">
                <a:solidFill>
                  <a:srgbClr val="FBBF24"/>
                </a:solidFill>
              </a:defRPr>
            </a:pPr>
            <a:r>
              <a:t>WHY STUDENTS NEVER QUIT</a:t>
            </a:r>
          </a:p>
          <a:p>
            <a:pPr>
              <a:spcAft>
                <a:spcPts val="400"/>
              </a:spcAft>
              <a:defRPr sz="1500" b="1">
                <a:solidFill>
                  <a:srgbClr val="FFFFFF"/>
                </a:solidFill>
              </a:defRPr>
            </a:pPr>
            <a:r>
              <a:t>The Socratic AI Guardrail</a:t>
            </a:r>
          </a:p>
          <a:p>
            <a:pPr>
              <a:spcAft>
                <a:spcPts val="800"/>
              </a:spcAft>
              <a:defRPr sz="1100">
                <a:solidFill>
                  <a:srgbClr val="38BDF8"/>
                </a:solidFill>
              </a:defRPr>
            </a:pPr>
            <a:r>
              <a:t>The 3-Tier Socratic Ladder</a:t>
            </a:r>
          </a:p>
          <a:p>
            <a:pPr>
              <a:spcAft>
                <a:spcPts val="500"/>
              </a:spcAft>
              <a:defRPr sz="1150">
                <a:solidFill>
                  <a:srgbClr val="CBD5E1"/>
                </a:solidFill>
              </a:defRPr>
            </a:pPr>
            <a:r>
              <a:t>• The Problem with ChatGPT: It gives students the answer immediately, creating copy-paste dependency with zero learning.</a:t>
            </a:r>
          </a:p>
          <a:p>
            <a:pPr>
              <a:spcAft>
                <a:spcPts val="500"/>
              </a:spcAft>
              <a:defRPr sz="1150">
                <a:solidFill>
                  <a:srgbClr val="CBD5E1"/>
                </a:solidFill>
              </a:defRPr>
            </a:pPr>
            <a:r>
              <a:t>• PinIT Socratic Engine: When a student is stuck, our AI acts like an expert tutor:</a:t>
            </a:r>
          </a:p>
          <a:p>
            <a:pPr>
              <a:spcAft>
                <a:spcPts val="500"/>
              </a:spcAft>
              <a:defRPr sz="1150">
                <a:solidFill>
                  <a:srgbClr val="CBD5E1"/>
                </a:solidFill>
              </a:defRPr>
            </a:pPr>
            <a:r>
              <a:t>• • Step 1: Gives a conceptual hint asking the student to re-think.</a:t>
            </a:r>
          </a:p>
          <a:p>
            <a:pPr>
              <a:spcAft>
                <a:spcPts val="500"/>
              </a:spcAft>
              <a:defRPr sz="1150">
                <a:solidFill>
                  <a:srgbClr val="CBD5E1"/>
                </a:solidFill>
              </a:defRPr>
            </a:pPr>
            <a:r>
              <a:t>• • Step 2: Highlights the visual memory diagram showing where the error is.</a:t>
            </a:r>
          </a:p>
          <a:p>
            <a:pPr>
              <a:spcAft>
                <a:spcPts val="500"/>
              </a:spcAft>
              <a:defRPr sz="1150">
                <a:solidFill>
                  <a:srgbClr val="CBD5E1"/>
                </a:solidFill>
              </a:defRPr>
            </a:pPr>
            <a:r>
              <a:t>• • Step 3: Only gives surgical line hints if they fail multiple times.</a:t>
            </a:r>
          </a:p>
          <a:p>
            <a:pPr>
              <a:spcAft>
                <a:spcPts val="500"/>
              </a:spcAft>
              <a:defRPr sz="1150">
                <a:solidFill>
                  <a:srgbClr val="CBD5E1"/>
                </a:solidFill>
              </a:defRPr>
            </a:pPr>
            <a:r>
              <a:t>• Result: 100% of students finish the lesson without giving 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05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PROPRIETARY INTELLECTUAL PROPERTY</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Seeing is Believing: 17 Interactive Visual Engines</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How We Turn Abstract, Intimidating Subjects into Crystal-Clear Visual Simulations</a:t>
            </a:r>
          </a:p>
        </p:txBody>
      </p:sp>
      <p:sp>
        <p:nvSpPr>
          <p:cNvPr id="8" name="Rounded Rectangle 7"/>
          <p:cNvSpPr/>
          <p:nvPr/>
        </p:nvSpPr>
        <p:spPr>
          <a:xfrm>
            <a:off x="731520" y="1645920"/>
            <a:ext cx="338328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2926080" cy="3931920"/>
          </a:xfrm>
          <a:prstGeom prst="rect">
            <a:avLst/>
          </a:prstGeom>
          <a:noFill/>
        </p:spPr>
        <p:txBody>
          <a:bodyPr wrap="square">
            <a:spAutoFit/>
          </a:bodyPr>
          <a:lstStyle/>
          <a:p>
            <a:pPr>
              <a:spcAft>
                <a:spcPts val="200"/>
              </a:spcAft>
              <a:defRPr sz="1000" b="1">
                <a:solidFill>
                  <a:srgbClr val="34D399"/>
                </a:solidFill>
              </a:defRPr>
            </a:pPr>
            <a:r>
              <a:t>FOR BUSINESS STUDENTS</a:t>
            </a:r>
          </a:p>
          <a:p>
            <a:pPr>
              <a:spcAft>
                <a:spcPts val="400"/>
              </a:spcAft>
              <a:defRPr sz="1500" b="1">
                <a:solidFill>
                  <a:srgbClr val="FFFFFF"/>
                </a:solidFill>
              </a:defRPr>
            </a:pPr>
            <a:r>
              <a:t>Accounting &amp; Finance</a:t>
            </a:r>
          </a:p>
          <a:p>
            <a:pPr>
              <a:spcAft>
                <a:spcPts val="800"/>
              </a:spcAft>
              <a:defRPr sz="1100">
                <a:solidFill>
                  <a:srgbClr val="38BDF8"/>
                </a:solidFill>
              </a:defRPr>
            </a:pPr>
            <a:r>
              <a:t>Makes finance feel intuitive and tangible.</a:t>
            </a:r>
          </a:p>
          <a:p>
            <a:pPr>
              <a:spcAft>
                <a:spcPts val="500"/>
              </a:spcAft>
              <a:defRPr sz="1150">
                <a:solidFill>
                  <a:srgbClr val="CBD5E1"/>
                </a:solidFill>
              </a:defRPr>
            </a:pPr>
            <a:r>
              <a:t>• LedgerSheet Engine: Interactive T-accounts where debits and credits must balance.</a:t>
            </a:r>
          </a:p>
          <a:p>
            <a:pPr>
              <a:spcAft>
                <a:spcPts val="500"/>
              </a:spcAft>
              <a:defRPr sz="1150">
                <a:solidFill>
                  <a:srgbClr val="CBD5E1"/>
                </a:solidFill>
              </a:defRPr>
            </a:pPr>
            <a:r>
              <a:t>• Funnel Engine: Live sales pipelines showing lead drop-off and conversion rates.</a:t>
            </a:r>
          </a:p>
          <a:p>
            <a:pPr>
              <a:spcAft>
                <a:spcPts val="500"/>
              </a:spcAft>
              <a:defRPr sz="1150">
                <a:solidFill>
                  <a:srgbClr val="CBD5E1"/>
                </a:solidFill>
              </a:defRPr>
            </a:pPr>
            <a:r>
              <a:t>• Bars &amp; Sensitivity: Dynamic charts for DCF valuation and scenario modeling.</a:t>
            </a:r>
          </a:p>
        </p:txBody>
      </p:sp>
      <p:sp>
        <p:nvSpPr>
          <p:cNvPr id="10" name="Rounded Rectangle 9"/>
          <p:cNvSpPr/>
          <p:nvPr/>
        </p:nvSpPr>
        <p:spPr>
          <a:xfrm>
            <a:off x="4389120" y="1645920"/>
            <a:ext cx="338328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874520"/>
            <a:ext cx="2926080" cy="3931920"/>
          </a:xfrm>
          <a:prstGeom prst="rect">
            <a:avLst/>
          </a:prstGeom>
          <a:noFill/>
        </p:spPr>
        <p:txBody>
          <a:bodyPr wrap="square">
            <a:spAutoFit/>
          </a:bodyPr>
          <a:lstStyle/>
          <a:p>
            <a:pPr>
              <a:spcAft>
                <a:spcPts val="200"/>
              </a:spcAft>
              <a:defRPr sz="1000" b="1">
                <a:solidFill>
                  <a:srgbClr val="38BDF8"/>
                </a:solidFill>
              </a:defRPr>
            </a:pPr>
            <a:r>
              <a:t>FOR ENGINEERING STUDENTS</a:t>
            </a:r>
          </a:p>
          <a:p>
            <a:pPr>
              <a:spcAft>
                <a:spcPts val="400"/>
              </a:spcAft>
              <a:defRPr sz="1500" b="1">
                <a:solidFill>
                  <a:srgbClr val="FFFFFF"/>
                </a:solidFill>
              </a:defRPr>
            </a:pPr>
            <a:r>
              <a:t>Software &amp; Cloud</a:t>
            </a:r>
          </a:p>
          <a:p>
            <a:pPr>
              <a:spcAft>
                <a:spcPts val="800"/>
              </a:spcAft>
              <a:defRPr sz="1100">
                <a:solidFill>
                  <a:srgbClr val="38BDF8"/>
                </a:solidFill>
              </a:defRPr>
            </a:pPr>
            <a:r>
              <a:t>Turns invisible code into visible architecture.</a:t>
            </a:r>
          </a:p>
          <a:p>
            <a:pPr>
              <a:spcAft>
                <a:spcPts val="500"/>
              </a:spcAft>
              <a:defRPr sz="1150">
                <a:solidFill>
                  <a:srgbClr val="CBD5E1"/>
                </a:solidFill>
              </a:defRPr>
            </a:pPr>
            <a:r>
              <a:t>• TreeGraph Engine: Shows how database indexes (B+ Trees) split and re-balance.</a:t>
            </a:r>
          </a:p>
          <a:p>
            <a:pPr>
              <a:spcAft>
                <a:spcPts val="500"/>
              </a:spcAft>
              <a:defRPr sz="1150">
                <a:solidFill>
                  <a:srgbClr val="CBD5E1"/>
                </a:solidFill>
              </a:defRPr>
            </a:pPr>
            <a:r>
              <a:t>• Flow Engine: Visualizes microservices, API gateways, and distributed message queues.</a:t>
            </a:r>
          </a:p>
          <a:p>
            <a:pPr>
              <a:spcAft>
                <a:spcPts val="500"/>
              </a:spcAft>
              <a:defRPr sz="1150">
                <a:solidFill>
                  <a:srgbClr val="CBD5E1"/>
                </a:solidFill>
              </a:defRPr>
            </a:pPr>
            <a:r>
              <a:t>• ComponentTree Engine: Shows how modern web apps stream HTML from servers.</a:t>
            </a:r>
          </a:p>
        </p:txBody>
      </p:sp>
      <p:sp>
        <p:nvSpPr>
          <p:cNvPr id="12" name="Rounded Rectangle 11"/>
          <p:cNvSpPr/>
          <p:nvPr/>
        </p:nvSpPr>
        <p:spPr>
          <a:xfrm>
            <a:off x="8046720" y="1645920"/>
            <a:ext cx="338328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1874520"/>
            <a:ext cx="2926080" cy="3931920"/>
          </a:xfrm>
          <a:prstGeom prst="rect">
            <a:avLst/>
          </a:prstGeom>
          <a:noFill/>
        </p:spPr>
        <p:txBody>
          <a:bodyPr wrap="square">
            <a:spAutoFit/>
          </a:bodyPr>
          <a:lstStyle/>
          <a:p>
            <a:pPr>
              <a:spcAft>
                <a:spcPts val="200"/>
              </a:spcAft>
              <a:defRPr sz="1000" b="1">
                <a:solidFill>
                  <a:srgbClr val="A855F7"/>
                </a:solidFill>
              </a:defRPr>
            </a:pPr>
            <a:r>
              <a:t>FOR IOT &amp; SYSTEMS STUDENTS</a:t>
            </a:r>
          </a:p>
          <a:p>
            <a:pPr>
              <a:spcAft>
                <a:spcPts val="400"/>
              </a:spcAft>
              <a:defRPr sz="1500" b="1">
                <a:solidFill>
                  <a:srgbClr val="FFFFFF"/>
                </a:solidFill>
              </a:defRPr>
            </a:pPr>
            <a:r>
              <a:t>Hardware &amp; Silicon</a:t>
            </a:r>
          </a:p>
          <a:p>
            <a:pPr>
              <a:spcAft>
                <a:spcPts val="800"/>
              </a:spcAft>
              <a:defRPr sz="1100">
                <a:solidFill>
                  <a:srgbClr val="38BDF8"/>
                </a:solidFill>
              </a:defRPr>
            </a:pPr>
            <a:r>
              <a:t>Eliminates intimidation in low-level engineering.</a:t>
            </a:r>
          </a:p>
          <a:p>
            <a:pPr>
              <a:spcAft>
                <a:spcPts val="500"/>
              </a:spcAft>
              <a:defRPr sz="1150">
                <a:solidFill>
                  <a:srgbClr val="CBD5E1"/>
                </a:solidFill>
              </a:defRPr>
            </a:pPr>
            <a:r>
              <a:t>• RegisterBits Engine: Students flip bits 0-7 live and watch microcontroller memory change.</a:t>
            </a:r>
          </a:p>
          <a:p>
            <a:pPr>
              <a:spcAft>
                <a:spcPts val="500"/>
              </a:spcAft>
              <a:defRPr sz="1150">
                <a:solidFill>
                  <a:srgbClr val="CBD5E1"/>
                </a:solidFill>
              </a:defRPr>
            </a:pPr>
            <a:r>
              <a:t>• StackQueue Engine: Animates memory buffers, cache lines, and queue allocations.</a:t>
            </a:r>
          </a:p>
          <a:p>
            <a:pPr>
              <a:spcAft>
                <a:spcPts val="500"/>
              </a:spcAft>
              <a:defRPr sz="1150">
                <a:solidFill>
                  <a:srgbClr val="CBD5E1"/>
                </a:solidFill>
              </a:defRPr>
            </a:pPr>
            <a:r>
              <a:t>• Cryptographic Binding: All 990 visuals locked by SHA-256 hashes to runtime code.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06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HIGH-PLACEMENT CORE ENGINE</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Vertical 1: Software &amp; Web Systems (100% Built &amp; Live)</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The Engine That Lands Students High-Paying Software Engineering Jobs at Tech Companies</a:t>
            </a:r>
          </a:p>
        </p:txBody>
      </p:sp>
      <p:sp>
        <p:nvSpPr>
          <p:cNvPr id="8" name="Rounded Rectangle 7"/>
          <p:cNvSpPr/>
          <p:nvPr/>
        </p:nvSpPr>
        <p:spPr>
          <a:xfrm>
            <a:off x="7315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4663440" cy="3931920"/>
          </a:xfrm>
          <a:prstGeom prst="rect">
            <a:avLst/>
          </a:prstGeom>
          <a:noFill/>
        </p:spPr>
        <p:txBody>
          <a:bodyPr wrap="square">
            <a:spAutoFit/>
          </a:bodyPr>
          <a:lstStyle/>
          <a:p>
            <a:pPr>
              <a:spcAft>
                <a:spcPts val="200"/>
              </a:spcAft>
              <a:defRPr sz="1000" b="1">
                <a:solidFill>
                  <a:srgbClr val="34D399"/>
                </a:solidFill>
              </a:defRPr>
            </a:pPr>
            <a:r>
              <a:t>100% READY TODAY</a:t>
            </a:r>
          </a:p>
          <a:p>
            <a:pPr>
              <a:spcAft>
                <a:spcPts val="400"/>
              </a:spcAft>
              <a:defRPr sz="1500" b="1">
                <a:solidFill>
                  <a:srgbClr val="FFFFFF"/>
                </a:solidFill>
              </a:defRPr>
            </a:pPr>
            <a:r>
              <a:t>Courses in This Vertical (All 6 Complete)</a:t>
            </a:r>
          </a:p>
          <a:p>
            <a:pPr>
              <a:spcAft>
                <a:spcPts val="800"/>
              </a:spcAft>
              <a:defRPr sz="1100">
                <a:solidFill>
                  <a:srgbClr val="38BDF8"/>
                </a:solidFill>
              </a:defRPr>
            </a:pPr>
            <a:r>
              <a:t>180 Days of Verified Lessons Live</a:t>
            </a:r>
          </a:p>
          <a:p>
            <a:pPr>
              <a:spcAft>
                <a:spcPts val="500"/>
              </a:spcAft>
              <a:defRPr sz="1150">
                <a:solidFill>
                  <a:srgbClr val="CBD5E1"/>
                </a:solidFill>
              </a:defRPr>
            </a:pPr>
            <a:r>
              <a:t>• 1. Python Backend Architecture: Modern async APIs, FastAPI, database connections.</a:t>
            </a:r>
          </a:p>
          <a:p>
            <a:pPr>
              <a:spcAft>
                <a:spcPts val="500"/>
              </a:spcAft>
              <a:defRPr sz="1150">
                <a:solidFill>
                  <a:srgbClr val="CBD5E1"/>
                </a:solidFill>
              </a:defRPr>
            </a:pPr>
            <a:r>
              <a:t>• 2. Modern JavaScript Mastery: Async event loops, memory management, browser APIs.</a:t>
            </a:r>
          </a:p>
          <a:p>
            <a:pPr>
              <a:spcAft>
                <a:spcPts val="500"/>
              </a:spcAft>
              <a:defRPr sz="1150">
                <a:solidFill>
                  <a:srgbClr val="CBD5E1"/>
                </a:solidFill>
              </a:defRPr>
            </a:pPr>
            <a:r>
              <a:t>• 3. Fullstack Next.js: Server Components, React App Router, high-speed streaming.</a:t>
            </a:r>
          </a:p>
          <a:p>
            <a:pPr>
              <a:spcAft>
                <a:spcPts val="500"/>
              </a:spcAft>
              <a:defRPr sz="1150">
                <a:solidFill>
                  <a:srgbClr val="CBD5E1"/>
                </a:solidFill>
              </a:defRPr>
            </a:pPr>
            <a:r>
              <a:t>• 4. Database Engineering: SQL, indexing internals, transaction ACID guarantees.</a:t>
            </a:r>
          </a:p>
          <a:p>
            <a:pPr>
              <a:spcAft>
                <a:spcPts val="500"/>
              </a:spcAft>
              <a:defRPr sz="1150">
                <a:solidFill>
                  <a:srgbClr val="CBD5E1"/>
                </a:solidFill>
              </a:defRPr>
            </a:pPr>
            <a:r>
              <a:t>• 5. Distributed Systems: Cloud servers, consensus algorithms, failover handling.</a:t>
            </a:r>
          </a:p>
          <a:p>
            <a:pPr>
              <a:spcAft>
                <a:spcPts val="500"/>
              </a:spcAft>
              <a:defRPr sz="1150">
                <a:solidFill>
                  <a:srgbClr val="CBD5E1"/>
                </a:solidFill>
              </a:defRPr>
            </a:pPr>
            <a:r>
              <a:t>• 6. Cloud &amp; DevOps: Docker containers, Kubernetes deployment, automated CI/CD.</a:t>
            </a:r>
          </a:p>
        </p:txBody>
      </p:sp>
      <p:sp>
        <p:nvSpPr>
          <p:cNvPr id="10" name="Rounded Rectangle 9"/>
          <p:cNvSpPr/>
          <p:nvPr/>
        </p:nvSpPr>
        <p:spPr>
          <a:xfrm>
            <a:off x="62179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20"/>
            <a:ext cx="4663440" cy="3931920"/>
          </a:xfrm>
          <a:prstGeom prst="rect">
            <a:avLst/>
          </a:prstGeom>
          <a:noFill/>
        </p:spPr>
        <p:txBody>
          <a:bodyPr wrap="square">
            <a:spAutoFit/>
          </a:bodyPr>
          <a:lstStyle/>
          <a:p>
            <a:pPr>
              <a:spcAft>
                <a:spcPts val="200"/>
              </a:spcAft>
              <a:defRPr sz="1000" b="1">
                <a:solidFill>
                  <a:srgbClr val="FBBF24"/>
                </a:solidFill>
              </a:defRPr>
            </a:pPr>
            <a:r>
              <a:t>CAREER &amp; MARKET OUTCOMES</a:t>
            </a:r>
          </a:p>
          <a:p>
            <a:pPr>
              <a:spcAft>
                <a:spcPts val="400"/>
              </a:spcAft>
              <a:defRPr sz="1500" b="1">
                <a:solidFill>
                  <a:srgbClr val="FFFFFF"/>
                </a:solidFill>
              </a:defRPr>
            </a:pPr>
            <a:r>
              <a:t>Why Shareholders Care: Job Placement</a:t>
            </a:r>
          </a:p>
          <a:p>
            <a:pPr>
              <a:spcAft>
                <a:spcPts val="800"/>
              </a:spcAft>
              <a:defRPr sz="1100">
                <a:solidFill>
                  <a:srgbClr val="38BDF8"/>
                </a:solidFill>
              </a:defRPr>
            </a:pPr>
            <a:r>
              <a:t>High Salary • High Demand • High Conversion</a:t>
            </a:r>
          </a:p>
          <a:p>
            <a:pPr>
              <a:spcAft>
                <a:spcPts val="500"/>
              </a:spcAft>
              <a:defRPr sz="1150">
                <a:solidFill>
                  <a:srgbClr val="CBD5E1"/>
                </a:solidFill>
              </a:defRPr>
            </a:pPr>
            <a:r>
              <a:t>• Massive Market Demand: 70% of high-paying campus placements are in software development.</a:t>
            </a:r>
          </a:p>
          <a:p>
            <a:pPr>
              <a:spcAft>
                <a:spcPts val="500"/>
              </a:spcAft>
              <a:defRPr sz="1150">
                <a:solidFill>
                  <a:srgbClr val="CBD5E1"/>
                </a:solidFill>
              </a:defRPr>
            </a:pPr>
            <a:r>
              <a:t>• Target Job Titles: Full-Stack Engineer, Backend Developer, DevOps / Cloud Architect.</a:t>
            </a:r>
          </a:p>
          <a:p>
            <a:pPr>
              <a:spcAft>
                <a:spcPts val="500"/>
              </a:spcAft>
              <a:defRPr sz="1150">
                <a:solidFill>
                  <a:srgbClr val="CBD5E1"/>
                </a:solidFill>
              </a:defRPr>
            </a:pPr>
            <a:r>
              <a:t>• Average Starting Salary: Rs 12 LPA to Rs 25 LPA ($120k–$180k globally).</a:t>
            </a:r>
          </a:p>
          <a:p>
            <a:pPr>
              <a:spcAft>
                <a:spcPts val="500"/>
              </a:spcAft>
              <a:defRPr sz="1150">
                <a:solidFill>
                  <a:srgbClr val="CBD5E1"/>
                </a:solidFill>
              </a:defRPr>
            </a:pPr>
            <a:r>
              <a:t>• The Portfolio Advantage: Students graduate with authentic GitHub projects rather than copy-pasted homework.</a:t>
            </a:r>
          </a:p>
          <a:p>
            <a:pPr>
              <a:spcAft>
                <a:spcPts val="500"/>
              </a:spcAft>
              <a:defRPr sz="1150">
                <a:solidFill>
                  <a:srgbClr val="CBD5E1"/>
                </a:solidFill>
              </a:defRPr>
            </a:pPr>
            <a:r>
              <a:t>• Verified Hireability: Automated tests prove the student can write production code on Day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07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PREMIUM DIFFERENTIATOR &amp; CROWN JEWEL</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Vertical 2: Quantitative Trading &amp; Advanced Tech</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Sub-Microsecond Trading Engines &amp; Deep Computer Science (100% Built &amp; Verified)</a:t>
            </a:r>
          </a:p>
        </p:txBody>
      </p:sp>
      <p:sp>
        <p:nvSpPr>
          <p:cNvPr id="8" name="Rounded Rectangle 7"/>
          <p:cNvSpPr/>
          <p:nvPr/>
        </p:nvSpPr>
        <p:spPr>
          <a:xfrm>
            <a:off x="7315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4663440" cy="3931920"/>
          </a:xfrm>
          <a:prstGeom prst="rect">
            <a:avLst/>
          </a:prstGeom>
          <a:noFill/>
        </p:spPr>
        <p:txBody>
          <a:bodyPr wrap="square">
            <a:spAutoFit/>
          </a:bodyPr>
          <a:lstStyle/>
          <a:p>
            <a:pPr>
              <a:spcAft>
                <a:spcPts val="200"/>
              </a:spcAft>
              <a:defRPr sz="1000" b="1">
                <a:solidFill>
                  <a:srgbClr val="FBBF24"/>
                </a:solidFill>
              </a:defRPr>
            </a:pPr>
            <a:r>
              <a:t>30/30 DAYS COMPLETE</a:t>
            </a:r>
          </a:p>
          <a:p>
            <a:pPr>
              <a:spcAft>
                <a:spcPts val="400"/>
              </a:spcAft>
              <a:defRPr sz="1500" b="1">
                <a:solidFill>
                  <a:srgbClr val="FFFFFF"/>
                </a:solidFill>
              </a:defRPr>
            </a:pPr>
            <a:r>
              <a:t>The Crown Jewel: Quant Trading Systems</a:t>
            </a:r>
          </a:p>
          <a:p>
            <a:pPr>
              <a:spcAft>
                <a:spcPts val="800"/>
              </a:spcAft>
              <a:defRPr sz="1100">
                <a:solidFill>
                  <a:srgbClr val="38BDF8"/>
                </a:solidFill>
              </a:defRPr>
            </a:pPr>
            <a:r>
              <a:t>The Highest-Paying Engineering Discipline</a:t>
            </a:r>
          </a:p>
          <a:p>
            <a:pPr>
              <a:spcAft>
                <a:spcPts val="500"/>
              </a:spcAft>
              <a:defRPr sz="1150">
                <a:solidFill>
                  <a:srgbClr val="CBD5E1"/>
                </a:solidFill>
              </a:defRPr>
            </a:pPr>
            <a:r>
              <a:t>• High-Frequency Trading Architecture: Sub-microsecond market making in C++.</a:t>
            </a:r>
          </a:p>
          <a:p>
            <a:pPr>
              <a:spcAft>
                <a:spcPts val="500"/>
              </a:spcAft>
              <a:defRPr sz="1150">
                <a:solidFill>
                  <a:srgbClr val="CBD5E1"/>
                </a:solidFill>
              </a:defRPr>
            </a:pPr>
            <a:r>
              <a:t>• 41.8 Nanosecond Matching: Building ultra-fast financial order books.</a:t>
            </a:r>
          </a:p>
          <a:p>
            <a:pPr>
              <a:spcAft>
                <a:spcPts val="500"/>
              </a:spcAft>
              <a:defRPr sz="1150">
                <a:solidFill>
                  <a:srgbClr val="CBD5E1"/>
                </a:solidFill>
              </a:defRPr>
            </a:pPr>
            <a:r>
              <a:t>• SEC Rule 15c3-5 Pre-Trade Risk: Automated circuit breakers and kill switches.</a:t>
            </a:r>
          </a:p>
          <a:p>
            <a:pPr>
              <a:spcAft>
                <a:spcPts val="500"/>
              </a:spcAft>
              <a:defRPr sz="1150">
                <a:solidFill>
                  <a:srgbClr val="CBD5E1"/>
                </a:solidFill>
              </a:defRPr>
            </a:pPr>
            <a:r>
              <a:t>• Options Greeks &amp; Derivatives: Black-Scholes pricing models and tail-risk simulation.</a:t>
            </a:r>
          </a:p>
          <a:p>
            <a:pPr>
              <a:spcAft>
                <a:spcPts val="500"/>
              </a:spcAft>
              <a:defRPr sz="1150">
                <a:solidFill>
                  <a:srgbClr val="CBD5E1"/>
                </a:solidFill>
              </a:defRPr>
            </a:pPr>
            <a:r>
              <a:t>• Why it's unique: No other university platform in the world teaches HFT engineering in a browser.</a:t>
            </a:r>
          </a:p>
        </p:txBody>
      </p:sp>
      <p:sp>
        <p:nvSpPr>
          <p:cNvPr id="10" name="Rounded Rectangle 9"/>
          <p:cNvSpPr/>
          <p:nvPr/>
        </p:nvSpPr>
        <p:spPr>
          <a:xfrm>
            <a:off x="62179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20"/>
            <a:ext cx="4663440" cy="3931920"/>
          </a:xfrm>
          <a:prstGeom prst="rect">
            <a:avLst/>
          </a:prstGeom>
          <a:noFill/>
        </p:spPr>
        <p:txBody>
          <a:bodyPr wrap="square">
            <a:spAutoFit/>
          </a:bodyPr>
          <a:lstStyle/>
          <a:p>
            <a:pPr>
              <a:spcAft>
                <a:spcPts val="200"/>
              </a:spcAft>
              <a:defRPr sz="1000" b="1">
                <a:solidFill>
                  <a:srgbClr val="38BDF8"/>
                </a:solidFill>
              </a:defRPr>
            </a:pPr>
            <a:r>
              <a:t>SPECIALIZED TRACKS</a:t>
            </a:r>
          </a:p>
          <a:p>
            <a:pPr>
              <a:spcAft>
                <a:spcPts val="400"/>
              </a:spcAft>
              <a:defRPr sz="1500" b="1">
                <a:solidFill>
                  <a:srgbClr val="FFFFFF"/>
                </a:solidFill>
              </a:defRPr>
            </a:pPr>
            <a:r>
              <a:t>Advanced AI, Blockchain &amp; Mobile</a:t>
            </a:r>
          </a:p>
          <a:p>
            <a:pPr>
              <a:spcAft>
                <a:spcPts val="800"/>
              </a:spcAft>
              <a:defRPr sz="1100">
                <a:solidFill>
                  <a:srgbClr val="38BDF8"/>
                </a:solidFill>
              </a:defRPr>
            </a:pPr>
            <a:r>
              <a:t>Elite Placement Tier for Top Students</a:t>
            </a:r>
          </a:p>
          <a:p>
            <a:pPr>
              <a:spcAft>
                <a:spcPts val="500"/>
              </a:spcAft>
              <a:defRPr sz="1150">
                <a:solidFill>
                  <a:srgbClr val="CBD5E1"/>
                </a:solidFill>
              </a:defRPr>
            </a:pPr>
            <a:r>
              <a:t>• Applied AI &amp; Machine Learning: Neural networks, computer vision, vector search.</a:t>
            </a:r>
          </a:p>
          <a:p>
            <a:pPr>
              <a:spcAft>
                <a:spcPts val="500"/>
              </a:spcAft>
              <a:defRPr sz="1150">
                <a:solidFill>
                  <a:srgbClr val="CBD5E1"/>
                </a:solidFill>
              </a:defRPr>
            </a:pPr>
            <a:r>
              <a:t>• Everyday AI &amp; Prompt Engineering: Building production AI agents and automation.</a:t>
            </a:r>
          </a:p>
          <a:p>
            <a:pPr>
              <a:spcAft>
                <a:spcPts val="500"/>
              </a:spcAft>
              <a:defRPr sz="1150">
                <a:solidFill>
                  <a:srgbClr val="CBD5E1"/>
                </a:solidFill>
              </a:defRPr>
            </a:pPr>
            <a:r>
              <a:t>• EVM Blockchain Engineering: Smart contracts, decentralized security, token bridges.</a:t>
            </a:r>
          </a:p>
          <a:p>
            <a:pPr>
              <a:spcAft>
                <a:spcPts val="500"/>
              </a:spcAft>
              <a:defRPr sz="1150">
                <a:solidFill>
                  <a:srgbClr val="CBD5E1"/>
                </a:solidFill>
              </a:defRPr>
            </a:pPr>
            <a:r>
              <a:t>• Target Careers: Quantitative Trader, HFT Engineer, AI Developer, Blockchain Auditor.</a:t>
            </a:r>
          </a:p>
          <a:p>
            <a:pPr>
              <a:spcAft>
                <a:spcPts val="500"/>
              </a:spcAft>
              <a:defRPr sz="1150">
                <a:solidFill>
                  <a:srgbClr val="CBD5E1"/>
                </a:solidFill>
              </a:defRPr>
            </a:pPr>
            <a:r>
              <a:t>• Starting Packages: Rs 30 LPA to Rs 80 LPA ($200k–$400k+ global prop shops).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08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MASS MARKET CAMPUS EXPANSION</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Vertical 3: Commerce, Banking &amp; Modern Management</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14 Complete Tracks for B.Com, BBA &amp; MBA Students (Days 1–5 Live, Days 6–30 Expanding)</a:t>
            </a:r>
          </a:p>
        </p:txBody>
      </p:sp>
      <p:sp>
        <p:nvSpPr>
          <p:cNvPr id="8" name="Rounded Rectangle 7"/>
          <p:cNvSpPr/>
          <p:nvPr/>
        </p:nvSpPr>
        <p:spPr>
          <a:xfrm>
            <a:off x="7315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4663440" cy="3931920"/>
          </a:xfrm>
          <a:prstGeom prst="rect">
            <a:avLst/>
          </a:prstGeom>
          <a:noFill/>
        </p:spPr>
        <p:txBody>
          <a:bodyPr wrap="square">
            <a:spAutoFit/>
          </a:bodyPr>
          <a:lstStyle/>
          <a:p>
            <a:pPr>
              <a:spcAft>
                <a:spcPts val="200"/>
              </a:spcAft>
              <a:defRPr sz="1000" b="1">
                <a:solidFill>
                  <a:srgbClr val="34D399"/>
                </a:solidFill>
              </a:defRPr>
            </a:pPr>
            <a:r>
              <a:t>MASSIVE STUDENT VOLUME</a:t>
            </a:r>
          </a:p>
          <a:p>
            <a:pPr>
              <a:spcAft>
                <a:spcPts val="400"/>
              </a:spcAft>
              <a:defRPr sz="1500" b="1">
                <a:solidFill>
                  <a:srgbClr val="FFFFFF"/>
                </a:solidFill>
              </a:defRPr>
            </a:pPr>
            <a:r>
              <a:t>The 14 Business &amp; Commerce Tracks</a:t>
            </a:r>
          </a:p>
          <a:p>
            <a:pPr>
              <a:spcAft>
                <a:spcPts val="800"/>
              </a:spcAft>
              <a:defRPr sz="1100">
                <a:solidFill>
                  <a:srgbClr val="38BDF8"/>
                </a:solidFill>
              </a:defRPr>
            </a:pPr>
            <a:r>
              <a:t>70 Days Built Live • 350 Days in Production</a:t>
            </a:r>
          </a:p>
          <a:p>
            <a:pPr>
              <a:spcAft>
                <a:spcPts val="500"/>
              </a:spcAft>
              <a:defRPr sz="1150">
                <a:solidFill>
                  <a:srgbClr val="CBD5E1"/>
                </a:solidFill>
              </a:defRPr>
            </a:pPr>
            <a:r>
              <a:t>• 1. Corporate Finance (DCF Valuation, WACC, Capital Budgeting).</a:t>
            </a:r>
          </a:p>
          <a:p>
            <a:pPr>
              <a:spcAft>
                <a:spcPts val="500"/>
              </a:spcAft>
              <a:defRPr sz="1150">
                <a:solidFill>
                  <a:srgbClr val="CBD5E1"/>
                </a:solidFill>
              </a:defRPr>
            </a:pPr>
            <a:r>
              <a:t>• 2. Commercial Banking (Basel III Risk, Loan Underwriting, Treasury).</a:t>
            </a:r>
          </a:p>
          <a:p>
            <a:pPr>
              <a:spcAft>
                <a:spcPts val="500"/>
              </a:spcAft>
              <a:defRPr sz="1150">
                <a:solidFill>
                  <a:srgbClr val="CBD5E1"/>
                </a:solidFill>
              </a:defRPr>
            </a:pPr>
            <a:r>
              <a:t>• 3. Digital Accounting (Double-entry, ASC 606 revenue, 3-statement models).</a:t>
            </a:r>
          </a:p>
          <a:p>
            <a:pPr>
              <a:spcAft>
                <a:spcPts val="500"/>
              </a:spcAft>
              <a:defRPr sz="1150">
                <a:solidFill>
                  <a:srgbClr val="CBD5E1"/>
                </a:solidFill>
              </a:defRPr>
            </a:pPr>
            <a:r>
              <a:t>• 4. Corporate Taxation (Deferred taxes, Section 163(j), GST/VAT).</a:t>
            </a:r>
          </a:p>
          <a:p>
            <a:pPr>
              <a:spcAft>
                <a:spcPts val="500"/>
              </a:spcAft>
              <a:defRPr sz="1150">
                <a:solidFill>
                  <a:srgbClr val="CBD5E1"/>
                </a:solidFill>
              </a:defRPr>
            </a:pPr>
            <a:r>
              <a:t>• 5. Forensic Auditing (Fraud detection, Benford's Law, SOX 404).</a:t>
            </a:r>
          </a:p>
          <a:p>
            <a:pPr>
              <a:spcAft>
                <a:spcPts val="500"/>
              </a:spcAft>
              <a:defRPr sz="1150">
                <a:solidFill>
                  <a:srgbClr val="CBD5E1"/>
                </a:solidFill>
              </a:defRPr>
            </a:pPr>
            <a:r>
              <a:t>• 6. Digital Marketing &amp; E-Commerce (CAC:LTV, Marketplace economics).</a:t>
            </a:r>
          </a:p>
          <a:p>
            <a:pPr>
              <a:spcAft>
                <a:spcPts val="500"/>
              </a:spcAft>
              <a:defRPr sz="1150">
                <a:solidFill>
                  <a:srgbClr val="CBD5E1"/>
                </a:solidFill>
              </a:defRPr>
            </a:pPr>
            <a:r>
              <a:t>• 7. Operations &amp; B2B Sales (Supply chain, CRM pipelines, Six Sigma).</a:t>
            </a:r>
          </a:p>
        </p:txBody>
      </p:sp>
      <p:sp>
        <p:nvSpPr>
          <p:cNvPr id="10" name="Rounded Rectangle 9"/>
          <p:cNvSpPr/>
          <p:nvPr/>
        </p:nvSpPr>
        <p:spPr>
          <a:xfrm>
            <a:off x="62179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20"/>
            <a:ext cx="4663440" cy="3931920"/>
          </a:xfrm>
          <a:prstGeom prst="rect">
            <a:avLst/>
          </a:prstGeom>
          <a:noFill/>
        </p:spPr>
        <p:txBody>
          <a:bodyPr wrap="square">
            <a:spAutoFit/>
          </a:bodyPr>
          <a:lstStyle/>
          <a:p>
            <a:pPr>
              <a:spcAft>
                <a:spcPts val="200"/>
              </a:spcAft>
              <a:defRPr sz="1000" b="1">
                <a:solidFill>
                  <a:srgbClr val="FBBF24"/>
                </a:solidFill>
              </a:defRPr>
            </a:pPr>
            <a:r>
              <a:t>COMMERCE CAMPUS MONETIZATION</a:t>
            </a:r>
          </a:p>
          <a:p>
            <a:pPr>
              <a:spcAft>
                <a:spcPts val="400"/>
              </a:spcAft>
              <a:defRPr sz="1500" b="1">
                <a:solidFill>
                  <a:srgbClr val="FFFFFF"/>
                </a:solidFill>
              </a:defRPr>
            </a:pPr>
            <a:r>
              <a:t>Why Shareholders Care: Huge Market Size</a:t>
            </a:r>
          </a:p>
          <a:p>
            <a:pPr>
              <a:spcAft>
                <a:spcPts val="800"/>
              </a:spcAft>
              <a:defRPr sz="1100">
                <a:solidFill>
                  <a:srgbClr val="38BDF8"/>
                </a:solidFill>
              </a:defRPr>
            </a:pPr>
            <a:r>
              <a:t>Tapping the 10M+ Student Commerce Market</a:t>
            </a:r>
          </a:p>
          <a:p>
            <a:pPr>
              <a:spcAft>
                <a:spcPts val="500"/>
              </a:spcAft>
              <a:defRPr sz="1150">
                <a:solidFill>
                  <a:srgbClr val="CBD5E1"/>
                </a:solidFill>
              </a:defRPr>
            </a:pPr>
            <a:r>
              <a:t>• 60% of University Students: Over 60% of college enrollments are in non-engineering business &amp; commerce degrees.</a:t>
            </a:r>
          </a:p>
          <a:p>
            <a:pPr>
              <a:spcAft>
                <a:spcPts val="500"/>
              </a:spcAft>
              <a:defRPr sz="1150">
                <a:solidFill>
                  <a:srgbClr val="CBD5E1"/>
                </a:solidFill>
              </a:defRPr>
            </a:pPr>
            <a:r>
              <a:t>• Zero Competition: Almost all edtech competitors only teach coding. We are the first to bring active simulation learning to B.Com &amp; BBA.</a:t>
            </a:r>
          </a:p>
          <a:p>
            <a:pPr>
              <a:spcAft>
                <a:spcPts val="500"/>
              </a:spcAft>
              <a:defRPr sz="1150">
                <a:solidFill>
                  <a:srgbClr val="CBD5E1"/>
                </a:solidFill>
              </a:defRPr>
            </a:pPr>
            <a:r>
              <a:t>• Target Careers: Financial Analyst, Investment Banker, Forensic Auditor, Tax Consultant at Big 4 accounting firms.</a:t>
            </a:r>
          </a:p>
          <a:p>
            <a:pPr>
              <a:spcAft>
                <a:spcPts val="500"/>
              </a:spcAft>
              <a:defRPr sz="1150">
                <a:solidFill>
                  <a:srgbClr val="CBD5E1"/>
                </a:solidFill>
              </a:defRPr>
            </a:pPr>
            <a:r>
              <a:t>• Starting Salary: Rs 8 LPA to Rs 20 LPA ($80k–$150k global).</a:t>
            </a:r>
          </a:p>
          <a:p>
            <a:pPr>
              <a:spcAft>
                <a:spcPts val="500"/>
              </a:spcAft>
              <a:defRPr sz="1150">
                <a:solidFill>
                  <a:srgbClr val="CBD5E1"/>
                </a:solidFill>
              </a:defRPr>
            </a:pPr>
            <a:r>
              <a:t>• Production Status: Days 1-5 already live; Days 6-30 actively expanding on Branch B.</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09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UNIVERSAL ONBOARDING &amp; HARDWARE SILICON</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Vertical 4: Freshman Launchpads &amp; IoT Hardware</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Level 0 Campus Readiness for All Freshmen + Direct Hardware Microcontroller Systems</a:t>
            </a:r>
          </a:p>
        </p:txBody>
      </p:sp>
      <p:sp>
        <p:nvSpPr>
          <p:cNvPr id="8" name="Rounded Rectangle 7"/>
          <p:cNvSpPr/>
          <p:nvPr/>
        </p:nvSpPr>
        <p:spPr>
          <a:xfrm>
            <a:off x="7315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4663440" cy="3931920"/>
          </a:xfrm>
          <a:prstGeom prst="rect">
            <a:avLst/>
          </a:prstGeom>
          <a:noFill/>
        </p:spPr>
        <p:txBody>
          <a:bodyPr wrap="square">
            <a:spAutoFit/>
          </a:bodyPr>
          <a:lstStyle/>
          <a:p>
            <a:pPr>
              <a:spcAft>
                <a:spcPts val="200"/>
              </a:spcAft>
              <a:defRPr sz="1000" b="1">
                <a:solidFill>
                  <a:srgbClr val="38BDF8"/>
                </a:solidFill>
              </a:defRPr>
            </a:pPr>
            <a:r>
              <a:t>EVERY FRESHMAN'S STARTING POINT</a:t>
            </a:r>
          </a:p>
          <a:p>
            <a:pPr>
              <a:spcAft>
                <a:spcPts val="400"/>
              </a:spcAft>
              <a:defRPr sz="1500" b="1">
                <a:solidFill>
                  <a:srgbClr val="FFFFFF"/>
                </a:solidFill>
              </a:defRPr>
            </a:pPr>
            <a:r>
              <a:t>Freshman Universal Launchpads</a:t>
            </a:r>
          </a:p>
          <a:p>
            <a:pPr>
              <a:spcAft>
                <a:spcPts val="800"/>
              </a:spcAft>
              <a:defRPr sz="1100">
                <a:solidFill>
                  <a:srgbClr val="38BDF8"/>
                </a:solidFill>
              </a:defRPr>
            </a:pPr>
            <a:r>
              <a:t>Universal Freshman Adoption</a:t>
            </a:r>
          </a:p>
          <a:p>
            <a:pPr>
              <a:spcAft>
                <a:spcPts val="500"/>
              </a:spcAft>
              <a:defRPr sz="1150">
                <a:solidFill>
                  <a:srgbClr val="CBD5E1"/>
                </a:solidFill>
              </a:defRPr>
            </a:pPr>
            <a:r>
              <a:t>• Excel &amp; Data Analysis (excel_viz): Days 1-10 complete! Power Query, Pivot Tables, and Financial Modeling.</a:t>
            </a:r>
          </a:p>
          <a:p>
            <a:pPr>
              <a:spcAft>
                <a:spcPts val="500"/>
              </a:spcAft>
              <a:defRPr sz="1150">
                <a:solidFill>
                  <a:srgbClr val="CBD5E1"/>
                </a:solidFill>
              </a:defRPr>
            </a:pPr>
            <a:r>
              <a:t>• Computer Literacy &amp; OS (comp_fund): Linux terminal navigation, file systems, and productivity.</a:t>
            </a:r>
          </a:p>
          <a:p>
            <a:pPr>
              <a:spcAft>
                <a:spcPts val="500"/>
              </a:spcAft>
              <a:defRPr sz="1150">
                <a:solidFill>
                  <a:srgbClr val="CBD5E1"/>
                </a:solidFill>
              </a:defRPr>
            </a:pPr>
            <a:r>
              <a:t>• Git &amp; Version Control (git_vcs): Code collaboration, branching, pull requests, and GitHub portfolios.</a:t>
            </a:r>
          </a:p>
          <a:p>
            <a:pPr>
              <a:spcAft>
                <a:spcPts val="500"/>
              </a:spcAft>
              <a:defRPr sz="1150">
                <a:solidFill>
                  <a:srgbClr val="CBD5E1"/>
                </a:solidFill>
              </a:defRPr>
            </a:pPr>
            <a:r>
              <a:t>• Tech Soft Skills &amp; Interviews (soft_skills): Socratic STAR interview technique, executive presentation skills.</a:t>
            </a:r>
          </a:p>
          <a:p>
            <a:pPr>
              <a:spcAft>
                <a:spcPts val="500"/>
              </a:spcAft>
              <a:defRPr sz="1150">
                <a:solidFill>
                  <a:srgbClr val="CBD5E1"/>
                </a:solidFill>
              </a:defRPr>
            </a:pPr>
            <a:r>
              <a:t>• Role: Guarantees that every student builds baseline confidence in their very first semester.</a:t>
            </a:r>
          </a:p>
        </p:txBody>
      </p:sp>
      <p:sp>
        <p:nvSpPr>
          <p:cNvPr id="10" name="Rounded Rectangle 9"/>
          <p:cNvSpPr/>
          <p:nvPr/>
        </p:nvSpPr>
        <p:spPr>
          <a:xfrm>
            <a:off x="6217920" y="1645920"/>
            <a:ext cx="512064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874520"/>
            <a:ext cx="4663440" cy="3931920"/>
          </a:xfrm>
          <a:prstGeom prst="rect">
            <a:avLst/>
          </a:prstGeom>
          <a:noFill/>
        </p:spPr>
        <p:txBody>
          <a:bodyPr wrap="square">
            <a:spAutoFit/>
          </a:bodyPr>
          <a:lstStyle/>
          <a:p>
            <a:pPr>
              <a:spcAft>
                <a:spcPts val="200"/>
              </a:spcAft>
              <a:defRPr sz="1000" b="1">
                <a:solidFill>
                  <a:srgbClr val="A855F7"/>
                </a:solidFill>
              </a:defRPr>
            </a:pPr>
            <a:r>
              <a:t>CONNECTING SOFTWARE TO CHIPS</a:t>
            </a:r>
          </a:p>
          <a:p>
            <a:pPr>
              <a:spcAft>
                <a:spcPts val="400"/>
              </a:spcAft>
              <a:defRPr sz="1500" b="1">
                <a:solidFill>
                  <a:srgbClr val="FFFFFF"/>
                </a:solidFill>
              </a:defRPr>
            </a:pPr>
            <a:r>
              <a:t>IoT &amp; Silicon Hardware Systems</a:t>
            </a:r>
          </a:p>
          <a:p>
            <a:pPr>
              <a:spcAft>
                <a:spcPts val="800"/>
              </a:spcAft>
              <a:defRPr sz="1100">
                <a:solidFill>
                  <a:srgbClr val="38BDF8"/>
                </a:solidFill>
              </a:defRPr>
            </a:pPr>
            <a:r>
              <a:t>High Growth Hardware Career Tracks</a:t>
            </a:r>
          </a:p>
          <a:p>
            <a:pPr>
              <a:spcAft>
                <a:spcPts val="500"/>
              </a:spcAft>
              <a:defRPr sz="1150">
                <a:solidFill>
                  <a:srgbClr val="CBD5E1"/>
                </a:solidFill>
              </a:defRPr>
            </a:pPr>
            <a:r>
              <a:t>• Embedded Firmware (iot_emb): C++ bare-metal programming, hardware register control.</a:t>
            </a:r>
          </a:p>
          <a:p>
            <a:pPr>
              <a:spcAft>
                <a:spcPts val="500"/>
              </a:spcAft>
              <a:defRPr sz="1150">
                <a:solidFill>
                  <a:srgbClr val="CBD5E1"/>
                </a:solidFill>
              </a:defRPr>
            </a:pPr>
            <a:r>
              <a:t>• TinyML Edge AI (iot_edge): Running AI neural networks on tiny microcontrollers.</a:t>
            </a:r>
          </a:p>
          <a:p>
            <a:pPr>
              <a:spcAft>
                <a:spcPts val="500"/>
              </a:spcAft>
              <a:defRPr sz="1150">
                <a:solidFill>
                  <a:srgbClr val="CBD5E1"/>
                </a:solidFill>
              </a:defRPr>
            </a:pPr>
            <a:r>
              <a:t>• IoT Security &amp; Trust (iot_sec): Hardware root of trust, cryptographic secure boot.</a:t>
            </a:r>
          </a:p>
          <a:p>
            <a:pPr>
              <a:spcAft>
                <a:spcPts val="500"/>
              </a:spcAft>
              <a:defRPr sz="1150">
                <a:solidFill>
                  <a:srgbClr val="CBD5E1"/>
                </a:solidFill>
              </a:defRPr>
            </a:pPr>
            <a:r>
              <a:t>• IoT Networks (iot_net): Wireless radio protocols, 6LoWPAN, low-power sensor networks.</a:t>
            </a:r>
          </a:p>
          <a:p>
            <a:pPr>
              <a:spcAft>
                <a:spcPts val="500"/>
              </a:spcAft>
              <a:defRPr sz="1150">
                <a:solidFill>
                  <a:srgbClr val="CBD5E1"/>
                </a:solidFill>
              </a:defRPr>
            </a:pPr>
            <a:r>
              <a:t>• Market Opportunity: India's $50B semiconductor and electronics manufacturing revolution.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0" y="365760"/>
            <a:ext cx="1188720" cy="365760"/>
          </a:xfrm>
          <a:prstGeom prst="rect">
            <a:avLst/>
          </a:prstGeom>
          <a:noFill/>
        </p:spPr>
        <p:txBody>
          <a:bodyPr wrap="none">
            <a:spAutoFit/>
          </a:bodyPr>
          <a:lstStyle/>
          <a:p>
            <a:pPr algn="r">
              <a:defRPr sz="1100" b="1">
                <a:solidFill>
                  <a:srgbClr val="38BDF8"/>
                </a:solidFill>
              </a:defRPr>
            </a:pPr>
            <a:r>
              <a:t>SLIDE 10 / 10</a:t>
            </a:r>
          </a:p>
        </p:txBody>
      </p:sp>
      <p:sp>
        <p:nvSpPr>
          <p:cNvPr id="5" name="TextBox 4"/>
          <p:cNvSpPr txBox="1"/>
          <p:nvPr/>
        </p:nvSpPr>
        <p:spPr>
          <a:xfrm>
            <a:off x="731520" y="320040"/>
            <a:ext cx="8229600" cy="274320"/>
          </a:xfrm>
          <a:prstGeom prst="rect">
            <a:avLst/>
          </a:prstGeom>
          <a:noFill/>
        </p:spPr>
        <p:txBody>
          <a:bodyPr wrap="none">
            <a:spAutoFit/>
          </a:bodyPr>
          <a:lstStyle/>
          <a:p>
            <a:pPr>
              <a:defRPr sz="1100" b="1">
                <a:solidFill>
                  <a:srgbClr val="A855F7"/>
                </a:solidFill>
              </a:defRPr>
            </a:pPr>
            <a:r>
              <a:t>STRATEGIC EXECUTION &amp; COMMERCIALIZATION</a:t>
            </a:r>
          </a:p>
        </p:txBody>
      </p:sp>
      <p:sp>
        <p:nvSpPr>
          <p:cNvPr id="6" name="TextBox 5"/>
          <p:cNvSpPr txBox="1"/>
          <p:nvPr/>
        </p:nvSpPr>
        <p:spPr>
          <a:xfrm>
            <a:off x="731520" y="594360"/>
            <a:ext cx="9601200" cy="548640"/>
          </a:xfrm>
          <a:prstGeom prst="rect">
            <a:avLst/>
          </a:prstGeom>
          <a:noFill/>
        </p:spPr>
        <p:txBody>
          <a:bodyPr wrap="none">
            <a:spAutoFit/>
          </a:bodyPr>
          <a:lstStyle/>
          <a:p>
            <a:pPr>
              <a:defRPr sz="2200" b="1">
                <a:solidFill>
                  <a:srgbClr val="FFFFFF"/>
                </a:solidFill>
              </a:defRPr>
            </a:pPr>
            <a:r>
              <a:t>The Horizon: Finishing the Remaining 34% &amp; Campus Scale</a:t>
            </a:r>
          </a:p>
        </p:txBody>
      </p:sp>
      <p:sp>
        <p:nvSpPr>
          <p:cNvPr id="7" name="TextBox 6"/>
          <p:cNvSpPr txBox="1"/>
          <p:nvPr/>
        </p:nvSpPr>
        <p:spPr>
          <a:xfrm>
            <a:off x="731520" y="1115568"/>
            <a:ext cx="10515600" cy="365760"/>
          </a:xfrm>
          <a:prstGeom prst="rect">
            <a:avLst/>
          </a:prstGeom>
          <a:noFill/>
        </p:spPr>
        <p:txBody>
          <a:bodyPr wrap="none">
            <a:spAutoFit/>
          </a:bodyPr>
          <a:lstStyle/>
          <a:p>
            <a:pPr>
              <a:defRPr sz="1200">
                <a:solidFill>
                  <a:srgbClr val="94A3B8"/>
                </a:solidFill>
              </a:defRPr>
            </a:pPr>
            <a:r>
              <a:t>How We Are Scaling to 100% Platform Completion via Our Parallel Multi-Branch Engine</a:t>
            </a:r>
          </a:p>
        </p:txBody>
      </p:sp>
      <p:sp>
        <p:nvSpPr>
          <p:cNvPr id="8" name="Rounded Rectangle 7"/>
          <p:cNvSpPr/>
          <p:nvPr/>
        </p:nvSpPr>
        <p:spPr>
          <a:xfrm>
            <a:off x="731520" y="1645920"/>
            <a:ext cx="338328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20"/>
            <a:ext cx="2926080" cy="3931920"/>
          </a:xfrm>
          <a:prstGeom prst="rect">
            <a:avLst/>
          </a:prstGeom>
          <a:noFill/>
        </p:spPr>
        <p:txBody>
          <a:bodyPr wrap="square">
            <a:spAutoFit/>
          </a:bodyPr>
          <a:lstStyle/>
          <a:p>
            <a:pPr>
              <a:spcAft>
                <a:spcPts val="200"/>
              </a:spcAft>
              <a:defRPr sz="1000" b="1">
                <a:solidFill>
                  <a:srgbClr val="38BDF8"/>
                </a:solidFill>
              </a:defRPr>
            </a:pPr>
            <a:r>
              <a:t>CURRENT STREAM</a:t>
            </a:r>
          </a:p>
          <a:p>
            <a:pPr>
              <a:spcAft>
                <a:spcPts val="400"/>
              </a:spcAft>
              <a:defRPr sz="1500" b="1">
                <a:solidFill>
                  <a:srgbClr val="FFFFFF"/>
                </a:solidFill>
              </a:defRPr>
            </a:pPr>
            <a:r>
              <a:t>Branch A: Tech Launchpad</a:t>
            </a:r>
          </a:p>
          <a:p>
            <a:pPr>
              <a:spcAft>
                <a:spcPts val="800"/>
              </a:spcAft>
              <a:defRPr sz="1100">
                <a:solidFill>
                  <a:srgbClr val="38BDF8"/>
                </a:solidFill>
              </a:defRPr>
            </a:pPr>
            <a:r>
              <a:t>Completing Launchpad Tracks</a:t>
            </a:r>
          </a:p>
          <a:p>
            <a:pPr>
              <a:spcAft>
                <a:spcPts val="500"/>
              </a:spcAft>
              <a:defRPr sz="1150">
                <a:solidFill>
                  <a:srgbClr val="CBD5E1"/>
                </a:solidFill>
              </a:defRPr>
            </a:pPr>
            <a:r>
              <a:t>• Finishing Launchpad courses to Day 30 (95 Days total).</a:t>
            </a:r>
          </a:p>
          <a:p>
            <a:pPr>
              <a:spcAft>
                <a:spcPts val="500"/>
              </a:spcAft>
              <a:defRPr sz="1150">
                <a:solidFill>
                  <a:srgbClr val="CBD5E1"/>
                </a:solidFill>
              </a:defRPr>
            </a:pPr>
            <a:r>
              <a:t>• Excel Data Modeling: Days 11-30.</a:t>
            </a:r>
          </a:p>
          <a:p>
            <a:pPr>
              <a:spcAft>
                <a:spcPts val="500"/>
              </a:spcAft>
              <a:defRPr sz="1150">
                <a:solidFill>
                  <a:srgbClr val="CBD5E1"/>
                </a:solidFill>
              </a:defRPr>
            </a:pPr>
            <a:r>
              <a:t>• Git, Linux OS &amp; Soft Skills: Days 6-30.</a:t>
            </a:r>
          </a:p>
          <a:p>
            <a:pPr>
              <a:spcAft>
                <a:spcPts val="500"/>
              </a:spcAft>
              <a:defRPr sz="1150">
                <a:solidFill>
                  <a:srgbClr val="CBD5E1"/>
                </a:solidFill>
              </a:defRPr>
            </a:pPr>
            <a:r>
              <a:t>• Ensures universal Day-1 campus onboarding is 100% complete.</a:t>
            </a:r>
          </a:p>
        </p:txBody>
      </p:sp>
      <p:sp>
        <p:nvSpPr>
          <p:cNvPr id="10" name="Rounded Rectangle 9"/>
          <p:cNvSpPr/>
          <p:nvPr/>
        </p:nvSpPr>
        <p:spPr>
          <a:xfrm>
            <a:off x="4389120" y="1645920"/>
            <a:ext cx="338328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1874520"/>
            <a:ext cx="2926080" cy="3931920"/>
          </a:xfrm>
          <a:prstGeom prst="rect">
            <a:avLst/>
          </a:prstGeom>
          <a:noFill/>
        </p:spPr>
        <p:txBody>
          <a:bodyPr wrap="square">
            <a:spAutoFit/>
          </a:bodyPr>
          <a:lstStyle/>
          <a:p>
            <a:pPr>
              <a:spcAft>
                <a:spcPts val="200"/>
              </a:spcAft>
              <a:defRPr sz="1000" b="1">
                <a:solidFill>
                  <a:srgbClr val="34D399"/>
                </a:solidFill>
              </a:defRPr>
            </a:pPr>
            <a:r>
              <a:t>NEW SUB-STREAM</a:t>
            </a:r>
          </a:p>
          <a:p>
            <a:pPr>
              <a:spcAft>
                <a:spcPts val="400"/>
              </a:spcAft>
              <a:defRPr sz="1500" b="1">
                <a:solidFill>
                  <a:srgbClr val="FFFFFF"/>
                </a:solidFill>
              </a:defRPr>
            </a:pPr>
            <a:r>
              <a:t>Branch B: Commerce &amp; IoT</a:t>
            </a:r>
          </a:p>
          <a:p>
            <a:pPr>
              <a:spcAft>
                <a:spcPts val="800"/>
              </a:spcAft>
              <a:defRPr sz="1100">
                <a:solidFill>
                  <a:srgbClr val="38BDF8"/>
                </a:solidFill>
              </a:defRPr>
            </a:pPr>
            <a:r>
              <a:t>Expanding Mass-Market Tracks</a:t>
            </a:r>
          </a:p>
          <a:p>
            <a:pPr>
              <a:spcAft>
                <a:spcPts val="500"/>
              </a:spcAft>
              <a:defRPr sz="1150">
                <a:solidFill>
                  <a:srgbClr val="CBD5E1"/>
                </a:solidFill>
              </a:defRPr>
            </a:pPr>
            <a:r>
              <a:t>• Completing 14 Commerce &amp; 4 IoT tracks from Day 6 to 30 (450 Days).</a:t>
            </a:r>
          </a:p>
          <a:p>
            <a:pPr>
              <a:spcAft>
                <a:spcPts val="500"/>
              </a:spcAft>
              <a:defRPr sz="1150">
                <a:solidFill>
                  <a:srgbClr val="CBD5E1"/>
                </a:solidFill>
              </a:defRPr>
            </a:pPr>
            <a:r>
              <a:t>• Zero-Collision Guarantee: Runs in an isolated workspace with zero git conflicts.</a:t>
            </a:r>
          </a:p>
          <a:p>
            <a:pPr>
              <a:spcAft>
                <a:spcPts val="500"/>
              </a:spcAft>
              <a:defRPr sz="1150">
                <a:solidFill>
                  <a:srgbClr val="CBD5E1"/>
                </a:solidFill>
              </a:defRPr>
            </a:pPr>
            <a:r>
              <a:t>• Unlocks the massive 60% non-engineering campus market.</a:t>
            </a:r>
          </a:p>
        </p:txBody>
      </p:sp>
      <p:sp>
        <p:nvSpPr>
          <p:cNvPr id="12" name="Rounded Rectangle 11"/>
          <p:cNvSpPr/>
          <p:nvPr/>
        </p:nvSpPr>
        <p:spPr>
          <a:xfrm>
            <a:off x="8046720" y="1645920"/>
            <a:ext cx="3383280" cy="4389120"/>
          </a:xfrm>
          <a:prstGeom prst="roundRect">
            <a:avLst/>
          </a:prstGeom>
          <a:solidFill>
            <a:srgbClr val="1E293B"/>
          </a:solidFill>
          <a:ln w="1524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20" y="1874520"/>
            <a:ext cx="2926080" cy="3931920"/>
          </a:xfrm>
          <a:prstGeom prst="rect">
            <a:avLst/>
          </a:prstGeom>
          <a:noFill/>
        </p:spPr>
        <p:txBody>
          <a:bodyPr wrap="square">
            <a:spAutoFit/>
          </a:bodyPr>
          <a:lstStyle/>
          <a:p>
            <a:pPr>
              <a:spcAft>
                <a:spcPts val="200"/>
              </a:spcAft>
              <a:defRPr sz="1000" b="1">
                <a:solidFill>
                  <a:srgbClr val="FBBF24"/>
                </a:solidFill>
              </a:defRPr>
            </a:pPr>
            <a:r>
              <a:t>ENTERPRISE B2B</a:t>
            </a:r>
          </a:p>
          <a:p>
            <a:pPr>
              <a:spcAft>
                <a:spcPts val="400"/>
              </a:spcAft>
              <a:defRPr sz="1500" b="1">
                <a:solidFill>
                  <a:srgbClr val="FFFFFF"/>
                </a:solidFill>
              </a:defRPr>
            </a:pPr>
            <a:r>
              <a:t>Branch C: Campus Platform</a:t>
            </a:r>
          </a:p>
          <a:p>
            <a:pPr>
              <a:spcAft>
                <a:spcPts val="800"/>
              </a:spcAft>
              <a:defRPr sz="1100">
                <a:solidFill>
                  <a:srgbClr val="38BDF8"/>
                </a:solidFill>
              </a:defRPr>
            </a:pPr>
            <a:r>
              <a:t>Institutional Enterprise B2B SaaS</a:t>
            </a:r>
          </a:p>
          <a:p>
            <a:pPr>
              <a:spcAft>
                <a:spcPts val="500"/>
              </a:spcAft>
              <a:defRPr sz="1150">
                <a:solidFill>
                  <a:srgbClr val="CBD5E1"/>
                </a:solidFill>
              </a:defRPr>
            </a:pPr>
            <a:r>
              <a:t>• Campus Admin Portal: Student admissions, fee management &amp; audit reporting.</a:t>
            </a:r>
          </a:p>
          <a:p>
            <a:pPr>
              <a:spcAft>
                <a:spcPts val="500"/>
              </a:spcAft>
              <a:defRPr sz="1150">
                <a:solidFill>
                  <a:srgbClr val="CBD5E1"/>
                </a:solidFill>
              </a:defRPr>
            </a:pPr>
            <a:r>
              <a:t>• Faculty Portal: Automated assignment grading &amp; live student radar.</a:t>
            </a:r>
          </a:p>
          <a:p>
            <a:pPr>
              <a:spcAft>
                <a:spcPts val="500"/>
              </a:spcAft>
              <a:defRPr sz="1150">
                <a:solidFill>
                  <a:srgbClr val="CBD5E1"/>
                </a:solidFill>
              </a:defRPr>
            </a:pPr>
            <a:r>
              <a:t>• Commercial Model: Annual university enterprise SaaS license ($50k-$200k/campus).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