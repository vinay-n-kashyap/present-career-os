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shareholders. If you're new to PinIT Career OS, here is our core premise: Higher education is experiencing an employability crisis. Universities teach outdated theory, and online video courses fail because 90% of students drop out. PinIT solves this. We are an all-in-one Career Operating System that replaces passive videos with hands-on practice, AI pair-programming, and real company projects. Over 1,045 training days are already built and live on our platform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02 is our first flagship fullstack course: Full-Stack React and Next.js Web Development. We teach modern React 19 and Next.js App Router. Unlike bootcamps that teach simple todo apps, our students build virtualized 100,000-row data grids, debug server hydration mismatches, and deploy a full SaaS platform. This course is 100% built, tested, and live with 30 comprehensive days.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20 is our second flagship fullstack course: Python Programming and Backend Systems. Python is the universal language of AI and backend microservices. In 30 days, students build high-speed FastAPI services, manage PostgreSQL database pools, and architect async task queues. Their capstone is a distributed background job queue that proves their backend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courses form the operational backbone of modern engineering: Java for enterprise banking backends, Node.js for high-throughput APIs, AWS for cloud hosting, DevOps for automated Kubernetes delivery, and Design Systems for accessible UI. All five are 100% built and live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our deep computer science moat: Data Structures, Mobile, Cybersecurity, Database Internals, and Distributed Systems. In Course 10, students study how B+ trees split and write to disk. In Course 11, they implement the Raft consensus algorithm. This is why our students stand out from standard bootcamp graduates who only know surface-level frontend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contains our highest-margin, elite disciplines. Course 21 is Quantitative Systems—teaching high-frequency trading in C++ with 41.8-nanosecond matching. Prop shops pay Rs 40 to 80 Lakh starting packages for this skill. Meanwhile, Course 12 and 37 cover modern AI, LLMs, and Transformers. These courses position PinIT as an elite institution partner.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is investing over $50 Billion into semiconductor manufacturing and hardware design. These four courses—Embedded MCU, Edge AI TinyML, Wireless IoT, and Hardware Root of Trust—connect our students directly to physical chips. Days 1 through 5 are live today, and our Branch B sub-agents are expanding Days 6 through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60% of university students are enrolled in Commerce, BBA, and MBA programs. We have brought the exact same interactive simulation rigor to business education. Students use our LedgerSheet engine to balance books, run DCF valuations, and model supply chain inventory. This unlocks massive enterprise software sales to business colleges.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businesses run on growth and digital transformation. In these courses, students learn programmatic ad attribution, two-sided marketplace take rates, B2B enterprise sales pipelines, and process mining. When graduates interview at fast-growing companies, they already understand customer acquisition economics and revenue pipelines.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Every student starts in our universal launchpad—mastering Excel, Linux, Git, and Interview Communication. And with our 3-branch parallel execution architecture, we are rapidly finishing the remaining 34% of the curriculum while deploying our university administrative software. We have built the definitive operating system for higher education. Thank you,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EXECUTIVE BRIEFING</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01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PinIT Career OS: The All-In-One Campus Career Operating System</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Transforming University Students into Hireable Professionals Through Active In-Browser Learning &amp; Proof-of-Work</a:t>
            </a:r>
          </a:p>
        </p:txBody>
      </p:sp>
      <p:sp>
        <p:nvSpPr>
          <p:cNvPr id="7" name="Rounded Rectangle 6"/>
          <p:cNvSpPr/>
          <p:nvPr/>
        </p:nvSpPr>
        <p:spPr>
          <a:xfrm>
            <a:off x="731520" y="1600200"/>
            <a:ext cx="3291840" cy="1554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3400" b="1">
                <a:solidFill>
                  <a:srgbClr val="2563EB"/>
                </a:solidFill>
              </a:defRPr>
            </a:pPr>
            <a:r>
              <a:t>37</a:t>
            </a:r>
          </a:p>
          <a:p>
            <a:pPr>
              <a:defRPr sz="1100" b="1">
                <a:solidFill>
                  <a:srgbClr val="0F172A"/>
                </a:solidFill>
              </a:defRPr>
            </a:pPr>
            <a:r>
              <a:t>MASTER COURSES</a:t>
            </a:r>
          </a:p>
          <a:p>
            <a:pPr>
              <a:defRPr sz="950">
                <a:solidFill>
                  <a:srgbClr val="64748B"/>
                </a:solidFill>
              </a:defRPr>
            </a:pPr>
            <a:r>
              <a:t>Complete multi-disciplinary curriculum across Tech, AI, Cloud, Hardware &amp; 14 Commerce Tracks.</a:t>
            </a:r>
          </a:p>
        </p:txBody>
      </p:sp>
      <p:sp>
        <p:nvSpPr>
          <p:cNvPr id="8" name="Rounded Rectangle 7"/>
          <p:cNvSpPr/>
          <p:nvPr/>
        </p:nvSpPr>
        <p:spPr>
          <a:xfrm>
            <a:off x="4389120" y="1600200"/>
            <a:ext cx="3291840" cy="15544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3400" b="1">
                <a:solidFill>
                  <a:srgbClr val="059669"/>
                </a:solidFill>
              </a:defRPr>
            </a:pPr>
            <a:r>
              <a:t>1,045</a:t>
            </a:r>
          </a:p>
          <a:p>
            <a:pPr>
              <a:defRPr sz="1100" b="1">
                <a:solidFill>
                  <a:srgbClr val="0F172A"/>
                </a:solidFill>
              </a:defRPr>
            </a:pPr>
            <a:r>
              <a:t>DAYS BUILT &amp; LIVE</a:t>
            </a:r>
          </a:p>
          <a:p>
            <a:pPr>
              <a:defRPr sz="950">
                <a:solidFill>
                  <a:srgbClr val="64748B"/>
                </a:solidFill>
              </a:defRPr>
            </a:pPr>
            <a:r>
              <a:t>65.7% of full 30-day foundation curriculum built, verified with tests, and running live.</a:t>
            </a:r>
          </a:p>
        </p:txBody>
      </p:sp>
      <p:sp>
        <p:nvSpPr>
          <p:cNvPr id="9" name="Rounded Rectangle 8"/>
          <p:cNvSpPr/>
          <p:nvPr/>
        </p:nvSpPr>
        <p:spPr>
          <a:xfrm>
            <a:off x="8138160" y="1600200"/>
            <a:ext cx="3291840" cy="15544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3400" b="1">
                <a:solidFill>
                  <a:srgbClr val="7C3AED"/>
                </a:solidFill>
              </a:defRPr>
            </a:pPr>
            <a:r>
              <a:t>990</a:t>
            </a:r>
          </a:p>
          <a:p>
            <a:pPr>
              <a:defRPr sz="1100" b="1">
                <a:solidFill>
                  <a:srgbClr val="0F172A"/>
                </a:solidFill>
              </a:defRPr>
            </a:pPr>
            <a:r>
              <a:t>VISUAL SIMULATORS</a:t>
            </a:r>
          </a:p>
          <a:p>
            <a:pPr>
              <a:defRPr sz="950">
                <a:solidFill>
                  <a:srgbClr val="64748B"/>
                </a:solidFill>
              </a:defRPr>
            </a:pPr>
            <a:r>
              <a:t>17 proprietary visual engines replacing passive video dropouts with active browser practice.</a:t>
            </a:r>
          </a:p>
        </p:txBody>
      </p:sp>
      <p:sp>
        <p:nvSpPr>
          <p:cNvPr id="10" name="Rounded Rectangle 9"/>
          <p:cNvSpPr/>
          <p:nvPr/>
        </p:nvSpPr>
        <p:spPr>
          <a:xfrm>
            <a:off x="731520" y="3383280"/>
            <a:ext cx="5120640" cy="292608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DC2626"/>
                </a:solidFill>
              </a:defRPr>
            </a:pPr>
            <a:r>
              <a:t>[THE PROBLEM] The College Employability Crisis</a:t>
            </a:r>
          </a:p>
          <a:p>
            <a:pPr>
              <a:spcAft>
                <a:spcPts val="300"/>
              </a:spcAft>
              <a:defRPr sz="1050">
                <a:solidFill>
                  <a:srgbClr val="334155"/>
                </a:solidFill>
              </a:defRPr>
            </a:pPr>
            <a:r>
              <a:t>• Outdated Theory: Universities teach theory from textbooks written 10 years ago.</a:t>
            </a:r>
          </a:p>
          <a:p>
            <a:pPr>
              <a:spcAft>
                <a:spcPts val="300"/>
              </a:spcAft>
              <a:defRPr sz="1050">
                <a:solidFill>
                  <a:srgbClr val="334155"/>
                </a:solidFill>
              </a:defRPr>
            </a:pPr>
            <a:r>
              <a:t>• 90% Video Dropout: MOOCs (Coursera, Udemy) fail because watching passive videos is boring.</a:t>
            </a:r>
          </a:p>
          <a:p>
            <a:pPr>
              <a:spcAft>
                <a:spcPts val="300"/>
              </a:spcAft>
              <a:defRPr sz="1050">
                <a:solidFill>
                  <a:srgbClr val="334155"/>
                </a:solidFill>
              </a:defRPr>
            </a:pPr>
            <a:r>
              <a:t>• Unemployable Graduates: Over 80% fail basic practical coding and financial interviews.</a:t>
            </a:r>
          </a:p>
          <a:p>
            <a:pPr>
              <a:spcAft>
                <a:spcPts val="300"/>
              </a:spcAft>
              <a:defRPr sz="1050">
                <a:solidFill>
                  <a:srgbClr val="334155"/>
                </a:solidFill>
              </a:defRPr>
            </a:pPr>
            <a:r>
              <a:t>• Campus Software Sprawl: Colleges waste $60k-$130k/yr on disconnected LMS and testing tools.</a:t>
            </a:r>
          </a:p>
        </p:txBody>
      </p:sp>
      <p:sp>
        <p:nvSpPr>
          <p:cNvPr id="11" name="Rounded Rectangle 10"/>
          <p:cNvSpPr/>
          <p:nvPr/>
        </p:nvSpPr>
        <p:spPr>
          <a:xfrm>
            <a:off x="6217920" y="3383280"/>
            <a:ext cx="5212080" cy="2926080"/>
          </a:xfrm>
          <a:prstGeom prst="roundRect">
            <a:avLst/>
          </a:prstGeom>
          <a:solidFill>
            <a:srgbClr val="ECFDF5"/>
          </a:solidFill>
          <a:ln w="1524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059669"/>
                </a:solidFill>
              </a:defRPr>
            </a:pPr>
            <a:r>
              <a:t>[THE SOLUTION] The PinIT Sovereign Engine</a:t>
            </a:r>
          </a:p>
          <a:p>
            <a:pPr>
              <a:spcAft>
                <a:spcPts val="300"/>
              </a:spcAft>
              <a:defRPr sz="1050">
                <a:solidFill>
                  <a:srgbClr val="334155"/>
                </a:solidFill>
              </a:defRPr>
            </a:pPr>
            <a:r>
              <a:t>• All-In-One Platform: Integrates curriculum, browser sandboxes, AI mentors &amp; hiring into 1 app.</a:t>
            </a:r>
          </a:p>
          <a:p>
            <a:pPr>
              <a:spcAft>
                <a:spcPts val="300"/>
              </a:spcAft>
              <a:defRPr sz="1050">
                <a:solidFill>
                  <a:srgbClr val="334155"/>
                </a:solidFill>
              </a:defRPr>
            </a:pPr>
            <a:r>
              <a:t>• Active Learn-By-Doing: Students write real code &amp; balance ledgers in browser every 5 minutes.</a:t>
            </a:r>
          </a:p>
          <a:p>
            <a:pPr>
              <a:spcAft>
                <a:spcPts val="300"/>
              </a:spcAft>
              <a:defRPr sz="1050">
                <a:solidFill>
                  <a:srgbClr val="334155"/>
                </a:solidFill>
              </a:defRPr>
            </a:pPr>
            <a:r>
              <a:t>• 24/7 Voice AI Mentors: Personal senior pair-programmers guiding students in real time.</a:t>
            </a:r>
          </a:p>
          <a:p>
            <a:pPr>
              <a:spcAft>
                <a:spcPts val="300"/>
              </a:spcAft>
              <a:defRPr sz="1050">
                <a:solidFill>
                  <a:srgbClr val="334155"/>
                </a:solidFill>
              </a:defRPr>
            </a:pPr>
            <a:r>
              <a:t>• Verifiable Proof-of-Work: Real GitHub repositories and code telemetry recruiters trust.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FLAGSHIP FULLSTACK TRACK 1</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02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Course 02: Full-Stack React &amp; Next.js Web Development</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Training Industry-Ready Frontend &amp; Fullstack Web Architects on Modern React 19 &amp; Next.js App Router</a:t>
            </a:r>
          </a:p>
        </p:txBody>
      </p:sp>
      <p:sp>
        <p:nvSpPr>
          <p:cNvPr id="7" name="Rounded Rectangle 6"/>
          <p:cNvSpPr/>
          <p:nvPr/>
        </p:nvSpPr>
        <p:spPr>
          <a:xfrm>
            <a:off x="731520" y="1600200"/>
            <a:ext cx="512064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02: Full-Stack React Web Development</a:t>
            </a:r>
          </a:p>
          <a:p>
            <a:pPr>
              <a:spcAft>
                <a:spcPts val="300"/>
              </a:spcAft>
              <a:defRPr sz="850" b="1">
                <a:solidFill>
                  <a:srgbClr val="059669"/>
                </a:solidFill>
              </a:defRPr>
            </a:pPr>
            <a:r>
              <a:t>[🟢 100% COMPLETE &amp; LIVE (30/30 DAYS • 96 QUESTS)]</a:t>
            </a:r>
          </a:p>
          <a:p>
            <a:pPr>
              <a:spcAft>
                <a:spcPts val="200"/>
              </a:spcAft>
              <a:defRPr sz="950">
                <a:solidFill>
                  <a:srgbClr val="334155"/>
                </a:solidFill>
              </a:defRPr>
            </a:pPr>
            <a:r>
              <a:t>• What We Teach: React 19, JSX, Custom Hooks, Next.js App Router, React Server Components (RSC), Flight RPC serialization, Server Actions, Edge Middleware, CSS Grid/Tailwind, and Suspense streaming SSR.</a:t>
            </a:r>
          </a:p>
          <a:p>
            <a:pPr>
              <a:spcAft>
                <a:spcPts val="200"/>
              </a:spcAft>
              <a:defRPr sz="950">
                <a:solidFill>
                  <a:srgbClr val="2563EB"/>
                </a:solidFill>
              </a:defRPr>
            </a:pPr>
            <a:r>
              <a:t>• How We Teach: Active In-Browser Development Canvas: Students write real TypeScript, inspect live DOM component trees via our ComponentTree visual engine, and triage intentional production SSR hydration mismatches in the browser.</a:t>
            </a:r>
          </a:p>
          <a:p>
            <a:pPr>
              <a:defRPr sz="900">
                <a:solidFill>
                  <a:srgbClr val="64748B"/>
                </a:solidFill>
              </a:defRPr>
            </a:pPr>
            <a:r>
              <a:t>• Career &amp; Salary: Senior Full-Stack Engineer, Frontend Architect, React Platform Lead (Starting Salary: Rs 14–25 LPA / $120k–$160k).</a:t>
            </a:r>
          </a:p>
        </p:txBody>
      </p:sp>
      <p:sp>
        <p:nvSpPr>
          <p:cNvPr id="8" name="Rounded Rectangle 7"/>
          <p:cNvSpPr/>
          <p:nvPr/>
        </p:nvSpPr>
        <p:spPr>
          <a:xfrm>
            <a:off x="6217920" y="1600200"/>
            <a:ext cx="521208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spcAft>
                <a:spcPts val="600"/>
              </a:spcAft>
              <a:defRPr sz="1300" b="1">
                <a:solidFill>
                  <a:srgbClr val="2563EB"/>
                </a:solidFill>
              </a:defRPr>
            </a:pPr>
            <a:r>
              <a:t>WHAT STUDENTS BUILD: 30-DAY MILESTONE ROADMAP</a:t>
            </a:r>
          </a:p>
          <a:p>
            <a:pPr>
              <a:spcAft>
                <a:spcPts val="400"/>
              </a:spcAft>
              <a:defRPr sz="1000">
                <a:solidFill>
                  <a:srgbClr val="334155"/>
                </a:solidFill>
              </a:defRPr>
            </a:pPr>
            <a:r>
              <a:t>• Days 1–5: Component Architecture &amp; State Invariants (Pure functions, immutable state updates, unmount cleanup).</a:t>
            </a:r>
          </a:p>
          <a:p>
            <a:pPr>
              <a:spcAft>
                <a:spcPts val="400"/>
              </a:spcAft>
              <a:defRPr sz="1000">
                <a:solidFill>
                  <a:srgbClr val="334155"/>
                </a:solidFill>
              </a:defRPr>
            </a:pPr>
            <a:r>
              <a:t>• Days 6–10: High-Performance Data Grids (Virtual scrolling, 100k-row rendering, synthetic event debouncing).</a:t>
            </a:r>
          </a:p>
          <a:p>
            <a:pPr>
              <a:spcAft>
                <a:spcPts val="400"/>
              </a:spcAft>
              <a:defRPr sz="1000">
                <a:solidFill>
                  <a:srgbClr val="334155"/>
                </a:solidFill>
              </a:defRPr>
            </a:pPr>
            <a:r>
              <a:t>• Days 11–15: Server-Side Rendering &amp; Flight Protocol (Streaming HTML hydration, zero-bundle-size Server Components).</a:t>
            </a:r>
          </a:p>
          <a:p>
            <a:pPr>
              <a:spcAft>
                <a:spcPts val="400"/>
              </a:spcAft>
              <a:defRPr sz="1000">
                <a:solidFill>
                  <a:srgbClr val="334155"/>
                </a:solidFill>
              </a:defRPr>
            </a:pPr>
            <a:r>
              <a:t>• Days 16–20: Modern Edge Routing &amp; Middleware (App router parallel routes, intercepting modals, edge geo-redirects).</a:t>
            </a:r>
          </a:p>
          <a:p>
            <a:pPr>
              <a:spcAft>
                <a:spcPts val="400"/>
              </a:spcAft>
              <a:defRPr sz="1000">
                <a:solidFill>
                  <a:srgbClr val="334155"/>
                </a:solidFill>
              </a:defRPr>
            </a:pPr>
            <a:r>
              <a:t>• Days 21–25: State Synchronization &amp; Optimistic UI (Server actions, form optimistic mutation rollbacks, React cache).</a:t>
            </a:r>
          </a:p>
          <a:p>
            <a:pPr>
              <a:spcAft>
                <a:spcPts val="400"/>
              </a:spcAft>
              <a:defRPr sz="1000">
                <a:solidFill>
                  <a:srgbClr val="334155"/>
                </a:solidFill>
              </a:defRPr>
            </a:pPr>
            <a:r>
              <a:t>• Days 26–30 &amp; Capstone: Sovereign Cloud Analytics Workspace (Production Next.js 19 SaaS with real GitHub Proof-of-Work!).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FLAGSHIP FULLSTACK TRACK 2</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03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Course 20: Python Programming &amp; Backend Systems</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Engineering Resilient High-Throughput APIs, Distributed Microservices, and Async Data Pipelines</a:t>
            </a:r>
          </a:p>
        </p:txBody>
      </p:sp>
      <p:sp>
        <p:nvSpPr>
          <p:cNvPr id="7" name="Rounded Rectangle 6"/>
          <p:cNvSpPr/>
          <p:nvPr/>
        </p:nvSpPr>
        <p:spPr>
          <a:xfrm>
            <a:off x="731520" y="1600200"/>
            <a:ext cx="512064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20: Python Programming &amp; Backend Systems</a:t>
            </a:r>
          </a:p>
          <a:p>
            <a:pPr>
              <a:spcAft>
                <a:spcPts val="300"/>
              </a:spcAft>
              <a:defRPr sz="850" b="1">
                <a:solidFill>
                  <a:srgbClr val="059669"/>
                </a:solidFill>
              </a:defRPr>
            </a:pPr>
            <a:r>
              <a:t>[🟢 100% COMPLETE &amp; LIVE (30/30 DAYS • 90 QUESTS)]</a:t>
            </a:r>
          </a:p>
          <a:p>
            <a:pPr>
              <a:spcAft>
                <a:spcPts val="200"/>
              </a:spcAft>
              <a:defRPr sz="950">
                <a:solidFill>
                  <a:srgbClr val="334155"/>
                </a:solidFill>
              </a:defRPr>
            </a:pPr>
            <a:r>
              <a:t>• What We Teach: Python 3.12 syntax, memory pointers, GIL mechanics, asyncio event loop scheduling, non-blocking sockets, FastAPI REST microservices, Pydantic v2 schemas, SQLAlchemy 2.0 async connection pooling, Redis caching, and distributed worker queues.</a:t>
            </a:r>
          </a:p>
          <a:p>
            <a:pPr>
              <a:spcAft>
                <a:spcPts val="200"/>
              </a:spcAft>
              <a:defRPr sz="950">
                <a:solidFill>
                  <a:srgbClr val="2563EB"/>
                </a:solidFill>
              </a:defRPr>
            </a:pPr>
            <a:r>
              <a:t>• How We Teach: Live Async Execution Engine: Students write real Python code in the browser, simulate asynchronous coroutine event loops, triage PostgreSQL deadlocks, and benchmark API throughput under simulated traffic surges.</a:t>
            </a:r>
          </a:p>
          <a:p>
            <a:pPr>
              <a:defRPr sz="900">
                <a:solidFill>
                  <a:srgbClr val="64748B"/>
                </a:solidFill>
              </a:defRPr>
            </a:pPr>
            <a:r>
              <a:t>• Career &amp; Salary: Senior Backend Engineer, Python Systems Architect, Cloud Microservices Lead (Starting Salary: Rs 14–26 LPA / $130k–$175k).</a:t>
            </a:r>
          </a:p>
        </p:txBody>
      </p:sp>
      <p:sp>
        <p:nvSpPr>
          <p:cNvPr id="8" name="Rounded Rectangle 7"/>
          <p:cNvSpPr/>
          <p:nvPr/>
        </p:nvSpPr>
        <p:spPr>
          <a:xfrm>
            <a:off x="6217920" y="1600200"/>
            <a:ext cx="5212080" cy="47548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spcAft>
                <a:spcPts val="600"/>
              </a:spcAft>
              <a:defRPr sz="1300" b="1">
                <a:solidFill>
                  <a:srgbClr val="059669"/>
                </a:solidFill>
              </a:defRPr>
            </a:pPr>
            <a:r>
              <a:t>WHAT STUDENTS BUILD: 30-DAY MILESTONE ROADMAP</a:t>
            </a:r>
          </a:p>
          <a:p>
            <a:pPr>
              <a:spcAft>
                <a:spcPts val="400"/>
              </a:spcAft>
              <a:defRPr sz="1000">
                <a:solidFill>
                  <a:srgbClr val="334155"/>
                </a:solidFill>
              </a:defRPr>
            </a:pPr>
            <a:r>
              <a:t>• Days 1–5: Pythonic Internals &amp; Memory Architecture (Dunder methods, memory references, garbage collection cycles).</a:t>
            </a:r>
          </a:p>
          <a:p>
            <a:pPr>
              <a:spcAft>
                <a:spcPts val="400"/>
              </a:spcAft>
              <a:defRPr sz="1000">
                <a:solidFill>
                  <a:srgbClr val="334155"/>
                </a:solidFill>
              </a:defRPr>
            </a:pPr>
            <a:r>
              <a:t>• Days 6–10: High-Performance AsyncIO (Event loop scheduling, cooperative multitasking, non-blocking network sockets).</a:t>
            </a:r>
          </a:p>
          <a:p>
            <a:pPr>
              <a:spcAft>
                <a:spcPts val="400"/>
              </a:spcAft>
              <a:defRPr sz="1000">
                <a:solidFill>
                  <a:srgbClr val="334155"/>
                </a:solidFill>
              </a:defRPr>
            </a:pPr>
            <a:r>
              <a:t>• Days 11–15: Production FastAPI Architecture (Dependency injection, Pydantic data schemas, automated OpenAPI docs).</a:t>
            </a:r>
          </a:p>
          <a:p>
            <a:pPr>
              <a:spcAft>
                <a:spcPts val="400"/>
              </a:spcAft>
              <a:defRPr sz="1000">
                <a:solidFill>
                  <a:srgbClr val="334155"/>
                </a:solidFill>
              </a:defRPr>
            </a:pPr>
            <a:r>
              <a:t>• Days 16–20: Relational Database Engineering (SQLAlchemy async ORM, connection pool tuning, transaction ACID isolation).</a:t>
            </a:r>
          </a:p>
          <a:p>
            <a:pPr>
              <a:spcAft>
                <a:spcPts val="400"/>
              </a:spcAft>
              <a:defRPr sz="1000">
                <a:solidFill>
                  <a:srgbClr val="334155"/>
                </a:solidFill>
              </a:defRPr>
            </a:pPr>
            <a:r>
              <a:t>• Days 21–25: Distributed Caching &amp; Security (Redis cache invalidation, JWT token blacklisting, rate-limiting algorithms).</a:t>
            </a:r>
          </a:p>
          <a:p>
            <a:pPr>
              <a:spcAft>
                <a:spcPts val="400"/>
              </a:spcAft>
              <a:defRPr sz="1000">
                <a:solidFill>
                  <a:srgbClr val="334155"/>
                </a:solidFill>
              </a:defRPr>
            </a:pPr>
            <a:r>
              <a:t>• Days 26–30 &amp; Capstone: Sovereign Distributed Job Queue (Asynchronous worker cluster with exponential retry and PostgreSQL ledger!).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ENTERPRISE INFRASTRUCTURE</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04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Core Software &amp; Cloud Engineering (Courses 01, 03, 04, 05, 06)</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5 Foundation Tracks Transforming Beginners into Enterprise Infrastructure Engineers (100% Live)</a:t>
            </a:r>
          </a:p>
        </p:txBody>
      </p:sp>
      <p:sp>
        <p:nvSpPr>
          <p:cNvPr id="7" name="Rounded Rectangle 6"/>
          <p:cNvSpPr/>
          <p:nvPr/>
        </p:nvSpPr>
        <p:spPr>
          <a:xfrm>
            <a:off x="73152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01: Java Fundamentals &amp; Core Logic</a:t>
            </a:r>
          </a:p>
          <a:p>
            <a:pPr>
              <a:spcAft>
                <a:spcPts val="300"/>
              </a:spcAft>
              <a:defRPr sz="850" b="1">
                <a:solidFill>
                  <a:srgbClr val="059669"/>
                </a:solidFill>
              </a:defRPr>
            </a:pPr>
            <a:r>
              <a:t>[🟢 100% LIVE (30 DAYS)]</a:t>
            </a:r>
          </a:p>
          <a:p>
            <a:pPr>
              <a:spcAft>
                <a:spcPts val="200"/>
              </a:spcAft>
              <a:defRPr sz="950">
                <a:solidFill>
                  <a:srgbClr val="334155"/>
                </a:solidFill>
              </a:defRPr>
            </a:pPr>
            <a:r>
              <a:t>• What We Teach: Java 21 LTS syntax, OOP encapsulation, stack/heap memory, try-with-resources, Project Loom virtual threads.</a:t>
            </a:r>
          </a:p>
          <a:p>
            <a:pPr>
              <a:spcAft>
                <a:spcPts val="200"/>
              </a:spcAft>
              <a:defRPr sz="950">
                <a:solidFill>
                  <a:srgbClr val="2563EB"/>
                </a:solidFill>
              </a:defRPr>
            </a:pPr>
            <a:r>
              <a:t>• How We Teach: JVM Bytecode Simulator: Students inspect stack frames and simulate virtual thread context switches.</a:t>
            </a:r>
          </a:p>
          <a:p>
            <a:pPr>
              <a:defRPr sz="900">
                <a:solidFill>
                  <a:srgbClr val="64748B"/>
                </a:solidFill>
              </a:defRPr>
            </a:pPr>
            <a:r>
              <a:t>• Career &amp; Salary: Java Enterprise Developer (Rs 10–20 LPA).</a:t>
            </a:r>
          </a:p>
        </p:txBody>
      </p:sp>
      <p:sp>
        <p:nvSpPr>
          <p:cNvPr id="8" name="Rounded Rectangle 7"/>
          <p:cNvSpPr/>
          <p:nvPr/>
        </p:nvSpPr>
        <p:spPr>
          <a:xfrm>
            <a:off x="4389120" y="16002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03: Node.js &amp; TypeScript Backend</a:t>
            </a:r>
          </a:p>
          <a:p>
            <a:pPr>
              <a:spcAft>
                <a:spcPts val="300"/>
              </a:spcAft>
              <a:defRPr sz="850" b="1">
                <a:solidFill>
                  <a:srgbClr val="059669"/>
                </a:solidFill>
              </a:defRPr>
            </a:pPr>
            <a:r>
              <a:t>[🟢 100% LIVE (30 DAYS)]</a:t>
            </a:r>
          </a:p>
          <a:p>
            <a:pPr>
              <a:spcAft>
                <a:spcPts val="200"/>
              </a:spcAft>
              <a:defRPr sz="950">
                <a:solidFill>
                  <a:srgbClr val="334155"/>
                </a:solidFill>
              </a:defRPr>
            </a:pPr>
            <a:r>
              <a:t>• What We Teach: Node.js event loop, libuv microtask queues, stream pipelines, TypeScript enterprise schemas, JWT auth.</a:t>
            </a:r>
          </a:p>
          <a:p>
            <a:pPr>
              <a:spcAft>
                <a:spcPts val="200"/>
              </a:spcAft>
              <a:defRPr sz="950">
                <a:solidFill>
                  <a:srgbClr val="2563EB"/>
                </a:solidFill>
              </a:defRPr>
            </a:pPr>
            <a:r>
              <a:t>• How We Teach: Flow Simulator: Animates non-blocking I/O queues and middleware pipeline execution.</a:t>
            </a:r>
          </a:p>
          <a:p>
            <a:pPr>
              <a:defRPr sz="900">
                <a:solidFill>
                  <a:srgbClr val="64748B"/>
                </a:solidFill>
              </a:defRPr>
            </a:pPr>
            <a:r>
              <a:t>• Career &amp; Salary: Node.js Backend Engineer (Rs 12–22 LPA).</a:t>
            </a:r>
          </a:p>
        </p:txBody>
      </p:sp>
      <p:sp>
        <p:nvSpPr>
          <p:cNvPr id="9" name="Rounded Rectangle 8"/>
          <p:cNvSpPr/>
          <p:nvPr/>
        </p:nvSpPr>
        <p:spPr>
          <a:xfrm>
            <a:off x="813816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04: Cloud Native Architectures (AWS)</a:t>
            </a:r>
          </a:p>
          <a:p>
            <a:pPr>
              <a:spcAft>
                <a:spcPts val="300"/>
              </a:spcAft>
              <a:defRPr sz="850" b="1">
                <a:solidFill>
                  <a:srgbClr val="059669"/>
                </a:solidFill>
              </a:defRPr>
            </a:pPr>
            <a:r>
              <a:t>[🟢 100% LIVE (30 DAYS)]</a:t>
            </a:r>
          </a:p>
          <a:p>
            <a:pPr>
              <a:spcAft>
                <a:spcPts val="200"/>
              </a:spcAft>
              <a:defRPr sz="950">
                <a:solidFill>
                  <a:srgbClr val="334155"/>
                </a:solidFill>
              </a:defRPr>
            </a:pPr>
            <a:r>
              <a:t>• What We Teach: EC2, S3, RDS, Lambda serverless, API Gateway, IAM zero-trust policies, VPC subnets, CloudFront CDN.</a:t>
            </a:r>
          </a:p>
          <a:p>
            <a:pPr>
              <a:spcAft>
                <a:spcPts val="200"/>
              </a:spcAft>
              <a:defRPr sz="950">
                <a:solidFill>
                  <a:srgbClr val="2563EB"/>
                </a:solidFill>
              </a:defRPr>
            </a:pPr>
            <a:r>
              <a:t>• How We Teach: Cloud Topology Simulator: Students configure virtual private clouds and serverless routing.</a:t>
            </a:r>
          </a:p>
          <a:p>
            <a:pPr>
              <a:defRPr sz="900">
                <a:solidFill>
                  <a:srgbClr val="64748B"/>
                </a:solidFill>
              </a:defRPr>
            </a:pPr>
            <a:r>
              <a:t>• Career &amp; Salary: Cloud Solutions Architect (Rs 14–26 LPA).</a:t>
            </a:r>
          </a:p>
        </p:txBody>
      </p:sp>
      <p:sp>
        <p:nvSpPr>
          <p:cNvPr id="10" name="Rounded Rectangle 9"/>
          <p:cNvSpPr/>
          <p:nvPr/>
        </p:nvSpPr>
        <p:spPr>
          <a:xfrm>
            <a:off x="731520" y="4023360"/>
            <a:ext cx="512064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05: DevOps &amp; CI/CD Automation</a:t>
            </a:r>
          </a:p>
          <a:p>
            <a:pPr>
              <a:spcAft>
                <a:spcPts val="300"/>
              </a:spcAft>
              <a:defRPr sz="850" b="1">
                <a:solidFill>
                  <a:srgbClr val="059669"/>
                </a:solidFill>
              </a:defRPr>
            </a:pPr>
            <a:r>
              <a:t>[🟢 100% LIVE (30 DAYS)]</a:t>
            </a:r>
          </a:p>
          <a:p>
            <a:pPr>
              <a:spcAft>
                <a:spcPts val="200"/>
              </a:spcAft>
              <a:defRPr sz="950">
                <a:solidFill>
                  <a:srgbClr val="334155"/>
                </a:solidFill>
              </a:defRPr>
            </a:pPr>
            <a:r>
              <a:t>• What We Teach: Docker multi-stage builds, container orchestration, Kubernetes pod lifecycles, automated GitHub Actions CI/CD workflows, Terraform Infrastructure as Code (IaC).</a:t>
            </a:r>
          </a:p>
          <a:p>
            <a:pPr>
              <a:spcAft>
                <a:spcPts val="200"/>
              </a:spcAft>
              <a:defRPr sz="950">
                <a:solidFill>
                  <a:srgbClr val="2563EB"/>
                </a:solidFill>
              </a:defRPr>
            </a:pPr>
            <a:r>
              <a:t>• How We Teach: Container Lifecycle Engine: Students debug failing container builds and simulate automated rolling updates.</a:t>
            </a:r>
          </a:p>
          <a:p>
            <a:pPr>
              <a:defRPr sz="900">
                <a:solidFill>
                  <a:srgbClr val="64748B"/>
                </a:solidFill>
              </a:defRPr>
            </a:pPr>
            <a:r>
              <a:t>• Career &amp; Salary: Site Reliability Engineer (SRE), DevOps Architect (Rs 14–28 LPA).</a:t>
            </a:r>
          </a:p>
        </p:txBody>
      </p:sp>
      <p:sp>
        <p:nvSpPr>
          <p:cNvPr id="11" name="Rounded Rectangle 10"/>
          <p:cNvSpPr/>
          <p:nvPr/>
        </p:nvSpPr>
        <p:spPr>
          <a:xfrm>
            <a:off x="6217920" y="4023360"/>
            <a:ext cx="521208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06: UI/UX Design Systems &amp; Visual Frontend</a:t>
            </a:r>
          </a:p>
          <a:p>
            <a:pPr>
              <a:spcAft>
                <a:spcPts val="300"/>
              </a:spcAft>
              <a:defRPr sz="850" b="1">
                <a:solidFill>
                  <a:srgbClr val="059669"/>
                </a:solidFill>
              </a:defRPr>
            </a:pPr>
            <a:r>
              <a:t>[🟢 100% LIVE (30 DAYS)]</a:t>
            </a:r>
          </a:p>
          <a:p>
            <a:pPr>
              <a:spcAft>
                <a:spcPts val="200"/>
              </a:spcAft>
              <a:defRPr sz="950">
                <a:solidFill>
                  <a:srgbClr val="334155"/>
                </a:solidFill>
              </a:defRPr>
            </a:pPr>
            <a:r>
              <a:t>• What We Teach: Atomic design architecture, WCAG 2.1 AA accessibility standards, design token variables, Figma-to-code translation, responsive fluid typography, and dark-mode theming.</a:t>
            </a:r>
          </a:p>
          <a:p>
            <a:pPr>
              <a:spcAft>
                <a:spcPts val="200"/>
              </a:spcAft>
              <a:defRPr sz="950">
                <a:solidFill>
                  <a:srgbClr val="2563EB"/>
                </a:solidFill>
              </a:defRPr>
            </a:pPr>
            <a:r>
              <a:t>• How We Teach: Design Token Studio: Students mutate CSS variables live and verify automated color-contrast accessibility compliance.</a:t>
            </a:r>
          </a:p>
          <a:p>
            <a:pPr>
              <a:defRPr sz="900">
                <a:solidFill>
                  <a:srgbClr val="64748B"/>
                </a:solidFill>
              </a:defRPr>
            </a:pPr>
            <a:r>
              <a:t>• Career &amp; Salary: Design Systems Engineer, Senior Frontend Lead (Rs 12–22 LPA).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DEEP COMPUTER SCIENCE</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05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Algorithms, Systems &amp; Data Internals (Courses 07, 08, 09, 10, 11)</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Deep Systems Engineering That Generative AI Cannot Automate (100% Live)</a:t>
            </a:r>
          </a:p>
        </p:txBody>
      </p:sp>
      <p:sp>
        <p:nvSpPr>
          <p:cNvPr id="7" name="Rounded Rectangle 6"/>
          <p:cNvSpPr/>
          <p:nvPr/>
        </p:nvSpPr>
        <p:spPr>
          <a:xfrm>
            <a:off x="73152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07: Data Structures &amp; Algorithms (DSA)</a:t>
            </a:r>
          </a:p>
          <a:p>
            <a:pPr>
              <a:spcAft>
                <a:spcPts val="300"/>
              </a:spcAft>
              <a:defRPr sz="850" b="1">
                <a:solidFill>
                  <a:srgbClr val="059669"/>
                </a:solidFill>
              </a:defRPr>
            </a:pPr>
            <a:r>
              <a:t>[🟢 100% LIVE (30 DAYS)]</a:t>
            </a:r>
          </a:p>
          <a:p>
            <a:pPr>
              <a:spcAft>
                <a:spcPts val="200"/>
              </a:spcAft>
              <a:defRPr sz="950">
                <a:solidFill>
                  <a:srgbClr val="334155"/>
                </a:solidFill>
              </a:defRPr>
            </a:pPr>
            <a:r>
              <a:t>• What We Teach: Red-Black trees, graph BFS/DFS, dynamic programming grids, amortized complexity, memory bounds.</a:t>
            </a:r>
          </a:p>
          <a:p>
            <a:pPr>
              <a:spcAft>
                <a:spcPts val="200"/>
              </a:spcAft>
              <a:defRPr sz="950">
                <a:solidFill>
                  <a:srgbClr val="2563EB"/>
                </a:solidFill>
              </a:defRPr>
            </a:pPr>
            <a:r>
              <a:t>• How We Teach: TreeGraph Simulator: Visualizes tree balance rotations and heap array index mappings live.</a:t>
            </a:r>
          </a:p>
          <a:p>
            <a:pPr>
              <a:defRPr sz="900">
                <a:solidFill>
                  <a:srgbClr val="64748B"/>
                </a:solidFill>
              </a:defRPr>
            </a:pPr>
            <a:r>
              <a:t>• Career &amp; Salary: Algorithm Engineer (Rs 15–30 LPA).</a:t>
            </a:r>
          </a:p>
        </p:txBody>
      </p:sp>
      <p:sp>
        <p:nvSpPr>
          <p:cNvPr id="8" name="Rounded Rectangle 7"/>
          <p:cNvSpPr/>
          <p:nvPr/>
        </p:nvSpPr>
        <p:spPr>
          <a:xfrm>
            <a:off x="4389120" y="16002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08: Mobile Application Development</a:t>
            </a:r>
          </a:p>
          <a:p>
            <a:pPr>
              <a:spcAft>
                <a:spcPts val="300"/>
              </a:spcAft>
              <a:defRPr sz="850" b="1">
                <a:solidFill>
                  <a:srgbClr val="059669"/>
                </a:solidFill>
              </a:defRPr>
            </a:pPr>
            <a:r>
              <a:t>[🟢 100% LIVE (30 DAYS)]</a:t>
            </a:r>
          </a:p>
          <a:p>
            <a:pPr>
              <a:spcAft>
                <a:spcPts val="200"/>
              </a:spcAft>
              <a:defRPr sz="950">
                <a:solidFill>
                  <a:srgbClr val="334155"/>
                </a:solidFill>
              </a:defRPr>
            </a:pPr>
            <a:r>
              <a:t>• What We Teach: React Native architecture, native UI threads, FlatList memory optimization, gestures, offline SQLite sync.</a:t>
            </a:r>
          </a:p>
          <a:p>
            <a:pPr>
              <a:spcAft>
                <a:spcPts val="200"/>
              </a:spcAft>
              <a:defRPr sz="950">
                <a:solidFill>
                  <a:srgbClr val="2563EB"/>
                </a:solidFill>
              </a:defRPr>
            </a:pPr>
            <a:r>
              <a:t>• How We Teach: Mobile Emulator Canvas: Live simulated device preview testing touch-slop and memory limits.</a:t>
            </a:r>
          </a:p>
          <a:p>
            <a:pPr>
              <a:defRPr sz="900">
                <a:solidFill>
                  <a:srgbClr val="64748B"/>
                </a:solidFill>
              </a:defRPr>
            </a:pPr>
            <a:r>
              <a:t>• Career &amp; Salary: Mobile App Engineer (Rs 12–24 LPA).</a:t>
            </a:r>
          </a:p>
        </p:txBody>
      </p:sp>
      <p:sp>
        <p:nvSpPr>
          <p:cNvPr id="9" name="Rounded Rectangle 8"/>
          <p:cNvSpPr/>
          <p:nvPr/>
        </p:nvSpPr>
        <p:spPr>
          <a:xfrm>
            <a:off x="813816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09: Cybersecurity &amp; Secure Systems</a:t>
            </a:r>
          </a:p>
          <a:p>
            <a:pPr>
              <a:spcAft>
                <a:spcPts val="300"/>
              </a:spcAft>
              <a:defRPr sz="850" b="1">
                <a:solidFill>
                  <a:srgbClr val="059669"/>
                </a:solidFill>
              </a:defRPr>
            </a:pPr>
            <a:r>
              <a:t>[🟢 100% LIVE (30 DAYS)]</a:t>
            </a:r>
          </a:p>
          <a:p>
            <a:pPr>
              <a:spcAft>
                <a:spcPts val="200"/>
              </a:spcAft>
              <a:defRPr sz="950">
                <a:solidFill>
                  <a:srgbClr val="334155"/>
                </a:solidFill>
              </a:defRPr>
            </a:pPr>
            <a:r>
              <a:t>• What We Teach: Zero-Trust architecture, AES-GCM encryption, memory bounds, buffer overflow defenses, OWASP Top 10.</a:t>
            </a:r>
          </a:p>
          <a:p>
            <a:pPr>
              <a:spcAft>
                <a:spcPts val="200"/>
              </a:spcAft>
              <a:defRPr sz="950">
                <a:solidFill>
                  <a:srgbClr val="2563EB"/>
                </a:solidFill>
              </a:defRPr>
            </a:pPr>
            <a:r>
              <a:t>• How We Teach: Security Threat Simulator: Students patch simulated SQL injections and cross-site scripting attacks.</a:t>
            </a:r>
          </a:p>
          <a:p>
            <a:pPr>
              <a:defRPr sz="900">
                <a:solidFill>
                  <a:srgbClr val="64748B"/>
                </a:solidFill>
              </a:defRPr>
            </a:pPr>
            <a:r>
              <a:t>• Career &amp; Salary: Cybersecurity Engineer (Rs 15–32 LPA).</a:t>
            </a:r>
          </a:p>
        </p:txBody>
      </p:sp>
      <p:sp>
        <p:nvSpPr>
          <p:cNvPr id="10" name="Rounded Rectangle 9"/>
          <p:cNvSpPr/>
          <p:nvPr/>
        </p:nvSpPr>
        <p:spPr>
          <a:xfrm>
            <a:off x="731520" y="4023360"/>
            <a:ext cx="512064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10: Database Engineering &amp; SQL Performance</a:t>
            </a:r>
          </a:p>
          <a:p>
            <a:pPr>
              <a:spcAft>
                <a:spcPts val="300"/>
              </a:spcAft>
              <a:defRPr sz="850" b="1">
                <a:solidFill>
                  <a:srgbClr val="059669"/>
                </a:solidFill>
              </a:defRPr>
            </a:pPr>
            <a:r>
              <a:t>[🟢 100% LIVE (30 DAYS)]</a:t>
            </a:r>
          </a:p>
          <a:p>
            <a:pPr>
              <a:spcAft>
                <a:spcPts val="200"/>
              </a:spcAft>
              <a:defRPr sz="950">
                <a:solidFill>
                  <a:srgbClr val="334155"/>
                </a:solidFill>
              </a:defRPr>
            </a:pPr>
            <a:r>
              <a:t>• What We Teach: B+ Tree index structures, Write-Ahead Logs (WAL), MVCC multi-version concurrency, SQL execution plans, deadlocks, and connection pool starvation.</a:t>
            </a:r>
          </a:p>
          <a:p>
            <a:pPr>
              <a:spcAft>
                <a:spcPts val="200"/>
              </a:spcAft>
              <a:defRPr sz="950">
                <a:solidFill>
                  <a:srgbClr val="2563EB"/>
                </a:solidFill>
              </a:defRPr>
            </a:pPr>
            <a:r>
              <a:t>• How We Teach: B+ Tree Visual Engine: Animates disk block page splits and balance merges as records are inserted.</a:t>
            </a:r>
          </a:p>
          <a:p>
            <a:pPr>
              <a:defRPr sz="900">
                <a:solidFill>
                  <a:srgbClr val="64748B"/>
                </a:solidFill>
              </a:defRPr>
            </a:pPr>
            <a:r>
              <a:t>• Career &amp; Salary: Database Administrator (DBA), Data Platform Engineer (Rs 14–25 LPA).</a:t>
            </a:r>
          </a:p>
        </p:txBody>
      </p:sp>
      <p:sp>
        <p:nvSpPr>
          <p:cNvPr id="11" name="Rounded Rectangle 10"/>
          <p:cNvSpPr/>
          <p:nvPr/>
        </p:nvSpPr>
        <p:spPr>
          <a:xfrm>
            <a:off x="6217920" y="4023360"/>
            <a:ext cx="521208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11: High-Scale Distributed Systems</a:t>
            </a:r>
          </a:p>
          <a:p>
            <a:pPr>
              <a:spcAft>
                <a:spcPts val="300"/>
              </a:spcAft>
              <a:defRPr sz="850" b="1">
                <a:solidFill>
                  <a:srgbClr val="059669"/>
                </a:solidFill>
              </a:defRPr>
            </a:pPr>
            <a:r>
              <a:t>[🟢 100% LIVE (30 DAYS)]</a:t>
            </a:r>
          </a:p>
          <a:p>
            <a:pPr>
              <a:spcAft>
                <a:spcPts val="200"/>
              </a:spcAft>
              <a:defRPr sz="950">
                <a:solidFill>
                  <a:srgbClr val="334155"/>
                </a:solidFill>
              </a:defRPr>
            </a:pPr>
            <a:r>
              <a:t>• What We Teach: Raft consensus protocol, Two-Phase Commits (2PC), CAP theorem trade-offs, consistent hashing ring partitions, vector clocks, and distributed lock managers.</a:t>
            </a:r>
          </a:p>
          <a:p>
            <a:pPr>
              <a:spcAft>
                <a:spcPts val="200"/>
              </a:spcAft>
              <a:defRPr sz="950">
                <a:solidFill>
                  <a:srgbClr val="2563EB"/>
                </a:solidFill>
              </a:defRPr>
            </a:pPr>
            <a:r>
              <a:t>• How We Teach: Cluster Consensus Simulator: Students simulate network partitions and watch Raft leader elections occur live.</a:t>
            </a:r>
          </a:p>
          <a:p>
            <a:pPr>
              <a:defRPr sz="900">
                <a:solidFill>
                  <a:srgbClr val="64748B"/>
                </a:solidFill>
              </a:defRPr>
            </a:pPr>
            <a:r>
              <a:t>• Career &amp; Salary: Distributed Systems Architect, Infrastructure Lead (Rs 20–40 LPA).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HIGH-MARGIN DEEP SPECIALIZATIONS</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06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Cutting-Edge AI, 3D Graphics &amp; Quant Systems (Courses 21, 12, 37, 13, 15, 16)</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Elite Career Specializations with Global $200k+ Placement Benchmarks (100% Built &amp; Live)</a:t>
            </a:r>
          </a:p>
        </p:txBody>
      </p:sp>
      <p:sp>
        <p:nvSpPr>
          <p:cNvPr id="7" name="Rounded Rectangle 6"/>
          <p:cNvSpPr/>
          <p:nvPr/>
        </p:nvSpPr>
        <p:spPr>
          <a:xfrm>
            <a:off x="731520" y="1600200"/>
            <a:ext cx="333756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21: Quantitative Trading Systems</a:t>
            </a:r>
          </a:p>
          <a:p>
            <a:pPr>
              <a:spcAft>
                <a:spcPts val="300"/>
              </a:spcAft>
              <a:defRPr sz="850" b="1">
                <a:solidFill>
                  <a:srgbClr val="D97706"/>
                </a:solidFill>
              </a:defRPr>
            </a:pPr>
            <a:r>
              <a:t>[👑 100% COMPLETE (30 DAYS)]</a:t>
            </a:r>
          </a:p>
          <a:p>
            <a:pPr>
              <a:spcAft>
                <a:spcPts val="200"/>
              </a:spcAft>
              <a:defRPr sz="950">
                <a:solidFill>
                  <a:srgbClr val="334155"/>
                </a:solidFill>
              </a:defRPr>
            </a:pPr>
            <a:r>
              <a:t>• What We Teach: High-Frequency Trading in C++: 41.8ns limit order book (LOB) matching engine, lock-free ring buffers, SEC 15c3-5 risk filters, and Black-Scholes Greeks.</a:t>
            </a:r>
          </a:p>
          <a:p>
            <a:pPr>
              <a:spcAft>
                <a:spcPts val="200"/>
              </a:spcAft>
              <a:defRPr sz="950">
                <a:solidFill>
                  <a:srgbClr val="2563EB"/>
                </a:solidFill>
              </a:defRPr>
            </a:pPr>
            <a:r>
              <a:t>• How We Teach: HFT Market Data Simulator: Parses raw binary NASDAQ ITCH feeds with sub-microsecond latency.</a:t>
            </a:r>
          </a:p>
          <a:p>
            <a:pPr>
              <a:defRPr sz="900">
                <a:solidFill>
                  <a:srgbClr val="64748B"/>
                </a:solidFill>
              </a:defRPr>
            </a:pPr>
            <a:r>
              <a:t>• Career &amp; Salary: Quantitative Developer, HFT Trader (Rs 40–80 LPA / $200k–$400k+).</a:t>
            </a:r>
          </a:p>
        </p:txBody>
      </p:sp>
      <p:sp>
        <p:nvSpPr>
          <p:cNvPr id="8" name="Rounded Rectangle 7"/>
          <p:cNvSpPr/>
          <p:nvPr/>
        </p:nvSpPr>
        <p:spPr>
          <a:xfrm>
            <a:off x="4389120" y="1600200"/>
            <a:ext cx="333756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12: Applied Artificial Intelligence</a:t>
            </a:r>
          </a:p>
          <a:p>
            <a:pPr>
              <a:spcAft>
                <a:spcPts val="300"/>
              </a:spcAft>
              <a:defRPr sz="850" b="1">
                <a:solidFill>
                  <a:srgbClr val="7C3AED"/>
                </a:solidFill>
              </a:defRPr>
            </a:pPr>
            <a:r>
              <a:t>[🟢 100% LIVE (30 DAYS)]</a:t>
            </a:r>
          </a:p>
          <a:p>
            <a:pPr>
              <a:spcAft>
                <a:spcPts val="200"/>
              </a:spcAft>
              <a:defRPr sz="950">
                <a:solidFill>
                  <a:srgbClr val="334155"/>
                </a:solidFill>
              </a:defRPr>
            </a:pPr>
            <a:r>
              <a:t>• What We Teach: Neural networks, vector embeddings, cosine similarity, FAISS vector search, LangChain, semantic cache, and RAG pipelines.</a:t>
            </a:r>
          </a:p>
          <a:p>
            <a:pPr>
              <a:spcAft>
                <a:spcPts val="200"/>
              </a:spcAft>
              <a:defRPr sz="950">
                <a:solidFill>
                  <a:srgbClr val="2563EB"/>
                </a:solidFill>
              </a:defRPr>
            </a:pPr>
            <a:r>
              <a:t>• How We Teach: Vector RAG Simulator: Animates semantic embedding space and vector distance search.</a:t>
            </a:r>
          </a:p>
          <a:p>
            <a:pPr>
              <a:defRPr sz="900">
                <a:solidFill>
                  <a:srgbClr val="64748B"/>
                </a:solidFill>
              </a:defRPr>
            </a:pPr>
            <a:r>
              <a:t>• Career &amp; Salary: AI/ML Engineer, Applied AI Lead (Rs 15–30 LPA).</a:t>
            </a:r>
          </a:p>
        </p:txBody>
      </p:sp>
      <p:sp>
        <p:nvSpPr>
          <p:cNvPr id="9" name="Rounded Rectangle 8"/>
          <p:cNvSpPr/>
          <p:nvPr/>
        </p:nvSpPr>
        <p:spPr>
          <a:xfrm>
            <a:off x="8046720" y="16002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37: NLP &amp; Transformers (LLMs)</a:t>
            </a:r>
          </a:p>
          <a:p>
            <a:pPr>
              <a:spcAft>
                <a:spcPts val="300"/>
              </a:spcAft>
              <a:defRPr sz="850" b="1">
                <a:solidFill>
                  <a:srgbClr val="7C3AED"/>
                </a:solidFill>
              </a:defRPr>
            </a:pPr>
            <a:r>
              <a:t>[🟢 100% LIVE (30 DAYS)]</a:t>
            </a:r>
          </a:p>
          <a:p>
            <a:pPr>
              <a:spcAft>
                <a:spcPts val="200"/>
              </a:spcAft>
              <a:defRPr sz="950">
                <a:solidFill>
                  <a:srgbClr val="334155"/>
                </a:solidFill>
              </a:defRPr>
            </a:pPr>
            <a:r>
              <a:t>• What We Teach: Multi-head self-attention math, BPE tokenization, transformer decoder blocks, KV cache, and LoRA fine-tuning.</a:t>
            </a:r>
          </a:p>
          <a:p>
            <a:pPr>
              <a:spcAft>
                <a:spcPts val="200"/>
              </a:spcAft>
              <a:defRPr sz="950">
                <a:solidFill>
                  <a:srgbClr val="2563EB"/>
                </a:solidFill>
              </a:defRPr>
            </a:pPr>
            <a:r>
              <a:t>• How We Teach: Attention Matrix Simulator: Visualizes token self-attention weight heatmaps live.</a:t>
            </a:r>
          </a:p>
          <a:p>
            <a:pPr>
              <a:defRPr sz="900">
                <a:solidFill>
                  <a:srgbClr val="64748B"/>
                </a:solidFill>
              </a:defRPr>
            </a:pPr>
            <a:r>
              <a:t>• Career &amp; Salary: LLMOps Specialist, Foundation Model Engineer (Rs 16–35 LPA).</a:t>
            </a:r>
          </a:p>
        </p:txBody>
      </p:sp>
      <p:sp>
        <p:nvSpPr>
          <p:cNvPr id="10" name="Rounded Rectangle 9"/>
          <p:cNvSpPr/>
          <p:nvPr/>
        </p:nvSpPr>
        <p:spPr>
          <a:xfrm>
            <a:off x="731520" y="4023360"/>
            <a:ext cx="333756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13: Full-Stack JavaScript Engineering</a:t>
            </a:r>
          </a:p>
          <a:p>
            <a:pPr>
              <a:spcAft>
                <a:spcPts val="300"/>
              </a:spcAft>
              <a:defRPr sz="850" b="1">
                <a:solidFill>
                  <a:srgbClr val="2563EB"/>
                </a:solidFill>
              </a:defRPr>
            </a:pPr>
            <a:r>
              <a:t>[🟢 100% LIVE (30 DAYS)]</a:t>
            </a:r>
          </a:p>
          <a:p>
            <a:pPr>
              <a:spcAft>
                <a:spcPts val="200"/>
              </a:spcAft>
              <a:defRPr sz="950">
                <a:solidFill>
                  <a:srgbClr val="334155"/>
                </a:solidFill>
              </a:defRPr>
            </a:pPr>
            <a:r>
              <a:t>• What We Teach: Full-Stack JavaScript Engineering: ORM schemas migrations, client-server data synchronization, hooks cache.</a:t>
            </a:r>
          </a:p>
          <a:p>
            <a:pPr>
              <a:spcAft>
                <a:spcPts val="200"/>
              </a:spcAft>
              <a:defRPr sz="950">
                <a:solidFill>
                  <a:srgbClr val="2563EB"/>
                </a:solidFill>
              </a:defRPr>
            </a:pPr>
            <a:r>
              <a:t>• How We Teach: Fullstack State Studio: Synchronizes frontend state with backend REST APIs.</a:t>
            </a:r>
          </a:p>
          <a:p>
            <a:pPr>
              <a:defRPr sz="900">
                <a:solidFill>
                  <a:srgbClr val="64748B"/>
                </a:solidFill>
              </a:defRPr>
            </a:pPr>
            <a:r>
              <a:t>• Career &amp; Salary: Fullstack JS Developer (Rs 12–22 LPA).</a:t>
            </a:r>
          </a:p>
        </p:txBody>
      </p:sp>
      <p:sp>
        <p:nvSpPr>
          <p:cNvPr id="11" name="Rounded Rectangle 10"/>
          <p:cNvSpPr/>
          <p:nvPr/>
        </p:nvSpPr>
        <p:spPr>
          <a:xfrm>
            <a:off x="4389120" y="4023360"/>
            <a:ext cx="333756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15: 3D Graphics &amp; WebGL2 Engine</a:t>
            </a:r>
          </a:p>
          <a:p>
            <a:pPr>
              <a:spcAft>
                <a:spcPts val="300"/>
              </a:spcAft>
              <a:defRPr sz="850" b="1">
                <a:solidFill>
                  <a:srgbClr val="2563EB"/>
                </a:solidFill>
              </a:defRPr>
            </a:pPr>
            <a:r>
              <a:t>[🟢 100% LIVE (30 DAYS)]</a:t>
            </a:r>
          </a:p>
          <a:p>
            <a:pPr>
              <a:spcAft>
                <a:spcPts val="200"/>
              </a:spcAft>
              <a:defRPr sz="950">
                <a:solidFill>
                  <a:srgbClr val="334155"/>
                </a:solidFill>
              </a:defRPr>
            </a:pPr>
            <a:r>
              <a:t>• What We Teach: WebGL2 GPU pipelines, MVP matrix transforms, vertex shaders, skeletal rigging, inverse kinematics (FABRIK).</a:t>
            </a:r>
          </a:p>
          <a:p>
            <a:pPr>
              <a:spcAft>
                <a:spcPts val="200"/>
              </a:spcAft>
              <a:defRPr sz="950">
                <a:solidFill>
                  <a:srgbClr val="2563EB"/>
                </a:solidFill>
              </a:defRPr>
            </a:pPr>
            <a:r>
              <a:t>• How We Teach: 3D Avatar Viewport: Students animate 3D avatars directly in the browser.</a:t>
            </a:r>
          </a:p>
          <a:p>
            <a:pPr>
              <a:defRPr sz="900">
                <a:solidFill>
                  <a:srgbClr val="64748B"/>
                </a:solidFill>
              </a:defRPr>
            </a:pPr>
            <a:r>
              <a:t>• Career &amp; Salary: 3D Graphics Engineer (Rs 15–30 LPA).</a:t>
            </a:r>
          </a:p>
        </p:txBody>
      </p:sp>
      <p:sp>
        <p:nvSpPr>
          <p:cNvPr id="12" name="Rounded Rectangle 11"/>
          <p:cNvSpPr/>
          <p:nvPr/>
        </p:nvSpPr>
        <p:spPr>
          <a:xfrm>
            <a:off x="8046720" y="4023360"/>
            <a:ext cx="338328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16: Blockchain &amp; Web3 Smart Contracts</a:t>
            </a:r>
          </a:p>
          <a:p>
            <a:pPr>
              <a:spcAft>
                <a:spcPts val="300"/>
              </a:spcAft>
              <a:defRPr sz="850" b="1">
                <a:solidFill>
                  <a:srgbClr val="059669"/>
                </a:solidFill>
              </a:defRPr>
            </a:pPr>
            <a:r>
              <a:t>[🟢 100% LIVE (30 DAYS)]</a:t>
            </a:r>
          </a:p>
          <a:p>
            <a:pPr>
              <a:spcAft>
                <a:spcPts val="200"/>
              </a:spcAft>
              <a:defRPr sz="950">
                <a:solidFill>
                  <a:srgbClr val="334155"/>
                </a:solidFill>
              </a:defRPr>
            </a:pPr>
            <a:r>
              <a:t>• What We Teach: EVM internals, Solidity smart contracts, Merkle Patricia state roots, reentrancy mutex guards.</a:t>
            </a:r>
          </a:p>
          <a:p>
            <a:pPr>
              <a:spcAft>
                <a:spcPts val="200"/>
              </a:spcAft>
              <a:defRPr sz="950">
                <a:solidFill>
                  <a:srgbClr val="2563EB"/>
                </a:solidFill>
              </a:defRPr>
            </a:pPr>
            <a:r>
              <a:t>• How We Teach: Cryptographic Ledger Studio: Verifies Merkle tree inclusion proofs.</a:t>
            </a:r>
          </a:p>
          <a:p>
            <a:pPr>
              <a:defRPr sz="900">
                <a:solidFill>
                  <a:srgbClr val="64748B"/>
                </a:solidFill>
              </a:defRPr>
            </a:pPr>
            <a:r>
              <a:t>• Career &amp; Salary: Smart Contract Auditor (Rs 18–35 LPA).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SEMICONDUCTOR &amp; HARDWARE SILICON</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07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IoT, Embedded Firmware &amp; Hardware Security (Courses 14, 17, 18, 19)</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Direct Hardware Silicon Engineering Aligned with India's $50B Semiconductor Mission</a:t>
            </a:r>
          </a:p>
        </p:txBody>
      </p:sp>
      <p:sp>
        <p:nvSpPr>
          <p:cNvPr id="7" name="Rounded Rectangle 6"/>
          <p:cNvSpPr/>
          <p:nvPr/>
        </p:nvSpPr>
        <p:spPr>
          <a:xfrm>
            <a:off x="731520" y="1600200"/>
            <a:ext cx="51206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14: IoT, Firmware &amp; Embedded Systems</a:t>
            </a:r>
          </a:p>
          <a:p>
            <a:pPr>
              <a:spcAft>
                <a:spcPts val="300"/>
              </a:spcAft>
              <a:defRPr sz="850" b="1">
                <a:solidFill>
                  <a:srgbClr val="2563EB"/>
                </a:solidFill>
              </a:defRPr>
            </a:pPr>
            <a:r>
              <a:t>[🟡 DAYS 1–5 LIVE • DAYS 6–30 IN FLIGHT]</a:t>
            </a:r>
          </a:p>
          <a:p>
            <a:pPr>
              <a:spcAft>
                <a:spcPts val="200"/>
              </a:spcAft>
              <a:defRPr sz="950">
                <a:solidFill>
                  <a:srgbClr val="334155"/>
                </a:solidFill>
              </a:defRPr>
            </a:pPr>
            <a:r>
              <a:t>• What We Teach: Bare-metal C++ microcontroller programming, memory-mapped I/O (MMIO), volatile hardware register pointers, NVIC interrupts, circular DMA double-buffering.</a:t>
            </a:r>
          </a:p>
          <a:p>
            <a:pPr>
              <a:spcAft>
                <a:spcPts val="200"/>
              </a:spcAft>
              <a:defRPr sz="950">
                <a:solidFill>
                  <a:srgbClr val="2563EB"/>
                </a:solidFill>
              </a:defRPr>
            </a:pPr>
            <a:r>
              <a:t>• How We Teach: RegisterBits Simulator: Students flip bits 0-7 live and watch microcontroller memory addresses change.</a:t>
            </a:r>
          </a:p>
          <a:p>
            <a:pPr>
              <a:defRPr sz="900">
                <a:solidFill>
                  <a:srgbClr val="64748B"/>
                </a:solidFill>
              </a:defRPr>
            </a:pPr>
            <a:r>
              <a:t>• Career &amp; Salary: Embedded Firmware Engineer (Rs 10–22 LPA).</a:t>
            </a:r>
          </a:p>
        </p:txBody>
      </p:sp>
      <p:sp>
        <p:nvSpPr>
          <p:cNvPr id="8" name="Rounded Rectangle 7"/>
          <p:cNvSpPr/>
          <p:nvPr/>
        </p:nvSpPr>
        <p:spPr>
          <a:xfrm>
            <a:off x="6217920" y="1600200"/>
            <a:ext cx="52120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18: Edge AI, DSP &amp; TinyML Systems</a:t>
            </a:r>
          </a:p>
          <a:p>
            <a:pPr>
              <a:spcAft>
                <a:spcPts val="300"/>
              </a:spcAft>
              <a:defRPr sz="850" b="1">
                <a:solidFill>
                  <a:srgbClr val="7C3AED"/>
                </a:solidFill>
              </a:defRPr>
            </a:pPr>
            <a:r>
              <a:t>[🟡 DAYS 1–5 LIVE • DAYS 6–30 IN FLIGHT]</a:t>
            </a:r>
          </a:p>
          <a:p>
            <a:pPr>
              <a:spcAft>
                <a:spcPts val="200"/>
              </a:spcAft>
              <a:defRPr sz="950">
                <a:solidFill>
                  <a:srgbClr val="334155"/>
                </a:solidFill>
              </a:defRPr>
            </a:pPr>
            <a:r>
              <a:t>• What We Teach: Running AI neural networks directly on microcontrollers with zero cloud latency, INT8 post-training quantization, CMSIS-NN ARM SIMD micro-kernels (SMLAD).</a:t>
            </a:r>
          </a:p>
          <a:p>
            <a:pPr>
              <a:spcAft>
                <a:spcPts val="200"/>
              </a:spcAft>
              <a:defRPr sz="950">
                <a:solidFill>
                  <a:srgbClr val="2563EB"/>
                </a:solidFill>
              </a:defRPr>
            </a:pPr>
            <a:r>
              <a:t>• How We Teach: TinyML Tensor Arena Simulator: Profiles static memory allocation without heap fragmentation.</a:t>
            </a:r>
          </a:p>
          <a:p>
            <a:pPr>
              <a:defRPr sz="900">
                <a:solidFill>
                  <a:srgbClr val="64748B"/>
                </a:solidFill>
              </a:defRPr>
            </a:pPr>
            <a:r>
              <a:t>• Career &amp; Salary: Edge AI Developer, TinyML Systems Engineer (Rs 14–26 LPA).</a:t>
            </a:r>
          </a:p>
        </p:txBody>
      </p:sp>
      <p:sp>
        <p:nvSpPr>
          <p:cNvPr id="9" name="Rounded Rectangle 8"/>
          <p:cNvSpPr/>
          <p:nvPr/>
        </p:nvSpPr>
        <p:spPr>
          <a:xfrm>
            <a:off x="731520" y="4023360"/>
            <a:ext cx="512064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17: IoT Wireless Networks &amp; Protocols</a:t>
            </a:r>
          </a:p>
          <a:p>
            <a:pPr>
              <a:spcAft>
                <a:spcPts val="300"/>
              </a:spcAft>
              <a:defRPr sz="850" b="1">
                <a:solidFill>
                  <a:srgbClr val="059669"/>
                </a:solidFill>
              </a:defRPr>
            </a:pPr>
            <a:r>
              <a:t>[🟡 DAYS 1–5 LIVE • DAYS 6–30 IN FLIGHT]</a:t>
            </a:r>
          </a:p>
          <a:p>
            <a:pPr>
              <a:spcAft>
                <a:spcPts val="200"/>
              </a:spcAft>
              <a:defRPr sz="950">
                <a:solidFill>
                  <a:srgbClr val="334155"/>
                </a:solidFill>
              </a:defRPr>
            </a:pPr>
            <a:r>
              <a:t>• What We Teach: Wireless radio protocols: Friis link budgets, IEEE 802.15.4 MAC frames, RFC 6282 6LoWPAN header compression (compressing 40-byte IPv6 headers to 2 bytes), CoAP, and MQTT-SN.</a:t>
            </a:r>
          </a:p>
          <a:p>
            <a:pPr>
              <a:spcAft>
                <a:spcPts val="200"/>
              </a:spcAft>
              <a:defRPr sz="950">
                <a:solidFill>
                  <a:srgbClr val="2563EB"/>
                </a:solidFill>
              </a:defRPr>
            </a:pPr>
            <a:r>
              <a:t>• How We Teach: Radio Packet Sniffer Simulator: Decodes binary wireless frames and packet loss rates live.</a:t>
            </a:r>
          </a:p>
          <a:p>
            <a:pPr>
              <a:defRPr sz="900">
                <a:solidFill>
                  <a:srgbClr val="64748B"/>
                </a:solidFill>
              </a:defRPr>
            </a:pPr>
            <a:r>
              <a:t>• Career &amp; Salary: IoT Network Architect, Wireless Systems Engineer (Rs 12–24 LPA).</a:t>
            </a:r>
          </a:p>
        </p:txBody>
      </p:sp>
      <p:sp>
        <p:nvSpPr>
          <p:cNvPr id="10" name="Rounded Rectangle 9"/>
          <p:cNvSpPr/>
          <p:nvPr/>
        </p:nvSpPr>
        <p:spPr>
          <a:xfrm>
            <a:off x="6217920" y="4023360"/>
            <a:ext cx="521208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19: Industrial IoT Security &amp; Device Lifecycle</a:t>
            </a:r>
          </a:p>
          <a:p>
            <a:pPr>
              <a:spcAft>
                <a:spcPts val="300"/>
              </a:spcAft>
              <a:defRPr sz="850" b="1">
                <a:solidFill>
                  <a:srgbClr val="DC2626"/>
                </a:solidFill>
              </a:defRPr>
            </a:pPr>
            <a:r>
              <a:t>[🟡 DAYS 1–5 LIVE • DAYS 6–30 IN FLIGHT]</a:t>
            </a:r>
          </a:p>
          <a:p>
            <a:pPr>
              <a:spcAft>
                <a:spcPts val="200"/>
              </a:spcAft>
              <a:defRPr sz="950">
                <a:solidFill>
                  <a:srgbClr val="334155"/>
                </a:solidFill>
              </a:defRPr>
            </a:pPr>
            <a:r>
              <a:t>• What We Teach: Silicon Hardware Root of Trust: OTP eFuses, immutable Mask ROM, cryptographic secure boot chains, ARM TrustZone hardware bus memory partitioning, and anti-rollback defenses.</a:t>
            </a:r>
          </a:p>
          <a:p>
            <a:pPr>
              <a:spcAft>
                <a:spcPts val="200"/>
              </a:spcAft>
              <a:defRPr sz="950">
                <a:solidFill>
                  <a:srgbClr val="2563EB"/>
                </a:solidFill>
              </a:defRPr>
            </a:pPr>
            <a:r>
              <a:t>• How We Teach: Silicon Security Simulator: Tests cryptographic signature verification and fault injection traps.</a:t>
            </a:r>
          </a:p>
          <a:p>
            <a:pPr>
              <a:defRPr sz="900">
                <a:solidFill>
                  <a:srgbClr val="64748B"/>
                </a:solidFill>
              </a:defRPr>
            </a:pPr>
            <a:r>
              <a:t>• Career &amp; Salary: Hardware Security Researcher, Automotive Systems Auditor (Rs 15–30 LPA).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BUSINESS SCHOOL FLAGSHIP TRACKS</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08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Accounting, Finance &amp; Operations Management (Courses 22, 23, 24, 28, 30)</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Modernizing B.Com &amp; MBA Education with Live Double-Entry Ledgers and Financial Modeling</a:t>
            </a:r>
          </a:p>
        </p:txBody>
      </p:sp>
      <p:sp>
        <p:nvSpPr>
          <p:cNvPr id="7" name="Rounded Rectangle 6"/>
          <p:cNvSpPr/>
          <p:nvPr/>
        </p:nvSpPr>
        <p:spPr>
          <a:xfrm>
            <a:off x="73152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22: Digital Accounting &amp; Taxation (B.Com)</a:t>
            </a:r>
          </a:p>
          <a:p>
            <a:pPr>
              <a:spcAft>
                <a:spcPts val="300"/>
              </a:spcAft>
              <a:defRPr sz="850" b="1">
                <a:solidFill>
                  <a:srgbClr val="059669"/>
                </a:solidFill>
              </a:defRPr>
            </a:pPr>
            <a:r>
              <a:t>[🟡 DAYS 1–5 LIVE • DAYS 6–30 IN FLIGHT]</a:t>
            </a:r>
          </a:p>
          <a:p>
            <a:pPr>
              <a:spcAft>
                <a:spcPts val="200"/>
              </a:spcAft>
              <a:defRPr sz="950">
                <a:solidFill>
                  <a:srgbClr val="334155"/>
                </a:solidFill>
              </a:defRPr>
            </a:pPr>
            <a:r>
              <a:t>• What We Teach: Double-entry bookkeeping trial balance, ASC 606 revenue recognition, ASC 740 Deferred Tax Assets/Liabilities (DTA/DTL), and OECD transfer pricing.</a:t>
            </a:r>
          </a:p>
          <a:p>
            <a:pPr>
              <a:spcAft>
                <a:spcPts val="200"/>
              </a:spcAft>
              <a:defRPr sz="950">
                <a:solidFill>
                  <a:srgbClr val="2563EB"/>
                </a:solidFill>
              </a:defRPr>
            </a:pPr>
            <a:r>
              <a:t>• How We Teach: LedgerSheet Simulator: Interactive T-accounts that flash red until debits equal credits.</a:t>
            </a:r>
          </a:p>
          <a:p>
            <a:pPr>
              <a:defRPr sz="900">
                <a:solidFill>
                  <a:srgbClr val="64748B"/>
                </a:solidFill>
              </a:defRPr>
            </a:pPr>
            <a:r>
              <a:t>• Career &amp; Salary: Corporate Controller, Tax Consultant at Big 4 (Rs 8–18 LPA).</a:t>
            </a:r>
          </a:p>
        </p:txBody>
      </p:sp>
      <p:sp>
        <p:nvSpPr>
          <p:cNvPr id="8" name="Rounded Rectangle 7"/>
          <p:cNvSpPr/>
          <p:nvPr/>
        </p:nvSpPr>
        <p:spPr>
          <a:xfrm>
            <a:off x="4389120" y="16002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23: Business Finance &amp; Investment (B.Com)</a:t>
            </a:r>
          </a:p>
          <a:p>
            <a:pPr>
              <a:spcAft>
                <a:spcPts val="300"/>
              </a:spcAft>
              <a:defRPr sz="850" b="1">
                <a:solidFill>
                  <a:srgbClr val="D97706"/>
                </a:solidFill>
              </a:defRPr>
            </a:pPr>
            <a:r>
              <a:t>[🟡 DAYS 1–5 LIVE • DAYS 6–30 IN FLIGHT]</a:t>
            </a:r>
          </a:p>
          <a:p>
            <a:pPr>
              <a:spcAft>
                <a:spcPts val="200"/>
              </a:spcAft>
              <a:defRPr sz="950">
                <a:solidFill>
                  <a:srgbClr val="334155"/>
                </a:solidFill>
              </a:defRPr>
            </a:pPr>
            <a:r>
              <a:t>• What We Teach: Discounted Cash Flow (DCF), WACC valuation, DuPont 3-step ROE decomposition, multi-tranche debt capital structures, LBO debt waterfalls, and M&amp;A accretion.</a:t>
            </a:r>
          </a:p>
          <a:p>
            <a:pPr>
              <a:spcAft>
                <a:spcPts val="200"/>
              </a:spcAft>
              <a:defRPr sz="950">
                <a:solidFill>
                  <a:srgbClr val="2563EB"/>
                </a:solidFill>
              </a:defRPr>
            </a:pPr>
            <a:r>
              <a:t>• How We Teach: Bars &amp; DCF Simulator: Dynamic sensitivity bridges and Monte Carlo capital risk.</a:t>
            </a:r>
          </a:p>
          <a:p>
            <a:pPr>
              <a:defRPr sz="900">
                <a:solidFill>
                  <a:srgbClr val="64748B"/>
                </a:solidFill>
              </a:defRPr>
            </a:pPr>
            <a:r>
              <a:t>• Career &amp; Salary: Investment Banking Analyst, Private Equity Associate (Rs 12–25 LPA).</a:t>
            </a:r>
          </a:p>
        </p:txBody>
      </p:sp>
      <p:sp>
        <p:nvSpPr>
          <p:cNvPr id="9" name="Rounded Rectangle 8"/>
          <p:cNvSpPr/>
          <p:nvPr/>
        </p:nvSpPr>
        <p:spPr>
          <a:xfrm>
            <a:off x="813816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24: Business Analytics &amp; Ops Research</a:t>
            </a:r>
          </a:p>
          <a:p>
            <a:pPr>
              <a:spcAft>
                <a:spcPts val="300"/>
              </a:spcAft>
              <a:defRPr sz="850" b="1">
                <a:solidFill>
                  <a:srgbClr val="2563EB"/>
                </a:solidFill>
              </a:defRPr>
            </a:pPr>
            <a:r>
              <a:t>[🟡 DAYS 1–5 LIVE • DAYS 6–30 IN FLIGHT]</a:t>
            </a:r>
          </a:p>
          <a:p>
            <a:pPr>
              <a:spcAft>
                <a:spcPts val="200"/>
              </a:spcAft>
              <a:defRPr sz="950">
                <a:solidFill>
                  <a:srgbClr val="334155"/>
                </a:solidFill>
              </a:defRPr>
            </a:pPr>
            <a:r>
              <a:t>• What We Teach: Linear programming simplex optimization, marginal shadow prices, cohort retention matrices, Net Revenue Retention (NRR &gt; 100%).</a:t>
            </a:r>
          </a:p>
          <a:p>
            <a:pPr>
              <a:spcAft>
                <a:spcPts val="200"/>
              </a:spcAft>
              <a:defRPr sz="950">
                <a:solidFill>
                  <a:srgbClr val="2563EB"/>
                </a:solidFill>
              </a:defRPr>
            </a:pPr>
            <a:r>
              <a:t>• How We Teach: Cohort Analytics Engine: Models customer retention decay curves live.</a:t>
            </a:r>
          </a:p>
          <a:p>
            <a:pPr>
              <a:defRPr sz="900">
                <a:solidFill>
                  <a:srgbClr val="64748B"/>
                </a:solidFill>
              </a:defRPr>
            </a:pPr>
            <a:r>
              <a:t>• Career &amp; Salary: Financial Analyst (Rs 10–20 LPA).</a:t>
            </a:r>
          </a:p>
        </p:txBody>
      </p:sp>
      <p:sp>
        <p:nvSpPr>
          <p:cNvPr id="10" name="Rounded Rectangle 9"/>
          <p:cNvSpPr/>
          <p:nvPr/>
        </p:nvSpPr>
        <p:spPr>
          <a:xfrm>
            <a:off x="731520" y="4023360"/>
            <a:ext cx="512064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28: Entrepreneurship &amp; Venture Finance</a:t>
            </a:r>
          </a:p>
          <a:p>
            <a:pPr>
              <a:spcAft>
                <a:spcPts val="300"/>
              </a:spcAft>
              <a:defRPr sz="850" b="1">
                <a:solidFill>
                  <a:srgbClr val="7C3AED"/>
                </a:solidFill>
              </a:defRPr>
            </a:pPr>
            <a:r>
              <a:t>[🟡 DAYS 1–5 LIVE • DAYS 6–30 IN FLIGHT]</a:t>
            </a:r>
          </a:p>
          <a:p>
            <a:pPr>
              <a:spcAft>
                <a:spcPts val="200"/>
              </a:spcAft>
              <a:defRPr sz="950">
                <a:solidFill>
                  <a:srgbClr val="334155"/>
                </a:solidFill>
              </a:defRPr>
            </a:pPr>
            <a:r>
              <a:t>• What We Teach: Business Model Canvas (BMC), burn rate runway, SAFE note conversion, cap table dilution and liquidation preference waterfalls.</a:t>
            </a:r>
          </a:p>
          <a:p>
            <a:pPr>
              <a:spcAft>
                <a:spcPts val="200"/>
              </a:spcAft>
              <a:defRPr sz="950">
                <a:solidFill>
                  <a:srgbClr val="2563EB"/>
                </a:solidFill>
              </a:defRPr>
            </a:pPr>
            <a:r>
              <a:t>• How We Teach: Cap Table Simulator: Simulates multi-round investor dilution live.</a:t>
            </a:r>
          </a:p>
          <a:p>
            <a:pPr>
              <a:defRPr sz="900">
                <a:solidFill>
                  <a:srgbClr val="64748B"/>
                </a:solidFill>
              </a:defRPr>
            </a:pPr>
            <a:r>
              <a:t>• Career &amp; Salary: Startup Founder, Venture Analyst (Rs 10–22 LPA).</a:t>
            </a:r>
          </a:p>
        </p:txBody>
      </p:sp>
      <p:sp>
        <p:nvSpPr>
          <p:cNvPr id="11" name="Rounded Rectangle 10"/>
          <p:cNvSpPr/>
          <p:nvPr/>
        </p:nvSpPr>
        <p:spPr>
          <a:xfrm>
            <a:off x="6217920" y="4023360"/>
            <a:ext cx="521208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30: Supply Chain &amp; Operations Research</a:t>
            </a:r>
          </a:p>
          <a:p>
            <a:pPr>
              <a:spcAft>
                <a:spcPts val="300"/>
              </a:spcAft>
              <a:defRPr sz="850" b="1">
                <a:solidFill>
                  <a:srgbClr val="2563EB"/>
                </a:solidFill>
              </a:defRPr>
            </a:pPr>
            <a:r>
              <a:t>[🟡 DAYS 1–5 LIVE • DAYS 6–30 IN FLIGHT]</a:t>
            </a:r>
          </a:p>
          <a:p>
            <a:pPr>
              <a:spcAft>
                <a:spcPts val="200"/>
              </a:spcAft>
              <a:defRPr sz="950">
                <a:solidFill>
                  <a:srgbClr val="334155"/>
                </a:solidFill>
              </a:defRPr>
            </a:pPr>
            <a:r>
              <a:t>• What We Teach: Little's Law (WIP = Throughput * Cycle Time), EOQ inventory curves, Bullwhip effect reduction, Six Sigma Cpk quality control.</a:t>
            </a:r>
          </a:p>
          <a:p>
            <a:pPr>
              <a:spcAft>
                <a:spcPts val="200"/>
              </a:spcAft>
              <a:defRPr sz="950">
                <a:solidFill>
                  <a:srgbClr val="2563EB"/>
                </a:solidFill>
              </a:defRPr>
            </a:pPr>
            <a:r>
              <a:t>• How We Teach: Supply Chain Flow Simulator: Balances inventory buffer queues.</a:t>
            </a:r>
          </a:p>
          <a:p>
            <a:pPr>
              <a:defRPr sz="900">
                <a:solidFill>
                  <a:srgbClr val="64748B"/>
                </a:solidFill>
              </a:defRPr>
            </a:pPr>
            <a:r>
              <a:t>• Career &amp; Salary: Operations Director, Supply Chain Analyst (Rs 10–22 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REVENUE &amp; COMMERCIAL GROWTH SYSTEMS</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09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Marketing, Sales, E-Commerce &amp; AI Transformation (Courses 25, 26, 27, 29, 31)</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Training Revenue-Generating Leaders: From Digital Attribution to Enterprise AI Automation</a:t>
            </a:r>
          </a:p>
        </p:txBody>
      </p:sp>
      <p:sp>
        <p:nvSpPr>
          <p:cNvPr id="7" name="Rounded Rectangle 6"/>
          <p:cNvSpPr/>
          <p:nvPr/>
        </p:nvSpPr>
        <p:spPr>
          <a:xfrm>
            <a:off x="73152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25: Marketing Management &amp; Strategy</a:t>
            </a:r>
          </a:p>
          <a:p>
            <a:pPr>
              <a:spcAft>
                <a:spcPts val="300"/>
              </a:spcAft>
              <a:defRPr sz="850" b="1">
                <a:solidFill>
                  <a:srgbClr val="2563EB"/>
                </a:solidFill>
              </a:defRPr>
            </a:pPr>
            <a:r>
              <a:t>[🟡 DAYS 1–5 LIVE • DAYS 6–30 IN FLIGHT]</a:t>
            </a:r>
          </a:p>
          <a:p>
            <a:pPr>
              <a:spcAft>
                <a:spcPts val="200"/>
              </a:spcAft>
              <a:defRPr sz="950">
                <a:solidFill>
                  <a:srgbClr val="334155"/>
                </a:solidFill>
              </a:defRPr>
            </a:pPr>
            <a:r>
              <a:t>• What We Teach: PESTLE macroeconomic scans, Porter's Five Forces, STP segmentation, product lifecycle curves, perceptual brand positioning maps.</a:t>
            </a:r>
          </a:p>
          <a:p>
            <a:pPr>
              <a:spcAft>
                <a:spcPts val="200"/>
              </a:spcAft>
              <a:defRPr sz="950">
                <a:solidFill>
                  <a:srgbClr val="2563EB"/>
                </a:solidFill>
              </a:defRPr>
            </a:pPr>
            <a:r>
              <a:t>• How We Teach: Strategic Positioning Matrix: Students plot competitor market share against value dimensions.</a:t>
            </a:r>
          </a:p>
          <a:p>
            <a:pPr>
              <a:defRPr sz="900">
                <a:solidFill>
                  <a:srgbClr val="64748B"/>
                </a:solidFill>
              </a:defRPr>
            </a:pPr>
            <a:r>
              <a:t>• Career &amp; Salary: Brand Strategist, Marketing Manager (Rs 8–18 LPA).</a:t>
            </a:r>
          </a:p>
        </p:txBody>
      </p:sp>
      <p:sp>
        <p:nvSpPr>
          <p:cNvPr id="8" name="Rounded Rectangle 7"/>
          <p:cNvSpPr/>
          <p:nvPr/>
        </p:nvSpPr>
        <p:spPr>
          <a:xfrm>
            <a:off x="4389120" y="16002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26: Digital Marketing &amp; Performance Growth</a:t>
            </a:r>
          </a:p>
          <a:p>
            <a:pPr>
              <a:spcAft>
                <a:spcPts val="300"/>
              </a:spcAft>
              <a:defRPr sz="850" b="1">
                <a:solidFill>
                  <a:srgbClr val="2563EB"/>
                </a:solidFill>
              </a:defRPr>
            </a:pPr>
            <a:r>
              <a:t>[🟡 DAYS 1–5 LIVE • DAYS 6–30 IN FLIGHT]</a:t>
            </a:r>
          </a:p>
          <a:p>
            <a:pPr>
              <a:spcAft>
                <a:spcPts val="200"/>
              </a:spcAft>
              <a:defRPr sz="950">
                <a:solidFill>
                  <a:srgbClr val="334155"/>
                </a:solidFill>
              </a:defRPr>
            </a:pPr>
            <a:r>
              <a:t>• What We Teach: Programmatic ad auctions, multi-touch attribution (first/last/Shapley), SEO PageRank directed graphs, CRO A/B testing, CAC:LTV payback.</a:t>
            </a:r>
          </a:p>
          <a:p>
            <a:pPr>
              <a:spcAft>
                <a:spcPts val="200"/>
              </a:spcAft>
              <a:defRPr sz="950">
                <a:solidFill>
                  <a:srgbClr val="2563EB"/>
                </a:solidFill>
              </a:defRPr>
            </a:pPr>
            <a:r>
              <a:t>• How We Teach: Funnel Simulator: Visualizes CAC payback periods and conversion drop-offs.</a:t>
            </a:r>
          </a:p>
          <a:p>
            <a:pPr>
              <a:defRPr sz="900">
                <a:solidFill>
                  <a:srgbClr val="64748B"/>
                </a:solidFill>
              </a:defRPr>
            </a:pPr>
            <a:r>
              <a:t>• Career &amp; Salary: Growth Marketing Lead, Performance Marketer (Rs 9–20 LPA).</a:t>
            </a:r>
          </a:p>
        </p:txBody>
      </p:sp>
      <p:sp>
        <p:nvSpPr>
          <p:cNvPr id="9" name="Rounded Rectangle 8"/>
          <p:cNvSpPr/>
          <p:nvPr/>
        </p:nvSpPr>
        <p:spPr>
          <a:xfrm>
            <a:off x="8138160" y="1600200"/>
            <a:ext cx="329184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27: E-Commerce &amp; Digital Business</a:t>
            </a:r>
          </a:p>
          <a:p>
            <a:pPr>
              <a:spcAft>
                <a:spcPts val="300"/>
              </a:spcAft>
              <a:defRPr sz="850" b="1">
                <a:solidFill>
                  <a:srgbClr val="059669"/>
                </a:solidFill>
              </a:defRPr>
            </a:pPr>
            <a:r>
              <a:t>[🟡 DAYS 1–5 LIVE • DAYS 6–30 IN FLIGHT]</a:t>
            </a:r>
          </a:p>
          <a:p>
            <a:pPr>
              <a:spcAft>
                <a:spcPts val="200"/>
              </a:spcAft>
              <a:defRPr sz="950">
                <a:solidFill>
                  <a:srgbClr val="334155"/>
                </a:solidFill>
              </a:defRPr>
            </a:pPr>
            <a:r>
              <a:t>• What We Teach: Two-sided marketplace economics, take rate commission modeling, dynamic pricing elasticity, cart abandonment funnels, payment gateway APIs.</a:t>
            </a:r>
          </a:p>
          <a:p>
            <a:pPr>
              <a:spcAft>
                <a:spcPts val="200"/>
              </a:spcAft>
              <a:defRPr sz="950">
                <a:solidFill>
                  <a:srgbClr val="2563EB"/>
                </a:solidFill>
              </a:defRPr>
            </a:pPr>
            <a:r>
              <a:t>• How We Teach: E-Commerce Flow Simulator: Optimizes 1-click checkout and warehouse routing.</a:t>
            </a:r>
          </a:p>
          <a:p>
            <a:pPr>
              <a:defRPr sz="900">
                <a:solidFill>
                  <a:srgbClr val="64748B"/>
                </a:solidFill>
              </a:defRPr>
            </a:pPr>
            <a:r>
              <a:t>• Career &amp; Salary: E-Commerce Category Manager, Marketplace Operations (Rs 10–22 LPA).</a:t>
            </a:r>
          </a:p>
        </p:txBody>
      </p:sp>
      <p:sp>
        <p:nvSpPr>
          <p:cNvPr id="10" name="Rounded Rectangle 9"/>
          <p:cNvSpPr/>
          <p:nvPr/>
        </p:nvSpPr>
        <p:spPr>
          <a:xfrm>
            <a:off x="731520" y="4023360"/>
            <a:ext cx="512064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29: Enterprise B2B Sales &amp; CRM Systems</a:t>
            </a:r>
          </a:p>
          <a:p>
            <a:pPr>
              <a:spcAft>
                <a:spcPts val="300"/>
              </a:spcAft>
              <a:defRPr sz="850" b="1">
                <a:solidFill>
                  <a:srgbClr val="D97706"/>
                </a:solidFill>
              </a:defRPr>
            </a:pPr>
            <a:r>
              <a:t>[🟡 DAYS 1–5 LIVE • DAYS 6–30 IN FLIGHT]</a:t>
            </a:r>
          </a:p>
          <a:p>
            <a:pPr>
              <a:spcAft>
                <a:spcPts val="200"/>
              </a:spcAft>
              <a:defRPr sz="950">
                <a:solidFill>
                  <a:srgbClr val="334155"/>
                </a:solidFill>
              </a:defRPr>
            </a:pPr>
            <a:r>
              <a:t>• What We Teach: B2B pipeline velocity math, BANT qualification, MEDDPICC deal defense, LTV:CAC unit economics, proactive churn intervention playbooks, CPQ guardrails.</a:t>
            </a:r>
          </a:p>
          <a:p>
            <a:pPr>
              <a:spcAft>
                <a:spcPts val="200"/>
              </a:spcAft>
              <a:defRPr sz="950">
                <a:solidFill>
                  <a:srgbClr val="2563EB"/>
                </a:solidFill>
              </a:defRPr>
            </a:pPr>
            <a:r>
              <a:t>• How We Teach: Sales Velocity Simulator: Models deal stage probabilities and weighted forecasting.</a:t>
            </a:r>
          </a:p>
          <a:p>
            <a:pPr>
              <a:defRPr sz="900">
                <a:solidFill>
                  <a:srgbClr val="64748B"/>
                </a:solidFill>
              </a:defRPr>
            </a:pPr>
            <a:r>
              <a:t>• Career &amp; Salary: Enterprise Account Executive, Customer Success Director (Rs 12–25 LPA).</a:t>
            </a:r>
          </a:p>
        </p:txBody>
      </p:sp>
      <p:sp>
        <p:nvSpPr>
          <p:cNvPr id="11" name="Rounded Rectangle 10"/>
          <p:cNvSpPr/>
          <p:nvPr/>
        </p:nvSpPr>
        <p:spPr>
          <a:xfrm>
            <a:off x="6217920" y="4023360"/>
            <a:ext cx="521208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spcAft>
                <a:spcPts val="200"/>
              </a:spcAft>
              <a:defRPr sz="1100" b="1">
                <a:solidFill>
                  <a:srgbClr val="0F172A"/>
                </a:solidFill>
              </a:defRPr>
            </a:pPr>
            <a:r>
              <a:t>Course 31: AI &amp; Digital Transformation for Business</a:t>
            </a:r>
          </a:p>
          <a:p>
            <a:pPr>
              <a:spcAft>
                <a:spcPts val="300"/>
              </a:spcAft>
              <a:defRPr sz="850" b="1">
                <a:solidFill>
                  <a:srgbClr val="7C3AED"/>
                </a:solidFill>
              </a:defRPr>
            </a:pPr>
            <a:r>
              <a:t>[🟡 DAYS 1–5 LIVE • DAYS 6–30 IN FLIGHT]</a:t>
            </a:r>
          </a:p>
          <a:p>
            <a:pPr>
              <a:spcAft>
                <a:spcPts val="200"/>
              </a:spcAft>
              <a:defRPr sz="950">
                <a:solidFill>
                  <a:srgbClr val="334155"/>
                </a:solidFill>
              </a:defRPr>
            </a:pPr>
            <a:r>
              <a:t>• What We Teach: Hyperautomation: Deterministic RPA bots vs probabilistic cognitive AI agents, process mining on ERP event logs, automation economics (FTE labor savings).</a:t>
            </a:r>
          </a:p>
          <a:p>
            <a:pPr>
              <a:spcAft>
                <a:spcPts val="200"/>
              </a:spcAft>
              <a:defRPr sz="950">
                <a:solidFill>
                  <a:srgbClr val="2563EB"/>
                </a:solidFill>
              </a:defRPr>
            </a:pPr>
            <a:r>
              <a:t>• How We Teach: Process Mining Simulator: Dissects event logs to pinpoint workflow bottlenecks.</a:t>
            </a:r>
          </a:p>
          <a:p>
            <a:pPr>
              <a:defRPr sz="900">
                <a:solidFill>
                  <a:srgbClr val="64748B"/>
                </a:solidFill>
              </a:defRPr>
            </a:pPr>
            <a:r>
              <a:t>• Career &amp; Salary: Management Consultant, Chief Digital Officer Staff (Rs 14–28 LPA).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29260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UNIVERSAL CAMPUS ADOPTION &amp; THE ROAD AHEAD</a:t>
            </a:r>
          </a:p>
        </p:txBody>
      </p:sp>
      <p:sp>
        <p:nvSpPr>
          <p:cNvPr id="4" name="TextBox 3"/>
          <p:cNvSpPr txBox="1"/>
          <p:nvPr/>
        </p:nvSpPr>
        <p:spPr>
          <a:xfrm>
            <a:off x="10241280" y="292608"/>
            <a:ext cx="1216152" cy="320040"/>
          </a:xfrm>
          <a:prstGeom prst="rect">
            <a:avLst/>
          </a:prstGeom>
          <a:noFill/>
        </p:spPr>
        <p:txBody>
          <a:bodyPr wrap="none">
            <a:spAutoFit/>
          </a:bodyPr>
          <a:lstStyle/>
          <a:p>
            <a:pPr algn="r">
              <a:defRPr sz="1100" b="1">
                <a:solidFill>
                  <a:srgbClr val="64748B"/>
                </a:solidFill>
              </a:defRPr>
            </a:pPr>
            <a:r>
              <a:t>SLIDE 10 / 10</a:t>
            </a:r>
          </a:p>
        </p:txBody>
      </p:sp>
      <p:sp>
        <p:nvSpPr>
          <p:cNvPr id="5" name="TextBox 4"/>
          <p:cNvSpPr txBox="1"/>
          <p:nvPr/>
        </p:nvSpPr>
        <p:spPr>
          <a:xfrm>
            <a:off x="731520" y="621792"/>
            <a:ext cx="10698480" cy="502920"/>
          </a:xfrm>
          <a:prstGeom prst="rect">
            <a:avLst/>
          </a:prstGeom>
          <a:noFill/>
        </p:spPr>
        <p:txBody>
          <a:bodyPr wrap="none">
            <a:spAutoFit/>
          </a:bodyPr>
          <a:lstStyle/>
          <a:p>
            <a:pPr>
              <a:defRPr sz="2000" b="1">
                <a:solidFill>
                  <a:srgbClr val="0F172A"/>
                </a:solidFill>
              </a:defRPr>
            </a:pPr>
            <a:r>
              <a:t>Freshman Launchpads (Courses 32–36) &amp; The Scaled 3-Branch Roadmap</a:t>
            </a:r>
          </a:p>
        </p:txBody>
      </p:sp>
      <p:sp>
        <p:nvSpPr>
          <p:cNvPr id="6" name="TextBox 5"/>
          <p:cNvSpPr txBox="1"/>
          <p:nvPr/>
        </p:nvSpPr>
        <p:spPr>
          <a:xfrm>
            <a:off x="731520" y="1115568"/>
            <a:ext cx="10698480" cy="347472"/>
          </a:xfrm>
          <a:prstGeom prst="rect">
            <a:avLst/>
          </a:prstGeom>
          <a:noFill/>
        </p:spPr>
        <p:txBody>
          <a:bodyPr wrap="none">
            <a:spAutoFit/>
          </a:bodyPr>
          <a:lstStyle/>
          <a:p>
            <a:pPr>
              <a:defRPr sz="1100">
                <a:solidFill>
                  <a:srgbClr val="64748B"/>
                </a:solidFill>
              </a:defRPr>
            </a:pPr>
            <a:r>
              <a:t>Level 0 Campus Readiness for Every Incoming Student + The Parallel Execution Engine to 100% Completion</a:t>
            </a:r>
          </a:p>
        </p:txBody>
      </p:sp>
      <p:sp>
        <p:nvSpPr>
          <p:cNvPr id="7" name="Rounded Rectangle 6"/>
          <p:cNvSpPr/>
          <p:nvPr/>
        </p:nvSpPr>
        <p:spPr>
          <a:xfrm>
            <a:off x="731520" y="1600200"/>
            <a:ext cx="20116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defRPr sz="1050" b="1">
                <a:solidFill>
                  <a:srgbClr val="0F172A"/>
                </a:solidFill>
              </a:defRPr>
            </a:pPr>
            <a:r>
              <a:t>Course 32: Computer OS Basics</a:t>
            </a:r>
          </a:p>
          <a:p>
            <a:pPr>
              <a:spcAft>
                <a:spcPts val="200"/>
              </a:spcAft>
              <a:defRPr sz="850" b="1">
                <a:solidFill>
                  <a:srgbClr val="2563EB"/>
                </a:solidFill>
              </a:defRPr>
            </a:pPr>
            <a:r>
              <a:t>[D1-5 LIVE • D6-30 IN FLIGHT]</a:t>
            </a:r>
          </a:p>
          <a:p>
            <a:pPr>
              <a:spcAft>
                <a:spcPts val="200"/>
              </a:spcAft>
              <a:defRPr sz="850">
                <a:solidFill>
                  <a:srgbClr val="334155"/>
                </a:solidFill>
              </a:defRPr>
            </a:pPr>
            <a:r>
              <a:t>• What: Linux terminal, POSIX file trees, piping, streams &amp; shell scripting.</a:t>
            </a:r>
          </a:p>
          <a:p>
            <a:pPr>
              <a:spcAft>
                <a:spcPts val="200"/>
              </a:spcAft>
              <a:defRPr sz="850">
                <a:solidFill>
                  <a:srgbClr val="2563EB"/>
                </a:solidFill>
              </a:defRPr>
            </a:pPr>
            <a:r>
              <a:t>• How: Interactive Terminal Sandbox</a:t>
            </a:r>
          </a:p>
          <a:p>
            <a:pPr>
              <a:defRPr sz="800">
                <a:solidFill>
                  <a:srgbClr val="64748B"/>
                </a:solidFill>
              </a:defRPr>
            </a:pPr>
            <a:r>
              <a:t>• Career: Junior SysAdmin, Tech Support (Rs 5–9 LPA).</a:t>
            </a:r>
          </a:p>
        </p:txBody>
      </p:sp>
      <p:sp>
        <p:nvSpPr>
          <p:cNvPr id="8" name="Rounded Rectangle 7"/>
          <p:cNvSpPr/>
          <p:nvPr/>
        </p:nvSpPr>
        <p:spPr>
          <a:xfrm>
            <a:off x="2907792" y="1600200"/>
            <a:ext cx="20116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defRPr sz="1050" b="1">
                <a:solidFill>
                  <a:srgbClr val="0F172A"/>
                </a:solidFill>
              </a:defRPr>
            </a:pPr>
            <a:r>
              <a:t>Course 33: AI Prompt Engineering</a:t>
            </a:r>
          </a:p>
          <a:p>
            <a:pPr>
              <a:spcAft>
                <a:spcPts val="200"/>
              </a:spcAft>
              <a:defRPr sz="850" b="1">
                <a:solidFill>
                  <a:srgbClr val="059669"/>
                </a:solidFill>
              </a:defRPr>
            </a:pPr>
            <a:r>
              <a:t>[🟢 100% LIVE (30 DAYS)]</a:t>
            </a:r>
          </a:p>
          <a:p>
            <a:pPr>
              <a:spcAft>
                <a:spcPts val="200"/>
              </a:spcAft>
              <a:defRPr sz="850">
                <a:solidFill>
                  <a:srgbClr val="334155"/>
                </a:solidFill>
              </a:defRPr>
            </a:pPr>
            <a:r>
              <a:t>• What: Chain-of-thought, Few-shot priming, prompt injection defense.</a:t>
            </a:r>
          </a:p>
          <a:p>
            <a:pPr>
              <a:spcAft>
                <a:spcPts val="200"/>
              </a:spcAft>
              <a:defRPr sz="850">
                <a:solidFill>
                  <a:srgbClr val="2563EB"/>
                </a:solidFill>
              </a:defRPr>
            </a:pPr>
            <a:r>
              <a:t>• How: Prompt Engineering Testbed</a:t>
            </a:r>
          </a:p>
          <a:p>
            <a:pPr>
              <a:defRPr sz="800">
                <a:solidFill>
                  <a:srgbClr val="64748B"/>
                </a:solidFill>
              </a:defRPr>
            </a:pPr>
            <a:r>
              <a:t>• Career: AI Operations Specialist (Rs 7–14 LPA).</a:t>
            </a:r>
          </a:p>
        </p:txBody>
      </p:sp>
      <p:sp>
        <p:nvSpPr>
          <p:cNvPr id="9" name="Rounded Rectangle 8"/>
          <p:cNvSpPr/>
          <p:nvPr/>
        </p:nvSpPr>
        <p:spPr>
          <a:xfrm>
            <a:off x="5084064" y="1600200"/>
            <a:ext cx="20116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defRPr sz="1050" b="1">
                <a:solidFill>
                  <a:srgbClr val="0F172A"/>
                </a:solidFill>
              </a:defRPr>
            </a:pPr>
            <a:r>
              <a:t>Course 34: Excel Data Analysis</a:t>
            </a:r>
          </a:p>
          <a:p>
            <a:pPr>
              <a:spcAft>
                <a:spcPts val="200"/>
              </a:spcAft>
              <a:defRPr sz="850" b="1">
                <a:solidFill>
                  <a:srgbClr val="2563EB"/>
                </a:solidFill>
              </a:defRPr>
            </a:pPr>
            <a:r>
              <a:t>[D1-10 LIVE • D11-30 IN FLIGHT]</a:t>
            </a:r>
          </a:p>
          <a:p>
            <a:pPr>
              <a:spcAft>
                <a:spcPts val="200"/>
              </a:spcAft>
              <a:defRPr sz="850">
                <a:solidFill>
                  <a:srgbClr val="334155"/>
                </a:solidFill>
              </a:defRPr>
            </a:pPr>
            <a:r>
              <a:t>• What: Power Query M, Star Schema, dynamic PivotTables, amortization.</a:t>
            </a:r>
          </a:p>
          <a:p>
            <a:pPr>
              <a:spcAft>
                <a:spcPts val="200"/>
              </a:spcAft>
              <a:defRPr sz="850">
                <a:solidFill>
                  <a:srgbClr val="2563EB"/>
                </a:solidFill>
              </a:defRPr>
            </a:pPr>
            <a:r>
              <a:t>• How: Interactive Formula Ledger</a:t>
            </a:r>
          </a:p>
          <a:p>
            <a:pPr>
              <a:defRPr sz="800">
                <a:solidFill>
                  <a:srgbClr val="64748B"/>
                </a:solidFill>
              </a:defRPr>
            </a:pPr>
            <a:r>
              <a:t>• Career: Data Analyst, Financial Modeling (Rs 6–12 LPA).</a:t>
            </a:r>
          </a:p>
        </p:txBody>
      </p:sp>
      <p:sp>
        <p:nvSpPr>
          <p:cNvPr id="10" name="Rounded Rectangle 9"/>
          <p:cNvSpPr/>
          <p:nvPr/>
        </p:nvSpPr>
        <p:spPr>
          <a:xfrm>
            <a:off x="7260336" y="1600200"/>
            <a:ext cx="20116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defRPr sz="1050" b="1">
                <a:solidFill>
                  <a:srgbClr val="0F172A"/>
                </a:solidFill>
              </a:defRPr>
            </a:pPr>
            <a:r>
              <a:t>Course 35: Git Version Control</a:t>
            </a:r>
          </a:p>
          <a:p>
            <a:pPr>
              <a:spcAft>
                <a:spcPts val="200"/>
              </a:spcAft>
              <a:defRPr sz="850" b="1">
                <a:solidFill>
                  <a:srgbClr val="2563EB"/>
                </a:solidFill>
              </a:defRPr>
            </a:pPr>
            <a:r>
              <a:t>[D1-5 LIVE • D6-30 IN FLIGHT]</a:t>
            </a:r>
          </a:p>
          <a:p>
            <a:pPr>
              <a:spcAft>
                <a:spcPts val="200"/>
              </a:spcAft>
              <a:defRPr sz="850">
                <a:solidFill>
                  <a:srgbClr val="334155"/>
                </a:solidFill>
              </a:defRPr>
            </a:pPr>
            <a:r>
              <a:t>• What: Distributed Git trees, rebase vs merge, resolving conflict blocks.</a:t>
            </a:r>
          </a:p>
          <a:p>
            <a:pPr>
              <a:spcAft>
                <a:spcPts val="200"/>
              </a:spcAft>
              <a:defRPr sz="850">
                <a:solidFill>
                  <a:srgbClr val="2563EB"/>
                </a:solidFill>
              </a:defRPr>
            </a:pPr>
            <a:r>
              <a:t>• How: Git Visual Graph Studio</a:t>
            </a:r>
          </a:p>
          <a:p>
            <a:pPr>
              <a:defRPr sz="800">
                <a:solidFill>
                  <a:srgbClr val="64748B"/>
                </a:solidFill>
              </a:defRPr>
            </a:pPr>
            <a:r>
              <a:t>• Career: Software Trainee, Open-Source Dev (Rs 6–12 LPA).</a:t>
            </a:r>
          </a:p>
        </p:txBody>
      </p:sp>
      <p:sp>
        <p:nvSpPr>
          <p:cNvPr id="11" name="Rounded Rectangle 10"/>
          <p:cNvSpPr/>
          <p:nvPr/>
        </p:nvSpPr>
        <p:spPr>
          <a:xfrm>
            <a:off x="9436608" y="1600200"/>
            <a:ext cx="2020824"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defRPr sz="1050" b="1">
                <a:solidFill>
                  <a:srgbClr val="0F172A"/>
                </a:solidFill>
              </a:defRPr>
            </a:pPr>
            <a:r>
              <a:t>Course 36: Tech Soft Skills</a:t>
            </a:r>
          </a:p>
          <a:p>
            <a:pPr>
              <a:spcAft>
                <a:spcPts val="200"/>
              </a:spcAft>
              <a:defRPr sz="850" b="1">
                <a:solidFill>
                  <a:srgbClr val="2563EB"/>
                </a:solidFill>
              </a:defRPr>
            </a:pPr>
            <a:r>
              <a:t>[D1-5 LIVE • D6-30 IN FLIGHT]</a:t>
            </a:r>
          </a:p>
          <a:p>
            <a:pPr>
              <a:spcAft>
                <a:spcPts val="200"/>
              </a:spcAft>
              <a:defRPr sz="850">
                <a:solidFill>
                  <a:srgbClr val="334155"/>
                </a:solidFill>
              </a:defRPr>
            </a:pPr>
            <a:r>
              <a:t>• What: Socratic STAR framework, salary negotiation, executive slides.</a:t>
            </a:r>
          </a:p>
          <a:p>
            <a:pPr>
              <a:spcAft>
                <a:spcPts val="200"/>
              </a:spcAft>
              <a:defRPr sz="850">
                <a:solidFill>
                  <a:srgbClr val="2563EB"/>
                </a:solidFill>
              </a:defRPr>
            </a:pPr>
            <a:r>
              <a:t>• How: STAR Voice AI Evaluator</a:t>
            </a:r>
          </a:p>
          <a:p>
            <a:pPr>
              <a:defRPr sz="800">
                <a:solidFill>
                  <a:srgbClr val="64748B"/>
                </a:solidFill>
              </a:defRPr>
            </a:pPr>
            <a:r>
              <a:t>• Career: Associate Consultant, Product Analyst (Rs 7–15 LPA).</a:t>
            </a:r>
          </a:p>
        </p:txBody>
      </p:sp>
      <p:sp>
        <p:nvSpPr>
          <p:cNvPr id="12" name="Rounded Rectangle 11"/>
          <p:cNvSpPr/>
          <p:nvPr/>
        </p:nvSpPr>
        <p:spPr>
          <a:xfrm>
            <a:off x="731520" y="4114800"/>
            <a:ext cx="10725912" cy="21945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400"/>
              </a:spcAft>
              <a:defRPr sz="1250" b="1">
                <a:solidFill>
                  <a:srgbClr val="2563EB"/>
                </a:solidFill>
              </a:defRPr>
            </a:pPr>
            <a:r>
              <a:t>THE 3-BRANCH PARALLEL SCALING ROADMAP: FINISHING THE REMAINING 34%</a:t>
            </a:r>
          </a:p>
          <a:p>
            <a:pPr>
              <a:spcAft>
                <a:spcPts val="200"/>
              </a:spcAft>
              <a:defRPr sz="1000">
                <a:solidFill>
                  <a:srgbClr val="334155"/>
                </a:solidFill>
              </a:defRPr>
            </a:pPr>
            <a:r>
              <a:t>• Branch A (Current Stream): Finalizing Launchpad tracks to Day 30 (Excel, Git, OS, Soft Skills = 95 Days).</a:t>
            </a:r>
          </a:p>
          <a:p>
            <a:pPr>
              <a:spcAft>
                <a:spcPts val="200"/>
              </a:spcAft>
              <a:defRPr sz="1000">
                <a:solidFill>
                  <a:srgbClr val="334155"/>
                </a:solidFill>
              </a:defRPr>
            </a:pPr>
            <a:r>
              <a:t>• Branch B (Sub-Agent Stream): Completing 14 Commerce Tracks &amp; 4 IoT Tracks from Day 6 to Day 30 (450 Days) with zero file collisions.</a:t>
            </a:r>
          </a:p>
          <a:p>
            <a:pPr>
              <a:spcAft>
                <a:spcPts val="200"/>
              </a:spcAft>
              <a:defRPr sz="1000">
                <a:solidFill>
                  <a:srgbClr val="334155"/>
                </a:solidFill>
              </a:defRPr>
            </a:pPr>
            <a:r>
              <a:t>• Branch C (Platform Stream): Delivering Campus Admin Portal, Faculty Grading Rubrics, and University Multi-Tenant Isolation.</a:t>
            </a:r>
          </a:p>
          <a:p>
            <a:pPr>
              <a:spcAft>
                <a:spcPts val="200"/>
              </a:spcAft>
              <a:defRPr sz="1000">
                <a:solidFill>
                  <a:srgbClr val="334155"/>
                </a:solidFill>
              </a:defRPr>
            </a:pPr>
            <a:r>
              <a:t>• Commercial Goal: Licensing the complete 37-course OS to universities at $50k-$200k/year recurring B2B enterprise contracts.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